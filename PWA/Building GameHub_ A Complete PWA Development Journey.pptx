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image" Target="../media/image-9-23.png"/><Relationship Id="rId24" Type="http://schemas.openxmlformats.org/officeDocument/2006/relationships/image" Target="../media/image-9-24.png"/><Relationship Id="rId25" Type="http://schemas.openxmlformats.org/officeDocument/2006/relationships/image" Target="../media/image-9-25.png"/><Relationship Id="rId26" Type="http://schemas.openxmlformats.org/officeDocument/2006/relationships/image" Target="../media/image-9-26.png"/><Relationship Id="rId27" Type="http://schemas.openxmlformats.org/officeDocument/2006/relationships/image" Target="../media/image-9-27.png"/><Relationship Id="rId28" Type="http://schemas.openxmlformats.org/officeDocument/2006/relationships/image" Target="../media/image-9-28.png"/><Relationship Id="rId29" Type="http://schemas.openxmlformats.org/officeDocument/2006/relationships/image" Target="../media/image-9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43850" y="285750"/>
            <a:ext cx="914400" cy="9144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521494"/>
            <a:ext cx="914400" cy="914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561090" y="1639491"/>
            <a:ext cx="1968968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33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Building</a:t>
            </a:r>
            <a:endParaRPr lang="en-US" sz="3375" dirty="0"/>
          </a:p>
        </p:txBody>
      </p:sp>
      <p:sp>
        <p:nvSpPr>
          <p:cNvPr id="6" name="Shape 2"/>
          <p:cNvSpPr/>
          <p:nvPr/>
        </p:nvSpPr>
        <p:spPr>
          <a:xfrm>
            <a:off x="4458621" y="1639491"/>
            <a:ext cx="2124289" cy="584002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7" name="Text 3"/>
          <p:cNvSpPr/>
          <p:nvPr/>
        </p:nvSpPr>
        <p:spPr>
          <a:xfrm>
            <a:off x="4458621" y="1639491"/>
            <a:ext cx="2195726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3375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GameHub</a:t>
            </a:r>
            <a:endParaRPr lang="en-US" sz="3375" dirty="0"/>
          </a:p>
        </p:txBody>
      </p:sp>
      <p:sp>
        <p:nvSpPr>
          <p:cNvPr id="8" name="Text 4"/>
          <p:cNvSpPr/>
          <p:nvPr/>
        </p:nvSpPr>
        <p:spPr>
          <a:xfrm>
            <a:off x="1371600" y="2371725"/>
            <a:ext cx="64722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Complete PWA Development Journey</a:t>
            </a:r>
            <a:endParaRPr lang="en-US" sz="2025" dirty="0"/>
          </a:p>
        </p:txBody>
      </p:sp>
      <p:sp>
        <p:nvSpPr>
          <p:cNvPr id="9" name="Text 5"/>
          <p:cNvSpPr/>
          <p:nvPr/>
        </p:nvSpPr>
        <p:spPr>
          <a:xfrm>
            <a:off x="1640049" y="3139678"/>
            <a:ext cx="5149081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From concept to deployment: Building a modern Progressive Web App with</a:t>
            </a:r>
            <a:endParaRPr lang="en-US" sz="1125" dirty="0"/>
          </a:p>
        </p:txBody>
      </p:sp>
      <p:sp>
        <p:nvSpPr>
          <p:cNvPr id="10" name="Text 6"/>
          <p:cNvSpPr/>
          <p:nvPr/>
        </p:nvSpPr>
        <p:spPr>
          <a:xfrm>
            <a:off x="2391091" y="3139678"/>
            <a:ext cx="5184298" cy="4268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A78B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Responsive Design</a:t>
            </a:r>
            <a:endParaRPr lang="en-US" sz="1125" dirty="0"/>
          </a:p>
        </p:txBody>
      </p:sp>
      <p:sp>
        <p:nvSpPr>
          <p:cNvPr id="11" name="Text 7"/>
          <p:cNvSpPr/>
          <p:nvPr/>
        </p:nvSpPr>
        <p:spPr>
          <a:xfrm>
            <a:off x="2871453" y="3371850"/>
            <a:ext cx="14689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</a:t>
            </a:r>
            <a:endParaRPr lang="en-US" sz="1125" dirty="0"/>
          </a:p>
        </p:txBody>
      </p:sp>
      <p:sp>
        <p:nvSpPr>
          <p:cNvPr id="12" name="Text 8"/>
          <p:cNvSpPr/>
          <p:nvPr/>
        </p:nvSpPr>
        <p:spPr>
          <a:xfrm>
            <a:off x="2946908" y="3371850"/>
            <a:ext cx="119002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60A5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Service Workers</a:t>
            </a:r>
            <a:endParaRPr lang="en-US" sz="1125" dirty="0"/>
          </a:p>
        </p:txBody>
      </p:sp>
      <p:sp>
        <p:nvSpPr>
          <p:cNvPr id="13" name="Text 9"/>
          <p:cNvSpPr/>
          <p:nvPr/>
        </p:nvSpPr>
        <p:spPr>
          <a:xfrm>
            <a:off x="4065491" y="3371850"/>
            <a:ext cx="14689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</a:t>
            </a:r>
            <a:endParaRPr lang="en-US" sz="1125" dirty="0"/>
          </a:p>
        </p:txBody>
      </p:sp>
      <p:sp>
        <p:nvSpPr>
          <p:cNvPr id="14" name="Text 10"/>
          <p:cNvSpPr/>
          <p:nvPr/>
        </p:nvSpPr>
        <p:spPr>
          <a:xfrm>
            <a:off x="4140947" y="3371850"/>
            <a:ext cx="103400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Manifest Files</a:t>
            </a:r>
            <a:endParaRPr lang="en-US" sz="1125" dirty="0"/>
          </a:p>
        </p:txBody>
      </p:sp>
      <p:sp>
        <p:nvSpPr>
          <p:cNvPr id="15" name="Text 11"/>
          <p:cNvSpPr/>
          <p:nvPr/>
        </p:nvSpPr>
        <p:spPr>
          <a:xfrm>
            <a:off x="5103512" y="3371850"/>
            <a:ext cx="44034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and</a:t>
            </a:r>
            <a:endParaRPr lang="en-US" sz="1125" dirty="0"/>
          </a:p>
        </p:txBody>
      </p:sp>
      <p:sp>
        <p:nvSpPr>
          <p:cNvPr id="16" name="Text 12"/>
          <p:cNvSpPr/>
          <p:nvPr/>
        </p:nvSpPr>
        <p:spPr>
          <a:xfrm>
            <a:off x="5472419" y="3371850"/>
            <a:ext cx="1351899" cy="1946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818CF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Advanced Caching</a:t>
            </a:r>
            <a:endParaRPr lang="en-US" sz="1125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822" y="4164806"/>
            <a:ext cx="192881" cy="2571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613231" y="4479131"/>
            <a:ext cx="40150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HTML5</a:t>
            </a:r>
            <a:endParaRPr lang="en-US" sz="788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0563" y="4164806"/>
            <a:ext cx="192881" cy="25717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171894" y="4479131"/>
            <a:ext cx="30168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CSS3</a:t>
            </a:r>
            <a:endParaRPr lang="en-US" sz="788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7217" y="4164806"/>
            <a:ext cx="225028" cy="25717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630741" y="4479131"/>
            <a:ext cx="52941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JavaScript</a:t>
            </a:r>
            <a:endParaRPr lang="en-US" sz="788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7591" y="4164806"/>
            <a:ext cx="192881" cy="25717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317322" y="4479131"/>
            <a:ext cx="28488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PWA</a:t>
            </a:r>
            <a:endParaRPr lang="en-US" sz="78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0151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68202" y="394692"/>
            <a:ext cx="1733838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is a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3530603" y="394692"/>
            <a:ext cx="3581614" cy="466130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5" name="Text 2"/>
          <p:cNvSpPr/>
          <p:nvPr/>
        </p:nvSpPr>
        <p:spPr>
          <a:xfrm>
            <a:off x="3530603" y="394692"/>
            <a:ext cx="3653051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Progressive Web App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7112217" y="394692"/>
            <a:ext cx="235018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?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457200" y="914400"/>
            <a:ext cx="8301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Modern web applications that bridge the gap between web and native apps</a:t>
            </a:r>
            <a:endParaRPr lang="en-US" sz="1125" dirty="0"/>
          </a:p>
        </p:txBody>
      </p:sp>
      <p:sp>
        <p:nvSpPr>
          <p:cNvPr id="8" name="Shape 5"/>
          <p:cNvSpPr/>
          <p:nvPr/>
        </p:nvSpPr>
        <p:spPr>
          <a:xfrm>
            <a:off x="457200" y="1457325"/>
            <a:ext cx="3943350" cy="1650206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14500"/>
            <a:ext cx="128588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00113" y="1685925"/>
            <a:ext cx="13581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PWA Definition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85800" y="2028825"/>
            <a:ext cx="3557588" cy="626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Progressive Web Apps are web applications that use modern web capabilities to deliver </a:t>
            </a:r>
            <a:endParaRPr lang="en-US" sz="1013" dirty="0"/>
          </a:p>
          <a:p>
            <a:pPr indent="0" marL="0">
              <a:buNone/>
            </a:pPr>
            <a:r>
              <a:rPr lang="en-US" sz="1013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        an app-like experience to users. They combine the best of web and mobile apps.</a:t>
            </a:r>
            <a:endParaRPr lang="en-US" sz="1013" dirty="0"/>
          </a:p>
        </p:txBody>
      </p:sp>
      <p:sp>
        <p:nvSpPr>
          <p:cNvPr id="12" name="Shape 8"/>
          <p:cNvSpPr/>
          <p:nvPr/>
        </p:nvSpPr>
        <p:spPr>
          <a:xfrm>
            <a:off x="457200" y="3055739"/>
            <a:ext cx="3943350" cy="1871663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12914"/>
            <a:ext cx="171450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42975" y="3284339"/>
            <a:ext cx="11340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Benefits</a:t>
            </a:r>
            <a:endParaRPr lang="en-US" sz="13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662958"/>
            <a:ext cx="128588" cy="1285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00113" y="3627239"/>
            <a:ext cx="23859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Fast loading and smooth performance</a:t>
            </a:r>
            <a:endParaRPr lang="en-US" sz="1013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948708"/>
            <a:ext cx="128588" cy="12858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00113" y="3912989"/>
            <a:ext cx="25101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Works offline or on low-quality networks</a:t>
            </a:r>
            <a:endParaRPr lang="en-US" sz="1013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234458"/>
            <a:ext cx="128588" cy="12858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00113" y="4198739"/>
            <a:ext cx="15544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Installable on any device</a:t>
            </a:r>
            <a:endParaRPr lang="en-US" sz="1013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520208"/>
            <a:ext cx="128588" cy="12858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900113" y="4484489"/>
            <a:ext cx="247617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Push notifications and background sync</a:t>
            </a:r>
            <a:endParaRPr lang="en-US" sz="1013" dirty="0"/>
          </a:p>
        </p:txBody>
      </p:sp>
      <p:sp>
        <p:nvSpPr>
          <p:cNvPr id="23" name="Text 14"/>
          <p:cNvSpPr/>
          <p:nvPr/>
        </p:nvSpPr>
        <p:spPr>
          <a:xfrm>
            <a:off x="4743450" y="1457325"/>
            <a:ext cx="401478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8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Technologies</a:t>
            </a:r>
            <a:endParaRPr lang="en-US" sz="1688" dirty="0"/>
          </a:p>
        </p:txBody>
      </p:sp>
      <p:sp>
        <p:nvSpPr>
          <p:cNvPr id="24" name="Shape 15"/>
          <p:cNvSpPr/>
          <p:nvPr/>
        </p:nvSpPr>
        <p:spPr>
          <a:xfrm>
            <a:off x="4743450" y="1943100"/>
            <a:ext cx="3943350" cy="814388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sp>
        <p:nvSpPr>
          <p:cNvPr id="25" name="Shape 16"/>
          <p:cNvSpPr/>
          <p:nvPr/>
        </p:nvSpPr>
        <p:spPr>
          <a:xfrm>
            <a:off x="4914900" y="2114550"/>
            <a:ext cx="457200" cy="45720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9206" y="2257425"/>
            <a:ext cx="128588" cy="17145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543550" y="2157413"/>
            <a:ext cx="20279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Responsive Design</a:t>
            </a:r>
            <a:endParaRPr lang="en-US" sz="1125" dirty="0"/>
          </a:p>
        </p:txBody>
      </p:sp>
      <p:sp>
        <p:nvSpPr>
          <p:cNvPr id="28" name="Text 18"/>
          <p:cNvSpPr/>
          <p:nvPr/>
        </p:nvSpPr>
        <p:spPr>
          <a:xfrm>
            <a:off x="5543550" y="2357438"/>
            <a:ext cx="20279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Adapts to any screen size and device</a:t>
            </a:r>
            <a:endParaRPr lang="en-US" sz="900" dirty="0"/>
          </a:p>
        </p:txBody>
      </p:sp>
      <p:sp>
        <p:nvSpPr>
          <p:cNvPr id="29" name="Shape 19"/>
          <p:cNvSpPr/>
          <p:nvPr/>
        </p:nvSpPr>
        <p:spPr>
          <a:xfrm>
            <a:off x="4743450" y="2857500"/>
            <a:ext cx="3943350" cy="814388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sp>
        <p:nvSpPr>
          <p:cNvPr id="30" name="Shape 20"/>
          <p:cNvSpPr/>
          <p:nvPr/>
        </p:nvSpPr>
        <p:spPr>
          <a:xfrm>
            <a:off x="4914900" y="3028950"/>
            <a:ext cx="457200" cy="4572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57775" y="3171825"/>
            <a:ext cx="171450" cy="17145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5543550" y="3071813"/>
            <a:ext cx="223811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Service Worker</a:t>
            </a:r>
            <a:endParaRPr lang="en-US" sz="1125" dirty="0"/>
          </a:p>
        </p:txBody>
      </p:sp>
      <p:sp>
        <p:nvSpPr>
          <p:cNvPr id="33" name="Text 22"/>
          <p:cNvSpPr/>
          <p:nvPr/>
        </p:nvSpPr>
        <p:spPr>
          <a:xfrm>
            <a:off x="5543550" y="3271838"/>
            <a:ext cx="223811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Enables offline functionality and caching</a:t>
            </a:r>
            <a:endParaRPr lang="en-US" sz="900" dirty="0"/>
          </a:p>
        </p:txBody>
      </p:sp>
      <p:sp>
        <p:nvSpPr>
          <p:cNvPr id="34" name="Shape 23"/>
          <p:cNvSpPr/>
          <p:nvPr/>
        </p:nvSpPr>
        <p:spPr>
          <a:xfrm>
            <a:off x="4743450" y="3771900"/>
            <a:ext cx="3943350" cy="814388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sp>
        <p:nvSpPr>
          <p:cNvPr id="35" name="Shape 24"/>
          <p:cNvSpPr/>
          <p:nvPr/>
        </p:nvSpPr>
        <p:spPr>
          <a:xfrm>
            <a:off x="4914900" y="3943350"/>
            <a:ext cx="457200" cy="457200"/>
          </a:xfrm>
          <a:prstGeom prst="rect">
            <a:avLst/>
          </a:prstGeom>
          <a:solidFill>
            <a:srgbClr val="DB2777"/>
          </a:solidFill>
          <a:ln/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79206" y="4086225"/>
            <a:ext cx="128588" cy="17145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5543550" y="3986213"/>
            <a:ext cx="26202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Web App Manifest</a:t>
            </a:r>
            <a:endParaRPr lang="en-US" sz="1125" dirty="0"/>
          </a:p>
        </p:txBody>
      </p:sp>
      <p:sp>
        <p:nvSpPr>
          <p:cNvPr id="38" name="Text 26"/>
          <p:cNvSpPr/>
          <p:nvPr/>
        </p:nvSpPr>
        <p:spPr>
          <a:xfrm>
            <a:off x="5543550" y="4186238"/>
            <a:ext cx="26202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Defines app metadata and installation behavior</a:t>
            </a:r>
            <a:endParaRPr lang="en-US" sz="900" dirty="0"/>
          </a:p>
        </p:txBody>
      </p:sp>
      <p:sp>
        <p:nvSpPr>
          <p:cNvPr id="39" name="Shape 27"/>
          <p:cNvSpPr/>
          <p:nvPr/>
        </p:nvSpPr>
        <p:spPr>
          <a:xfrm>
            <a:off x="4743450" y="4686300"/>
            <a:ext cx="3943350" cy="814388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57775" y="5000625"/>
            <a:ext cx="171450" cy="171450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5543550" y="4900613"/>
            <a:ext cx="24803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HTTPS</a:t>
            </a:r>
            <a:endParaRPr lang="en-US" sz="1125" dirty="0"/>
          </a:p>
        </p:txBody>
      </p:sp>
      <p:sp>
        <p:nvSpPr>
          <p:cNvPr id="42" name="Text 29"/>
          <p:cNvSpPr/>
          <p:nvPr/>
        </p:nvSpPr>
        <p:spPr>
          <a:xfrm>
            <a:off x="5543550" y="5100638"/>
            <a:ext cx="24803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Secure connection required for PWA features</a:t>
            </a:r>
            <a:endParaRPr lang="en-US" sz="900" dirty="0"/>
          </a:p>
        </p:txBody>
      </p:sp>
      <p:sp>
        <p:nvSpPr>
          <p:cNvPr id="43" name="Shape 30"/>
          <p:cNvSpPr/>
          <p:nvPr/>
        </p:nvSpPr>
        <p:spPr>
          <a:xfrm>
            <a:off x="457200" y="5715000"/>
            <a:ext cx="2590781" cy="785813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sp>
        <p:nvSpPr>
          <p:cNvPr id="44" name="Shape 31"/>
          <p:cNvSpPr/>
          <p:nvPr/>
        </p:nvSpPr>
        <p:spPr>
          <a:xfrm>
            <a:off x="628650" y="5886450"/>
            <a:ext cx="2247881" cy="257175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45" name="Text 32"/>
          <p:cNvSpPr/>
          <p:nvPr/>
        </p:nvSpPr>
        <p:spPr>
          <a:xfrm>
            <a:off x="628650" y="5886450"/>
            <a:ext cx="231931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88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53%</a:t>
            </a:r>
            <a:endParaRPr lang="en-US" sz="1688" dirty="0"/>
          </a:p>
        </p:txBody>
      </p:sp>
      <p:sp>
        <p:nvSpPr>
          <p:cNvPr id="46" name="Text 33"/>
          <p:cNvSpPr/>
          <p:nvPr/>
        </p:nvSpPr>
        <p:spPr>
          <a:xfrm>
            <a:off x="628650" y="6143625"/>
            <a:ext cx="23193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Faster loading than native apps</a:t>
            </a:r>
            <a:endParaRPr lang="en-US" sz="900" dirty="0"/>
          </a:p>
        </p:txBody>
      </p:sp>
      <p:sp>
        <p:nvSpPr>
          <p:cNvPr id="47" name="Shape 34"/>
          <p:cNvSpPr/>
          <p:nvPr/>
        </p:nvSpPr>
        <p:spPr>
          <a:xfrm>
            <a:off x="3276581" y="5715000"/>
            <a:ext cx="2590809" cy="785813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sp>
        <p:nvSpPr>
          <p:cNvPr id="48" name="Shape 35"/>
          <p:cNvSpPr/>
          <p:nvPr/>
        </p:nvSpPr>
        <p:spPr>
          <a:xfrm>
            <a:off x="3448031" y="5886450"/>
            <a:ext cx="2247909" cy="257175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49" name="Text 36"/>
          <p:cNvSpPr/>
          <p:nvPr/>
        </p:nvSpPr>
        <p:spPr>
          <a:xfrm>
            <a:off x="3448031" y="5886450"/>
            <a:ext cx="231934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88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36%</a:t>
            </a:r>
            <a:endParaRPr lang="en-US" sz="1688" dirty="0"/>
          </a:p>
        </p:txBody>
      </p:sp>
      <p:sp>
        <p:nvSpPr>
          <p:cNvPr id="50" name="Text 37"/>
          <p:cNvSpPr/>
          <p:nvPr/>
        </p:nvSpPr>
        <p:spPr>
          <a:xfrm>
            <a:off x="3448031" y="6143625"/>
            <a:ext cx="23193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Higher conversion rates</a:t>
            </a:r>
            <a:endParaRPr lang="en-US" sz="900" dirty="0"/>
          </a:p>
        </p:txBody>
      </p:sp>
      <p:sp>
        <p:nvSpPr>
          <p:cNvPr id="51" name="Shape 38"/>
          <p:cNvSpPr/>
          <p:nvPr/>
        </p:nvSpPr>
        <p:spPr>
          <a:xfrm>
            <a:off x="6095991" y="5715000"/>
            <a:ext cx="2590781" cy="785813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sp>
        <p:nvSpPr>
          <p:cNvPr id="52" name="Shape 39"/>
          <p:cNvSpPr/>
          <p:nvPr/>
        </p:nvSpPr>
        <p:spPr>
          <a:xfrm>
            <a:off x="6267441" y="5886450"/>
            <a:ext cx="2247881" cy="257175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53" name="Text 40"/>
          <p:cNvSpPr/>
          <p:nvPr/>
        </p:nvSpPr>
        <p:spPr>
          <a:xfrm>
            <a:off x="6267441" y="5886450"/>
            <a:ext cx="231931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88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42%</a:t>
            </a:r>
            <a:endParaRPr lang="en-US" sz="1688" dirty="0"/>
          </a:p>
        </p:txBody>
      </p:sp>
      <p:sp>
        <p:nvSpPr>
          <p:cNvPr id="54" name="Text 41"/>
          <p:cNvSpPr/>
          <p:nvPr/>
        </p:nvSpPr>
        <p:spPr>
          <a:xfrm>
            <a:off x="6267441" y="6143625"/>
            <a:ext cx="23193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Lower bounce rates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41367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993720" y="394692"/>
            <a:ext cx="4023271" cy="466130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4" name="Text 1"/>
          <p:cNvSpPr/>
          <p:nvPr/>
        </p:nvSpPr>
        <p:spPr>
          <a:xfrm>
            <a:off x="1993720" y="394692"/>
            <a:ext cx="4094708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Responsive Web Design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016991" y="394692"/>
            <a:ext cx="1204726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(RWD)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8301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Mobile-first approach with flexible layouts and adaptive design</a:t>
            </a:r>
            <a:endParaRPr lang="en-US" sz="1125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94" y="1550194"/>
            <a:ext cx="128588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0106" y="1521619"/>
            <a:ext cx="1957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Mobile-First Approach</a:t>
            </a:r>
            <a:endParaRPr lang="en-US" sz="13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94" y="1893094"/>
            <a:ext cx="100013" cy="1143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2956" y="1864519"/>
            <a:ext cx="18664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Start with mobile design (320px+)</a:t>
            </a:r>
            <a:endParaRPr lang="en-US" sz="9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94" y="2121694"/>
            <a:ext cx="100013" cy="1143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92956" y="2093119"/>
            <a:ext cx="24439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Progressive enhancement for larger screens</a:t>
            </a:r>
            <a:endParaRPr lang="en-US" sz="9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794" y="2350294"/>
            <a:ext cx="100013" cy="1143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92956" y="2321719"/>
            <a:ext cx="18699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Touch-friendly interface elements</a:t>
            </a:r>
            <a:endParaRPr lang="en-US" sz="900" dirty="0"/>
          </a:p>
        </p:txBody>
      </p:sp>
      <p:sp>
        <p:nvSpPr>
          <p:cNvPr id="15" name="Shape 8"/>
          <p:cNvSpPr/>
          <p:nvPr/>
        </p:nvSpPr>
        <p:spPr>
          <a:xfrm>
            <a:off x="457200" y="2843213"/>
            <a:ext cx="3943350" cy="4055864"/>
          </a:xfrm>
          <a:prstGeom prst="rect">
            <a:avLst/>
          </a:prstGeom>
          <a:solidFill>
            <a:srgbClr val="000000">
              <a:alpha val="4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628650" y="3014663"/>
            <a:ext cx="36718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 Media Queries</a:t>
            </a:r>
            <a:endParaRPr lang="en-US" sz="1013" dirty="0"/>
          </a:p>
        </p:txBody>
      </p:sp>
      <p:sp>
        <p:nvSpPr>
          <p:cNvPr id="17" name="Text 10"/>
          <p:cNvSpPr/>
          <p:nvPr/>
        </p:nvSpPr>
        <p:spPr>
          <a:xfrm>
            <a:off x="628650" y="3323630"/>
            <a:ext cx="11517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A78B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/* Mobile First */</a:t>
            </a:r>
            <a:endParaRPr lang="en-US" sz="788" dirty="0"/>
          </a:p>
        </p:txBody>
      </p:sp>
      <p:sp>
        <p:nvSpPr>
          <p:cNvPr id="18" name="Text 11"/>
          <p:cNvSpPr/>
          <p:nvPr/>
        </p:nvSpPr>
        <p:spPr>
          <a:xfrm>
            <a:off x="628650" y="3486150"/>
            <a:ext cx="73164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.games-grid</a:t>
            </a:r>
            <a:endParaRPr lang="en-US" sz="788" dirty="0"/>
          </a:p>
        </p:txBody>
      </p:sp>
      <p:sp>
        <p:nvSpPr>
          <p:cNvPr id="19" name="Text 12"/>
          <p:cNvSpPr/>
          <p:nvPr/>
        </p:nvSpPr>
        <p:spPr>
          <a:xfrm>
            <a:off x="628650" y="3486150"/>
            <a:ext cx="851697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</a:t>
            </a:r>
            <a:endParaRPr lang="en-US" sz="788" dirty="0"/>
          </a:p>
        </p:txBody>
      </p:sp>
      <p:sp>
        <p:nvSpPr>
          <p:cNvPr id="20" name="Text 13"/>
          <p:cNvSpPr/>
          <p:nvPr/>
        </p:nvSpPr>
        <p:spPr>
          <a:xfrm>
            <a:off x="748698" y="3648670"/>
            <a:ext cx="49157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display</a:t>
            </a:r>
            <a:endParaRPr lang="en-US" sz="788" dirty="0"/>
          </a:p>
        </p:txBody>
      </p:sp>
      <p:sp>
        <p:nvSpPr>
          <p:cNvPr id="21" name="Text 14"/>
          <p:cNvSpPr/>
          <p:nvPr/>
        </p:nvSpPr>
        <p:spPr>
          <a:xfrm>
            <a:off x="1168840" y="3648670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788" dirty="0"/>
          </a:p>
        </p:txBody>
      </p:sp>
      <p:sp>
        <p:nvSpPr>
          <p:cNvPr id="22" name="Text 15"/>
          <p:cNvSpPr/>
          <p:nvPr/>
        </p:nvSpPr>
        <p:spPr>
          <a:xfrm>
            <a:off x="1288889" y="3648670"/>
            <a:ext cx="31150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grid</a:t>
            </a:r>
            <a:endParaRPr lang="en-US" sz="788" dirty="0"/>
          </a:p>
        </p:txBody>
      </p:sp>
      <p:sp>
        <p:nvSpPr>
          <p:cNvPr id="23" name="Text 16"/>
          <p:cNvSpPr/>
          <p:nvPr/>
        </p:nvSpPr>
        <p:spPr>
          <a:xfrm>
            <a:off x="628650" y="3648670"/>
            <a:ext cx="103177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;</a:t>
            </a:r>
            <a:endParaRPr lang="en-US" sz="788" dirty="0"/>
          </a:p>
        </p:txBody>
      </p:sp>
      <p:sp>
        <p:nvSpPr>
          <p:cNvPr id="24" name="Text 17"/>
          <p:cNvSpPr/>
          <p:nvPr/>
        </p:nvSpPr>
        <p:spPr>
          <a:xfrm>
            <a:off x="748698" y="3811191"/>
            <a:ext cx="13318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grid-template-columns</a:t>
            </a:r>
            <a:endParaRPr lang="en-US" sz="788" dirty="0"/>
          </a:p>
        </p:txBody>
      </p:sp>
      <p:sp>
        <p:nvSpPr>
          <p:cNvPr id="25" name="Text 18"/>
          <p:cNvSpPr/>
          <p:nvPr/>
        </p:nvSpPr>
        <p:spPr>
          <a:xfrm>
            <a:off x="2009068" y="3811191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788" dirty="0"/>
          </a:p>
        </p:txBody>
      </p:sp>
      <p:sp>
        <p:nvSpPr>
          <p:cNvPr id="26" name="Text 19"/>
          <p:cNvSpPr/>
          <p:nvPr/>
        </p:nvSpPr>
        <p:spPr>
          <a:xfrm>
            <a:off x="2129117" y="3811191"/>
            <a:ext cx="25151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1fr</a:t>
            </a:r>
            <a:endParaRPr lang="en-US" sz="788" dirty="0"/>
          </a:p>
        </p:txBody>
      </p:sp>
      <p:sp>
        <p:nvSpPr>
          <p:cNvPr id="27" name="Text 20"/>
          <p:cNvSpPr/>
          <p:nvPr/>
        </p:nvSpPr>
        <p:spPr>
          <a:xfrm>
            <a:off x="628650" y="3811191"/>
            <a:ext cx="1812001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;</a:t>
            </a:r>
            <a:endParaRPr lang="en-US" sz="788" dirty="0"/>
          </a:p>
        </p:txBody>
      </p:sp>
      <p:sp>
        <p:nvSpPr>
          <p:cNvPr id="28" name="Text 21"/>
          <p:cNvSpPr/>
          <p:nvPr/>
        </p:nvSpPr>
        <p:spPr>
          <a:xfrm>
            <a:off x="748698" y="3973711"/>
            <a:ext cx="25151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gap</a:t>
            </a:r>
            <a:endParaRPr lang="en-US" sz="788" dirty="0"/>
          </a:p>
        </p:txBody>
      </p:sp>
      <p:sp>
        <p:nvSpPr>
          <p:cNvPr id="29" name="Text 22"/>
          <p:cNvSpPr/>
          <p:nvPr/>
        </p:nvSpPr>
        <p:spPr>
          <a:xfrm>
            <a:off x="928771" y="3973711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788" dirty="0"/>
          </a:p>
        </p:txBody>
      </p:sp>
      <p:sp>
        <p:nvSpPr>
          <p:cNvPr id="30" name="Text 23"/>
          <p:cNvSpPr/>
          <p:nvPr/>
        </p:nvSpPr>
        <p:spPr>
          <a:xfrm>
            <a:off x="1048820" y="3973711"/>
            <a:ext cx="31150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1rem</a:t>
            </a:r>
            <a:endParaRPr lang="en-US" sz="788" dirty="0"/>
          </a:p>
        </p:txBody>
      </p:sp>
      <p:sp>
        <p:nvSpPr>
          <p:cNvPr id="31" name="Text 24"/>
          <p:cNvSpPr/>
          <p:nvPr/>
        </p:nvSpPr>
        <p:spPr>
          <a:xfrm>
            <a:off x="628650" y="3973711"/>
            <a:ext cx="79170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;</a:t>
            </a:r>
            <a:endParaRPr lang="en-US" sz="788" dirty="0"/>
          </a:p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788" dirty="0"/>
          </a:p>
        </p:txBody>
      </p:sp>
      <p:sp>
        <p:nvSpPr>
          <p:cNvPr id="32" name="Text 25"/>
          <p:cNvSpPr/>
          <p:nvPr/>
        </p:nvSpPr>
        <p:spPr>
          <a:xfrm>
            <a:off x="628650" y="4461272"/>
            <a:ext cx="79164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A78B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/* Tablet */</a:t>
            </a:r>
            <a:endParaRPr lang="en-US" sz="788" dirty="0"/>
          </a:p>
        </p:txBody>
      </p:sp>
      <p:sp>
        <p:nvSpPr>
          <p:cNvPr id="33" name="Text 26"/>
          <p:cNvSpPr/>
          <p:nvPr/>
        </p:nvSpPr>
        <p:spPr>
          <a:xfrm>
            <a:off x="628650" y="4623792"/>
            <a:ext cx="43155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@media</a:t>
            </a:r>
            <a:endParaRPr lang="en-US" sz="788" dirty="0"/>
          </a:p>
        </p:txBody>
      </p:sp>
      <p:sp>
        <p:nvSpPr>
          <p:cNvPr id="34" name="Text 27"/>
          <p:cNvSpPr/>
          <p:nvPr/>
        </p:nvSpPr>
        <p:spPr>
          <a:xfrm>
            <a:off x="988768" y="4623792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788" dirty="0"/>
          </a:p>
        </p:txBody>
      </p:sp>
      <p:sp>
        <p:nvSpPr>
          <p:cNvPr id="35" name="Text 28"/>
          <p:cNvSpPr/>
          <p:nvPr/>
        </p:nvSpPr>
        <p:spPr>
          <a:xfrm>
            <a:off x="1108816" y="4623792"/>
            <a:ext cx="6116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min-width</a:t>
            </a:r>
            <a:endParaRPr lang="en-US" sz="788" dirty="0"/>
          </a:p>
        </p:txBody>
      </p:sp>
      <p:sp>
        <p:nvSpPr>
          <p:cNvPr id="36" name="Text 29"/>
          <p:cNvSpPr/>
          <p:nvPr/>
        </p:nvSpPr>
        <p:spPr>
          <a:xfrm>
            <a:off x="1648978" y="4623792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788" dirty="0"/>
          </a:p>
        </p:txBody>
      </p:sp>
      <p:sp>
        <p:nvSpPr>
          <p:cNvPr id="37" name="Text 30"/>
          <p:cNvSpPr/>
          <p:nvPr/>
        </p:nvSpPr>
        <p:spPr>
          <a:xfrm>
            <a:off x="1769027" y="4623792"/>
            <a:ext cx="3715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768px</a:t>
            </a:r>
            <a:endParaRPr lang="en-US" sz="788" dirty="0"/>
          </a:p>
        </p:txBody>
      </p:sp>
      <p:sp>
        <p:nvSpPr>
          <p:cNvPr id="38" name="Text 31"/>
          <p:cNvSpPr/>
          <p:nvPr/>
        </p:nvSpPr>
        <p:spPr>
          <a:xfrm>
            <a:off x="628650" y="4623792"/>
            <a:ext cx="169198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 {</a:t>
            </a:r>
            <a:endParaRPr lang="en-US" sz="788" dirty="0"/>
          </a:p>
        </p:txBody>
      </p:sp>
      <p:sp>
        <p:nvSpPr>
          <p:cNvPr id="39" name="Text 32"/>
          <p:cNvSpPr/>
          <p:nvPr/>
        </p:nvSpPr>
        <p:spPr>
          <a:xfrm>
            <a:off x="748698" y="4786313"/>
            <a:ext cx="73164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.games-grid</a:t>
            </a:r>
            <a:endParaRPr lang="en-US" sz="788" dirty="0"/>
          </a:p>
        </p:txBody>
      </p:sp>
      <p:sp>
        <p:nvSpPr>
          <p:cNvPr id="40" name="Text 33"/>
          <p:cNvSpPr/>
          <p:nvPr/>
        </p:nvSpPr>
        <p:spPr>
          <a:xfrm>
            <a:off x="628650" y="4786313"/>
            <a:ext cx="971745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</a:t>
            </a:r>
            <a:endParaRPr lang="en-US" sz="788" dirty="0"/>
          </a:p>
        </p:txBody>
      </p:sp>
      <p:sp>
        <p:nvSpPr>
          <p:cNvPr id="41" name="Text 34"/>
          <p:cNvSpPr/>
          <p:nvPr/>
        </p:nvSpPr>
        <p:spPr>
          <a:xfrm>
            <a:off x="868719" y="4948833"/>
            <a:ext cx="13318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grid-template-columns</a:t>
            </a:r>
            <a:endParaRPr lang="en-US" sz="788" dirty="0"/>
          </a:p>
        </p:txBody>
      </p:sp>
      <p:sp>
        <p:nvSpPr>
          <p:cNvPr id="42" name="Text 35"/>
          <p:cNvSpPr/>
          <p:nvPr/>
        </p:nvSpPr>
        <p:spPr>
          <a:xfrm>
            <a:off x="2129089" y="4948833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788" dirty="0"/>
          </a:p>
        </p:txBody>
      </p:sp>
      <p:sp>
        <p:nvSpPr>
          <p:cNvPr id="43" name="Text 36"/>
          <p:cNvSpPr/>
          <p:nvPr/>
        </p:nvSpPr>
        <p:spPr>
          <a:xfrm>
            <a:off x="2249137" y="4948833"/>
            <a:ext cx="91169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repeat(2, 1fr)</a:t>
            </a:r>
            <a:endParaRPr lang="en-US" sz="788" dirty="0"/>
          </a:p>
        </p:txBody>
      </p:sp>
      <p:sp>
        <p:nvSpPr>
          <p:cNvPr id="44" name="Text 37"/>
          <p:cNvSpPr/>
          <p:nvPr/>
        </p:nvSpPr>
        <p:spPr>
          <a:xfrm>
            <a:off x="628650" y="4948833"/>
            <a:ext cx="2592205" cy="439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;</a:t>
            </a:r>
            <a:endParaRPr lang="en-US" sz="788" dirty="0"/>
          </a:p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}</a:t>
            </a:r>
            <a:endParaRPr lang="en-US" sz="788" dirty="0"/>
          </a:p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788" dirty="0"/>
          </a:p>
        </p:txBody>
      </p:sp>
      <p:sp>
        <p:nvSpPr>
          <p:cNvPr id="45" name="Text 38"/>
          <p:cNvSpPr/>
          <p:nvPr/>
        </p:nvSpPr>
        <p:spPr>
          <a:xfrm>
            <a:off x="628650" y="5598914"/>
            <a:ext cx="85166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A78B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/* Desktop */</a:t>
            </a:r>
            <a:endParaRPr lang="en-US" sz="788" dirty="0"/>
          </a:p>
        </p:txBody>
      </p:sp>
      <p:sp>
        <p:nvSpPr>
          <p:cNvPr id="46" name="Text 39"/>
          <p:cNvSpPr/>
          <p:nvPr/>
        </p:nvSpPr>
        <p:spPr>
          <a:xfrm>
            <a:off x="628650" y="5761434"/>
            <a:ext cx="43155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@media</a:t>
            </a:r>
            <a:endParaRPr lang="en-US" sz="788" dirty="0"/>
          </a:p>
        </p:txBody>
      </p:sp>
      <p:sp>
        <p:nvSpPr>
          <p:cNvPr id="47" name="Text 40"/>
          <p:cNvSpPr/>
          <p:nvPr/>
        </p:nvSpPr>
        <p:spPr>
          <a:xfrm>
            <a:off x="988768" y="5761434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788" dirty="0"/>
          </a:p>
        </p:txBody>
      </p:sp>
      <p:sp>
        <p:nvSpPr>
          <p:cNvPr id="48" name="Text 41"/>
          <p:cNvSpPr/>
          <p:nvPr/>
        </p:nvSpPr>
        <p:spPr>
          <a:xfrm>
            <a:off x="1108816" y="5761434"/>
            <a:ext cx="6116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min-width</a:t>
            </a:r>
            <a:endParaRPr lang="en-US" sz="788" dirty="0"/>
          </a:p>
        </p:txBody>
      </p:sp>
      <p:sp>
        <p:nvSpPr>
          <p:cNvPr id="49" name="Text 42"/>
          <p:cNvSpPr/>
          <p:nvPr/>
        </p:nvSpPr>
        <p:spPr>
          <a:xfrm>
            <a:off x="1648978" y="5761434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788" dirty="0"/>
          </a:p>
        </p:txBody>
      </p:sp>
      <p:sp>
        <p:nvSpPr>
          <p:cNvPr id="50" name="Text 43"/>
          <p:cNvSpPr/>
          <p:nvPr/>
        </p:nvSpPr>
        <p:spPr>
          <a:xfrm>
            <a:off x="1769027" y="5761434"/>
            <a:ext cx="43155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1024px</a:t>
            </a:r>
            <a:endParaRPr lang="en-US" sz="788" dirty="0"/>
          </a:p>
        </p:txBody>
      </p:sp>
      <p:sp>
        <p:nvSpPr>
          <p:cNvPr id="51" name="Text 44"/>
          <p:cNvSpPr/>
          <p:nvPr/>
        </p:nvSpPr>
        <p:spPr>
          <a:xfrm>
            <a:off x="628650" y="5761434"/>
            <a:ext cx="1752005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 {</a:t>
            </a:r>
            <a:endParaRPr lang="en-US" sz="788" dirty="0"/>
          </a:p>
        </p:txBody>
      </p:sp>
      <p:sp>
        <p:nvSpPr>
          <p:cNvPr id="52" name="Text 45"/>
          <p:cNvSpPr/>
          <p:nvPr/>
        </p:nvSpPr>
        <p:spPr>
          <a:xfrm>
            <a:off x="748698" y="5923955"/>
            <a:ext cx="73164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.games-grid</a:t>
            </a:r>
            <a:endParaRPr lang="en-US" sz="788" dirty="0"/>
          </a:p>
        </p:txBody>
      </p:sp>
      <p:sp>
        <p:nvSpPr>
          <p:cNvPr id="53" name="Text 46"/>
          <p:cNvSpPr/>
          <p:nvPr/>
        </p:nvSpPr>
        <p:spPr>
          <a:xfrm>
            <a:off x="628650" y="5923955"/>
            <a:ext cx="971745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</a:t>
            </a:r>
            <a:endParaRPr lang="en-US" sz="788" dirty="0"/>
          </a:p>
        </p:txBody>
      </p:sp>
      <p:sp>
        <p:nvSpPr>
          <p:cNvPr id="54" name="Text 47"/>
          <p:cNvSpPr/>
          <p:nvPr/>
        </p:nvSpPr>
        <p:spPr>
          <a:xfrm>
            <a:off x="868719" y="6086475"/>
            <a:ext cx="13318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grid-template-columns</a:t>
            </a:r>
            <a:endParaRPr lang="en-US" sz="788" dirty="0"/>
          </a:p>
        </p:txBody>
      </p:sp>
      <p:sp>
        <p:nvSpPr>
          <p:cNvPr id="55" name="Text 48"/>
          <p:cNvSpPr/>
          <p:nvPr/>
        </p:nvSpPr>
        <p:spPr>
          <a:xfrm>
            <a:off x="2129089" y="6086475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788" dirty="0"/>
          </a:p>
        </p:txBody>
      </p:sp>
      <p:sp>
        <p:nvSpPr>
          <p:cNvPr id="56" name="Text 49"/>
          <p:cNvSpPr/>
          <p:nvPr/>
        </p:nvSpPr>
        <p:spPr>
          <a:xfrm>
            <a:off x="2249137" y="6086475"/>
            <a:ext cx="91169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repeat(3, 1fr)</a:t>
            </a:r>
            <a:endParaRPr lang="en-US" sz="788" dirty="0"/>
          </a:p>
        </p:txBody>
      </p:sp>
      <p:sp>
        <p:nvSpPr>
          <p:cNvPr id="57" name="Text 50"/>
          <p:cNvSpPr/>
          <p:nvPr/>
        </p:nvSpPr>
        <p:spPr>
          <a:xfrm>
            <a:off x="628650" y="6086475"/>
            <a:ext cx="2592205" cy="6018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;</a:t>
            </a:r>
            <a:endParaRPr lang="en-US" sz="788" dirty="0"/>
          </a:p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}</a:t>
            </a:r>
            <a:endParaRPr lang="en-US" sz="788" dirty="0"/>
          </a:p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788" dirty="0"/>
          </a:p>
        </p:txBody>
      </p:sp>
      <p:pic>
        <p:nvPicPr>
          <p:cNvPr id="5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94" y="7263408"/>
            <a:ext cx="142875" cy="142875"/>
          </a:xfrm>
          <a:prstGeom prst="rect">
            <a:avLst/>
          </a:prstGeom>
        </p:spPr>
      </p:pic>
      <p:sp>
        <p:nvSpPr>
          <p:cNvPr id="59" name="Text 51"/>
          <p:cNvSpPr/>
          <p:nvPr/>
        </p:nvSpPr>
        <p:spPr>
          <a:xfrm>
            <a:off x="864394" y="7234833"/>
            <a:ext cx="16856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Technologies Used</a:t>
            </a:r>
            <a:endParaRPr lang="en-US" sz="1125" dirty="0"/>
          </a:p>
        </p:txBody>
      </p:sp>
      <p:pic>
        <p:nvPicPr>
          <p:cNvPr id="6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794" y="7542014"/>
            <a:ext cx="100013" cy="100013"/>
          </a:xfrm>
          <a:prstGeom prst="rect">
            <a:avLst/>
          </a:prstGeom>
        </p:spPr>
      </p:pic>
      <p:sp>
        <p:nvSpPr>
          <p:cNvPr id="61" name="Text 52"/>
          <p:cNvSpPr/>
          <p:nvPr/>
        </p:nvSpPr>
        <p:spPr>
          <a:xfrm>
            <a:off x="792956" y="7520583"/>
            <a:ext cx="47190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CSS Grid</a:t>
            </a:r>
            <a:endParaRPr lang="en-US" sz="788" dirty="0"/>
          </a:p>
        </p:txBody>
      </p:sp>
      <p:pic>
        <p:nvPicPr>
          <p:cNvPr id="6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6025" y="7542014"/>
            <a:ext cx="100013" cy="100013"/>
          </a:xfrm>
          <a:prstGeom prst="rect">
            <a:avLst/>
          </a:prstGeom>
        </p:spPr>
      </p:pic>
      <p:sp>
        <p:nvSpPr>
          <p:cNvPr id="63" name="Text 53"/>
          <p:cNvSpPr/>
          <p:nvPr/>
        </p:nvSpPr>
        <p:spPr>
          <a:xfrm>
            <a:off x="2643188" y="7520583"/>
            <a:ext cx="42940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Flexbox</a:t>
            </a:r>
            <a:endParaRPr lang="en-US" sz="788" dirty="0"/>
          </a:p>
        </p:txBody>
      </p:sp>
      <p:pic>
        <p:nvPicPr>
          <p:cNvPr id="6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794" y="7799189"/>
            <a:ext cx="100013" cy="100013"/>
          </a:xfrm>
          <a:prstGeom prst="rect">
            <a:avLst/>
          </a:prstGeom>
        </p:spPr>
      </p:pic>
      <p:sp>
        <p:nvSpPr>
          <p:cNvPr id="65" name="Text 54"/>
          <p:cNvSpPr/>
          <p:nvPr/>
        </p:nvSpPr>
        <p:spPr>
          <a:xfrm>
            <a:off x="792956" y="7777758"/>
            <a:ext cx="75573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Media Queries</a:t>
            </a:r>
            <a:endParaRPr lang="en-US" sz="788" dirty="0"/>
          </a:p>
        </p:txBody>
      </p:sp>
      <p:pic>
        <p:nvPicPr>
          <p:cNvPr id="6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86025" y="7799189"/>
            <a:ext cx="100013" cy="100013"/>
          </a:xfrm>
          <a:prstGeom prst="rect">
            <a:avLst/>
          </a:prstGeom>
        </p:spPr>
      </p:pic>
      <p:sp>
        <p:nvSpPr>
          <p:cNvPr id="67" name="Text 55"/>
          <p:cNvSpPr/>
          <p:nvPr/>
        </p:nvSpPr>
        <p:spPr>
          <a:xfrm>
            <a:off x="2643188" y="7777758"/>
            <a:ext cx="75503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Viewport Meta</a:t>
            </a:r>
            <a:endParaRPr lang="en-US" sz="788" dirty="0"/>
          </a:p>
        </p:txBody>
      </p:sp>
      <p:sp>
        <p:nvSpPr>
          <p:cNvPr id="68" name="Text 56"/>
          <p:cNvSpPr/>
          <p:nvPr/>
        </p:nvSpPr>
        <p:spPr>
          <a:xfrm>
            <a:off x="4743450" y="1343025"/>
            <a:ext cx="40147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Responsive Breakpoints</a:t>
            </a:r>
            <a:endParaRPr lang="en-US" sz="1350" dirty="0"/>
          </a:p>
        </p:txBody>
      </p:sp>
      <p:sp>
        <p:nvSpPr>
          <p:cNvPr id="69" name="Shape 57"/>
          <p:cNvSpPr/>
          <p:nvPr/>
        </p:nvSpPr>
        <p:spPr>
          <a:xfrm>
            <a:off x="6000750" y="1743075"/>
            <a:ext cx="1428750" cy="857250"/>
          </a:xfrm>
          <a:prstGeom prst="rect">
            <a:avLst/>
          </a:prstGeom>
          <a:solidFill>
            <a:srgbClr val="764BA2">
              <a:alpha val="10000"/>
            </a:srgbClr>
          </a:solidFill>
          <a:ln w="198">
            <a:solidFill>
              <a:srgbClr val="667EEA">
                <a:alpha val="30000"/>
              </a:srgbClr>
            </a:solidFill>
            <a:prstDash val="solid"/>
          </a:ln>
        </p:spPr>
      </p:sp>
      <p:sp>
        <p:nvSpPr>
          <p:cNvPr id="70" name="Shape 58"/>
          <p:cNvSpPr/>
          <p:nvPr/>
        </p:nvSpPr>
        <p:spPr>
          <a:xfrm>
            <a:off x="6115050" y="1857375"/>
            <a:ext cx="1200150" cy="62865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71" name="Shape 59"/>
          <p:cNvSpPr/>
          <p:nvPr/>
        </p:nvSpPr>
        <p:spPr>
          <a:xfrm>
            <a:off x="6200775" y="1943100"/>
            <a:ext cx="1028700" cy="1143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2" name="Shape 60"/>
          <p:cNvSpPr/>
          <p:nvPr/>
        </p:nvSpPr>
        <p:spPr>
          <a:xfrm>
            <a:off x="6200775" y="2114550"/>
            <a:ext cx="1028700" cy="76181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73" name="Shape 61"/>
          <p:cNvSpPr/>
          <p:nvPr/>
        </p:nvSpPr>
        <p:spPr>
          <a:xfrm>
            <a:off x="6200775" y="2219306"/>
            <a:ext cx="1028700" cy="76209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74" name="Shape 62"/>
          <p:cNvSpPr/>
          <p:nvPr/>
        </p:nvSpPr>
        <p:spPr>
          <a:xfrm>
            <a:off x="6200775" y="2324091"/>
            <a:ext cx="1028700" cy="76209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75" name="Text 63"/>
          <p:cNvSpPr/>
          <p:nvPr/>
        </p:nvSpPr>
        <p:spPr>
          <a:xfrm>
            <a:off x="6115050" y="2543175"/>
            <a:ext cx="12715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Mobile (320px+)</a:t>
            </a:r>
            <a:endParaRPr lang="en-US" sz="788" dirty="0"/>
          </a:p>
        </p:txBody>
      </p:sp>
      <p:sp>
        <p:nvSpPr>
          <p:cNvPr id="76" name="Shape 64"/>
          <p:cNvSpPr/>
          <p:nvPr/>
        </p:nvSpPr>
        <p:spPr>
          <a:xfrm>
            <a:off x="5715000" y="2771775"/>
            <a:ext cx="2000250" cy="1000125"/>
          </a:xfrm>
          <a:prstGeom prst="rect">
            <a:avLst/>
          </a:prstGeom>
          <a:solidFill>
            <a:srgbClr val="764BA2">
              <a:alpha val="10000"/>
            </a:srgbClr>
          </a:solidFill>
          <a:ln w="198">
            <a:solidFill>
              <a:srgbClr val="667EEA">
                <a:alpha val="30000"/>
              </a:srgbClr>
            </a:solidFill>
            <a:prstDash val="solid"/>
          </a:ln>
        </p:spPr>
      </p:sp>
      <p:sp>
        <p:nvSpPr>
          <p:cNvPr id="77" name="Shape 65"/>
          <p:cNvSpPr/>
          <p:nvPr/>
        </p:nvSpPr>
        <p:spPr>
          <a:xfrm>
            <a:off x="5829300" y="2886075"/>
            <a:ext cx="1771650" cy="771525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78" name="Shape 66"/>
          <p:cNvSpPr/>
          <p:nvPr/>
        </p:nvSpPr>
        <p:spPr>
          <a:xfrm>
            <a:off x="5915025" y="2971800"/>
            <a:ext cx="1600200" cy="1143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9" name="Shape 67"/>
          <p:cNvSpPr/>
          <p:nvPr/>
        </p:nvSpPr>
        <p:spPr>
          <a:xfrm>
            <a:off x="5915025" y="3143250"/>
            <a:ext cx="771525" cy="185738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80" name="Shape 68"/>
          <p:cNvSpPr/>
          <p:nvPr/>
        </p:nvSpPr>
        <p:spPr>
          <a:xfrm>
            <a:off x="6743700" y="3143250"/>
            <a:ext cx="771525" cy="185738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81" name="Shape 69"/>
          <p:cNvSpPr/>
          <p:nvPr/>
        </p:nvSpPr>
        <p:spPr>
          <a:xfrm>
            <a:off x="5915025" y="3386138"/>
            <a:ext cx="771525" cy="185738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82" name="Shape 70"/>
          <p:cNvSpPr/>
          <p:nvPr/>
        </p:nvSpPr>
        <p:spPr>
          <a:xfrm>
            <a:off x="6743700" y="3386138"/>
            <a:ext cx="771525" cy="185738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83" name="Text 71"/>
          <p:cNvSpPr/>
          <p:nvPr/>
        </p:nvSpPr>
        <p:spPr>
          <a:xfrm>
            <a:off x="5829300" y="3714750"/>
            <a:ext cx="18430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Tablet (768px+)</a:t>
            </a:r>
            <a:endParaRPr lang="en-US" sz="788" dirty="0"/>
          </a:p>
        </p:txBody>
      </p:sp>
      <p:sp>
        <p:nvSpPr>
          <p:cNvPr id="84" name="Shape 72"/>
          <p:cNvSpPr/>
          <p:nvPr/>
        </p:nvSpPr>
        <p:spPr>
          <a:xfrm>
            <a:off x="5429250" y="3943350"/>
            <a:ext cx="2571750" cy="1143000"/>
          </a:xfrm>
          <a:prstGeom prst="rect">
            <a:avLst/>
          </a:prstGeom>
          <a:solidFill>
            <a:srgbClr val="764BA2">
              <a:alpha val="10000"/>
            </a:srgbClr>
          </a:solidFill>
          <a:ln w="198">
            <a:solidFill>
              <a:srgbClr val="667EEA">
                <a:alpha val="30000"/>
              </a:srgbClr>
            </a:solidFill>
            <a:prstDash val="solid"/>
          </a:ln>
        </p:spPr>
      </p:sp>
      <p:sp>
        <p:nvSpPr>
          <p:cNvPr id="85" name="Shape 73"/>
          <p:cNvSpPr/>
          <p:nvPr/>
        </p:nvSpPr>
        <p:spPr>
          <a:xfrm>
            <a:off x="5543550" y="4057650"/>
            <a:ext cx="2343150" cy="9144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86" name="Shape 74"/>
          <p:cNvSpPr/>
          <p:nvPr/>
        </p:nvSpPr>
        <p:spPr>
          <a:xfrm>
            <a:off x="5629275" y="4143375"/>
            <a:ext cx="2171700" cy="1143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7" name="Shape 75"/>
          <p:cNvSpPr/>
          <p:nvPr/>
        </p:nvSpPr>
        <p:spPr>
          <a:xfrm>
            <a:off x="5629275" y="4314825"/>
            <a:ext cx="685800" cy="257175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88" name="Shape 76"/>
          <p:cNvSpPr/>
          <p:nvPr/>
        </p:nvSpPr>
        <p:spPr>
          <a:xfrm>
            <a:off x="6372225" y="4314825"/>
            <a:ext cx="685800" cy="257175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89" name="Shape 77"/>
          <p:cNvSpPr/>
          <p:nvPr/>
        </p:nvSpPr>
        <p:spPr>
          <a:xfrm>
            <a:off x="7115175" y="4314825"/>
            <a:ext cx="685800" cy="257175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90" name="Shape 78"/>
          <p:cNvSpPr/>
          <p:nvPr/>
        </p:nvSpPr>
        <p:spPr>
          <a:xfrm>
            <a:off x="5629275" y="4629150"/>
            <a:ext cx="685800" cy="257175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91" name="Shape 79"/>
          <p:cNvSpPr/>
          <p:nvPr/>
        </p:nvSpPr>
        <p:spPr>
          <a:xfrm>
            <a:off x="6372225" y="4629150"/>
            <a:ext cx="685800" cy="257175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92" name="Shape 80"/>
          <p:cNvSpPr/>
          <p:nvPr/>
        </p:nvSpPr>
        <p:spPr>
          <a:xfrm>
            <a:off x="7115175" y="4629150"/>
            <a:ext cx="685800" cy="257175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93" name="Text 81"/>
          <p:cNvSpPr/>
          <p:nvPr/>
        </p:nvSpPr>
        <p:spPr>
          <a:xfrm>
            <a:off x="5543550" y="5029200"/>
            <a:ext cx="24145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Desktop (1024px+)</a:t>
            </a:r>
            <a:endParaRPr lang="en-US" sz="788" dirty="0"/>
          </a:p>
        </p:txBody>
      </p:sp>
      <p:pic>
        <p:nvPicPr>
          <p:cNvPr id="9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46597" y="8449270"/>
            <a:ext cx="150019" cy="171450"/>
          </a:xfrm>
          <a:prstGeom prst="rect">
            <a:avLst/>
          </a:prstGeom>
        </p:spPr>
      </p:pic>
      <p:sp>
        <p:nvSpPr>
          <p:cNvPr id="95" name="Text 82"/>
          <p:cNvSpPr/>
          <p:nvPr/>
        </p:nvSpPr>
        <p:spPr>
          <a:xfrm>
            <a:off x="578644" y="8677870"/>
            <a:ext cx="17573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Flexible Grids</a:t>
            </a:r>
            <a:endParaRPr lang="en-US" sz="788" dirty="0"/>
          </a:p>
        </p:txBody>
      </p:sp>
      <p:pic>
        <p:nvPicPr>
          <p:cNvPr id="9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36144" y="8449270"/>
            <a:ext cx="171450" cy="171450"/>
          </a:xfrm>
          <a:prstGeom prst="rect">
            <a:avLst/>
          </a:prstGeom>
        </p:spPr>
      </p:pic>
      <p:sp>
        <p:nvSpPr>
          <p:cNvPr id="97" name="Text 83"/>
          <p:cNvSpPr/>
          <p:nvPr/>
        </p:nvSpPr>
        <p:spPr>
          <a:xfrm>
            <a:off x="2678906" y="8677870"/>
            <a:ext cx="17573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Responsive Images</a:t>
            </a:r>
            <a:endParaRPr lang="en-US" sz="788" dirty="0"/>
          </a:p>
        </p:txBody>
      </p:sp>
      <p:pic>
        <p:nvPicPr>
          <p:cNvPr id="9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47122" y="8449270"/>
            <a:ext cx="150019" cy="171450"/>
          </a:xfrm>
          <a:prstGeom prst="rect">
            <a:avLst/>
          </a:prstGeom>
        </p:spPr>
      </p:pic>
      <p:sp>
        <p:nvSpPr>
          <p:cNvPr id="99" name="Text 84"/>
          <p:cNvSpPr/>
          <p:nvPr/>
        </p:nvSpPr>
        <p:spPr>
          <a:xfrm>
            <a:off x="4779169" y="8677870"/>
            <a:ext cx="17573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Touch Friendly</a:t>
            </a:r>
            <a:endParaRPr lang="en-US" sz="788" dirty="0"/>
          </a:p>
        </p:txBody>
      </p:sp>
      <p:pic>
        <p:nvPicPr>
          <p:cNvPr id="10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5953" y="8449270"/>
            <a:ext cx="192881" cy="171450"/>
          </a:xfrm>
          <a:prstGeom prst="rect">
            <a:avLst/>
          </a:prstGeom>
        </p:spPr>
      </p:pic>
      <p:sp>
        <p:nvSpPr>
          <p:cNvPr id="101" name="Text 85"/>
          <p:cNvSpPr/>
          <p:nvPr/>
        </p:nvSpPr>
        <p:spPr>
          <a:xfrm>
            <a:off x="6879431" y="8677870"/>
            <a:ext cx="17573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Fast Performance</a:t>
            </a:r>
            <a:endParaRPr lang="en-US" sz="78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84724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017788" y="394692"/>
            <a:ext cx="3108396" cy="466130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4" name="Text 1"/>
          <p:cNvSpPr/>
          <p:nvPr/>
        </p:nvSpPr>
        <p:spPr>
          <a:xfrm>
            <a:off x="3017788" y="394692"/>
            <a:ext cx="3179834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Web App Manifest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8301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Defining app metadata, icons, and installation behavior</a:t>
            </a:r>
            <a:endParaRPr lang="en-US" sz="1125" dirty="0"/>
          </a:p>
        </p:txBody>
      </p:sp>
      <p:sp>
        <p:nvSpPr>
          <p:cNvPr id="6" name="Shape 3"/>
          <p:cNvSpPr/>
          <p:nvPr/>
        </p:nvSpPr>
        <p:spPr>
          <a:xfrm>
            <a:off x="457200" y="1343025"/>
            <a:ext cx="3943350" cy="3529013"/>
          </a:xfrm>
          <a:prstGeom prst="rect">
            <a:avLst/>
          </a:prstGeom>
          <a:solidFill>
            <a:srgbClr val="000000">
              <a:alpha val="4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50194"/>
            <a:ext cx="96441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0816" y="1514475"/>
            <a:ext cx="107460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manifest.json</a:t>
            </a:r>
            <a:endParaRPr lang="en-US" sz="1013" dirty="0"/>
          </a:p>
        </p:txBody>
      </p:sp>
      <p:sp>
        <p:nvSpPr>
          <p:cNvPr id="9" name="Text 5"/>
          <p:cNvSpPr/>
          <p:nvPr/>
        </p:nvSpPr>
        <p:spPr>
          <a:xfrm>
            <a:off x="628650" y="1852017"/>
            <a:ext cx="191486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</a:t>
            </a:r>
            <a:endParaRPr lang="en-US" sz="788" dirty="0"/>
          </a:p>
        </p:txBody>
      </p:sp>
      <p:sp>
        <p:nvSpPr>
          <p:cNvPr id="10" name="Text 6"/>
          <p:cNvSpPr/>
          <p:nvPr/>
        </p:nvSpPr>
        <p:spPr>
          <a:xfrm>
            <a:off x="748698" y="2014538"/>
            <a:ext cx="43155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"name"</a:t>
            </a:r>
            <a:endParaRPr lang="en-US" sz="788" dirty="0"/>
          </a:p>
        </p:txBody>
      </p:sp>
      <p:sp>
        <p:nvSpPr>
          <p:cNvPr id="11" name="Text 7"/>
          <p:cNvSpPr/>
          <p:nvPr/>
        </p:nvSpPr>
        <p:spPr>
          <a:xfrm>
            <a:off x="1108816" y="2014538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788" dirty="0"/>
          </a:p>
        </p:txBody>
      </p:sp>
      <p:sp>
        <p:nvSpPr>
          <p:cNvPr id="12" name="Text 8"/>
          <p:cNvSpPr/>
          <p:nvPr/>
        </p:nvSpPr>
        <p:spPr>
          <a:xfrm>
            <a:off x="1228865" y="2014538"/>
            <a:ext cx="27121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"GameHub - Your Ultimate Gaming Destination"</a:t>
            </a:r>
            <a:endParaRPr lang="en-US" sz="788" dirty="0"/>
          </a:p>
        </p:txBody>
      </p:sp>
      <p:sp>
        <p:nvSpPr>
          <p:cNvPr id="13" name="Text 9"/>
          <p:cNvSpPr/>
          <p:nvPr/>
        </p:nvSpPr>
        <p:spPr>
          <a:xfrm>
            <a:off x="628650" y="2014538"/>
            <a:ext cx="3372436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788" dirty="0"/>
          </a:p>
        </p:txBody>
      </p:sp>
      <p:sp>
        <p:nvSpPr>
          <p:cNvPr id="14" name="Text 10"/>
          <p:cNvSpPr/>
          <p:nvPr/>
        </p:nvSpPr>
        <p:spPr>
          <a:xfrm>
            <a:off x="748698" y="2177058"/>
            <a:ext cx="79164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"short_name"</a:t>
            </a:r>
            <a:endParaRPr lang="en-US" sz="788" dirty="0"/>
          </a:p>
        </p:txBody>
      </p:sp>
      <p:sp>
        <p:nvSpPr>
          <p:cNvPr id="15" name="Text 11"/>
          <p:cNvSpPr/>
          <p:nvPr/>
        </p:nvSpPr>
        <p:spPr>
          <a:xfrm>
            <a:off x="1468906" y="2177058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788" dirty="0"/>
          </a:p>
        </p:txBody>
      </p:sp>
      <p:sp>
        <p:nvSpPr>
          <p:cNvPr id="16" name="Text 12"/>
          <p:cNvSpPr/>
          <p:nvPr/>
        </p:nvSpPr>
        <p:spPr>
          <a:xfrm>
            <a:off x="1588954" y="2177058"/>
            <a:ext cx="6116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"GameHub"</a:t>
            </a:r>
            <a:endParaRPr lang="en-US" sz="788" dirty="0"/>
          </a:p>
        </p:txBody>
      </p:sp>
      <p:sp>
        <p:nvSpPr>
          <p:cNvPr id="17" name="Text 13"/>
          <p:cNvSpPr/>
          <p:nvPr/>
        </p:nvSpPr>
        <p:spPr>
          <a:xfrm>
            <a:off x="628650" y="2177058"/>
            <a:ext cx="1631928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788" dirty="0"/>
          </a:p>
        </p:txBody>
      </p:sp>
      <p:sp>
        <p:nvSpPr>
          <p:cNvPr id="18" name="Text 14"/>
          <p:cNvSpPr/>
          <p:nvPr/>
        </p:nvSpPr>
        <p:spPr>
          <a:xfrm>
            <a:off x="748698" y="2339578"/>
            <a:ext cx="85166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"description"</a:t>
            </a:r>
            <a:endParaRPr lang="en-US" sz="788" dirty="0"/>
          </a:p>
        </p:txBody>
      </p:sp>
      <p:sp>
        <p:nvSpPr>
          <p:cNvPr id="19" name="Text 15"/>
          <p:cNvSpPr/>
          <p:nvPr/>
        </p:nvSpPr>
        <p:spPr>
          <a:xfrm>
            <a:off x="1528930" y="2339578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788" dirty="0"/>
          </a:p>
        </p:txBody>
      </p:sp>
      <p:sp>
        <p:nvSpPr>
          <p:cNvPr id="20" name="Text 16"/>
          <p:cNvSpPr/>
          <p:nvPr/>
        </p:nvSpPr>
        <p:spPr>
          <a:xfrm>
            <a:off x="1648978" y="2339578"/>
            <a:ext cx="36124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"Discover the latest video games, reviews, and gaming news"</a:t>
            </a:r>
            <a:endParaRPr lang="en-US" sz="788" dirty="0"/>
          </a:p>
        </p:txBody>
      </p:sp>
      <p:sp>
        <p:nvSpPr>
          <p:cNvPr id="21" name="Text 17"/>
          <p:cNvSpPr/>
          <p:nvPr/>
        </p:nvSpPr>
        <p:spPr>
          <a:xfrm>
            <a:off x="628650" y="2339578"/>
            <a:ext cx="469283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788" dirty="0"/>
          </a:p>
        </p:txBody>
      </p:sp>
      <p:sp>
        <p:nvSpPr>
          <p:cNvPr id="22" name="Text 18"/>
          <p:cNvSpPr/>
          <p:nvPr/>
        </p:nvSpPr>
        <p:spPr>
          <a:xfrm>
            <a:off x="748698" y="2502098"/>
            <a:ext cx="73164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"start_url"</a:t>
            </a:r>
            <a:endParaRPr lang="en-US" sz="788" dirty="0"/>
          </a:p>
        </p:txBody>
      </p:sp>
      <p:sp>
        <p:nvSpPr>
          <p:cNvPr id="23" name="Text 19"/>
          <p:cNvSpPr/>
          <p:nvPr/>
        </p:nvSpPr>
        <p:spPr>
          <a:xfrm>
            <a:off x="1408909" y="2502098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788" dirty="0"/>
          </a:p>
        </p:txBody>
      </p:sp>
      <p:sp>
        <p:nvSpPr>
          <p:cNvPr id="24" name="Text 20"/>
          <p:cNvSpPr/>
          <p:nvPr/>
        </p:nvSpPr>
        <p:spPr>
          <a:xfrm>
            <a:off x="1528958" y="2502098"/>
            <a:ext cx="25151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"/"</a:t>
            </a:r>
            <a:endParaRPr lang="en-US" sz="788" dirty="0"/>
          </a:p>
        </p:txBody>
      </p:sp>
      <p:sp>
        <p:nvSpPr>
          <p:cNvPr id="25" name="Text 21"/>
          <p:cNvSpPr/>
          <p:nvPr/>
        </p:nvSpPr>
        <p:spPr>
          <a:xfrm>
            <a:off x="628650" y="2502098"/>
            <a:ext cx="1211842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788" dirty="0"/>
          </a:p>
        </p:txBody>
      </p:sp>
      <p:sp>
        <p:nvSpPr>
          <p:cNvPr id="26" name="Text 22"/>
          <p:cNvSpPr/>
          <p:nvPr/>
        </p:nvSpPr>
        <p:spPr>
          <a:xfrm>
            <a:off x="748698" y="2664619"/>
            <a:ext cx="6116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"display"</a:t>
            </a:r>
            <a:endParaRPr lang="en-US" sz="788" dirty="0"/>
          </a:p>
        </p:txBody>
      </p:sp>
      <p:sp>
        <p:nvSpPr>
          <p:cNvPr id="27" name="Text 23"/>
          <p:cNvSpPr/>
          <p:nvPr/>
        </p:nvSpPr>
        <p:spPr>
          <a:xfrm>
            <a:off x="1288861" y="2664619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788" dirty="0"/>
          </a:p>
        </p:txBody>
      </p:sp>
      <p:sp>
        <p:nvSpPr>
          <p:cNvPr id="28" name="Text 24"/>
          <p:cNvSpPr/>
          <p:nvPr/>
        </p:nvSpPr>
        <p:spPr>
          <a:xfrm>
            <a:off x="1408909" y="2664619"/>
            <a:ext cx="79164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"standalone"</a:t>
            </a:r>
            <a:endParaRPr lang="en-US" sz="788" dirty="0"/>
          </a:p>
        </p:txBody>
      </p:sp>
      <p:sp>
        <p:nvSpPr>
          <p:cNvPr id="29" name="Text 25"/>
          <p:cNvSpPr/>
          <p:nvPr/>
        </p:nvSpPr>
        <p:spPr>
          <a:xfrm>
            <a:off x="628650" y="2664619"/>
            <a:ext cx="1631928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788" dirty="0"/>
          </a:p>
        </p:txBody>
      </p:sp>
      <p:sp>
        <p:nvSpPr>
          <p:cNvPr id="30" name="Text 26"/>
          <p:cNvSpPr/>
          <p:nvPr/>
        </p:nvSpPr>
        <p:spPr>
          <a:xfrm>
            <a:off x="748698" y="2827139"/>
            <a:ext cx="11517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"background_color"</a:t>
            </a:r>
            <a:endParaRPr lang="en-US" sz="788" dirty="0"/>
          </a:p>
        </p:txBody>
      </p:sp>
      <p:sp>
        <p:nvSpPr>
          <p:cNvPr id="31" name="Text 27"/>
          <p:cNvSpPr/>
          <p:nvPr/>
        </p:nvSpPr>
        <p:spPr>
          <a:xfrm>
            <a:off x="1829023" y="2827139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788" dirty="0"/>
          </a:p>
        </p:txBody>
      </p:sp>
      <p:sp>
        <p:nvSpPr>
          <p:cNvPr id="32" name="Text 28"/>
          <p:cNvSpPr/>
          <p:nvPr/>
        </p:nvSpPr>
        <p:spPr>
          <a:xfrm>
            <a:off x="1949072" y="2827139"/>
            <a:ext cx="6116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"#1a1a2e"</a:t>
            </a:r>
            <a:endParaRPr lang="en-US" sz="788" dirty="0"/>
          </a:p>
        </p:txBody>
      </p:sp>
      <p:sp>
        <p:nvSpPr>
          <p:cNvPr id="33" name="Text 29"/>
          <p:cNvSpPr/>
          <p:nvPr/>
        </p:nvSpPr>
        <p:spPr>
          <a:xfrm>
            <a:off x="628650" y="2827139"/>
            <a:ext cx="1992046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788" dirty="0"/>
          </a:p>
        </p:txBody>
      </p:sp>
      <p:sp>
        <p:nvSpPr>
          <p:cNvPr id="34" name="Text 30"/>
          <p:cNvSpPr/>
          <p:nvPr/>
        </p:nvSpPr>
        <p:spPr>
          <a:xfrm>
            <a:off x="748698" y="2989659"/>
            <a:ext cx="85166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"theme_color"</a:t>
            </a:r>
            <a:endParaRPr lang="en-US" sz="788" dirty="0"/>
          </a:p>
        </p:txBody>
      </p:sp>
      <p:sp>
        <p:nvSpPr>
          <p:cNvPr id="35" name="Text 31"/>
          <p:cNvSpPr/>
          <p:nvPr/>
        </p:nvSpPr>
        <p:spPr>
          <a:xfrm>
            <a:off x="1528930" y="2989659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788" dirty="0"/>
          </a:p>
        </p:txBody>
      </p:sp>
      <p:sp>
        <p:nvSpPr>
          <p:cNvPr id="36" name="Text 32"/>
          <p:cNvSpPr/>
          <p:nvPr/>
        </p:nvSpPr>
        <p:spPr>
          <a:xfrm>
            <a:off x="1648978" y="2989659"/>
            <a:ext cx="6116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"#667eea"</a:t>
            </a:r>
            <a:endParaRPr lang="en-US" sz="788" dirty="0"/>
          </a:p>
        </p:txBody>
      </p:sp>
      <p:sp>
        <p:nvSpPr>
          <p:cNvPr id="37" name="Text 33"/>
          <p:cNvSpPr/>
          <p:nvPr/>
        </p:nvSpPr>
        <p:spPr>
          <a:xfrm>
            <a:off x="628650" y="2989659"/>
            <a:ext cx="1691953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788" dirty="0"/>
          </a:p>
        </p:txBody>
      </p:sp>
      <p:sp>
        <p:nvSpPr>
          <p:cNvPr id="38" name="Text 34"/>
          <p:cNvSpPr/>
          <p:nvPr/>
        </p:nvSpPr>
        <p:spPr>
          <a:xfrm>
            <a:off x="748698" y="3152180"/>
            <a:ext cx="85166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"orientation"</a:t>
            </a:r>
            <a:endParaRPr lang="en-US" sz="788" dirty="0"/>
          </a:p>
        </p:txBody>
      </p:sp>
      <p:sp>
        <p:nvSpPr>
          <p:cNvPr id="39" name="Text 35"/>
          <p:cNvSpPr/>
          <p:nvPr/>
        </p:nvSpPr>
        <p:spPr>
          <a:xfrm>
            <a:off x="1528930" y="3152180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788" dirty="0"/>
          </a:p>
        </p:txBody>
      </p:sp>
      <p:sp>
        <p:nvSpPr>
          <p:cNvPr id="40" name="Text 36"/>
          <p:cNvSpPr/>
          <p:nvPr/>
        </p:nvSpPr>
        <p:spPr>
          <a:xfrm>
            <a:off x="1648978" y="3152180"/>
            <a:ext cx="11517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"portrait-primary"</a:t>
            </a:r>
            <a:endParaRPr lang="en-US" sz="788" dirty="0"/>
          </a:p>
        </p:txBody>
      </p:sp>
      <p:sp>
        <p:nvSpPr>
          <p:cNvPr id="41" name="Text 37"/>
          <p:cNvSpPr/>
          <p:nvPr/>
        </p:nvSpPr>
        <p:spPr>
          <a:xfrm>
            <a:off x="628650" y="3152180"/>
            <a:ext cx="2232115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788" dirty="0"/>
          </a:p>
        </p:txBody>
      </p:sp>
      <p:sp>
        <p:nvSpPr>
          <p:cNvPr id="42" name="Text 38"/>
          <p:cNvSpPr/>
          <p:nvPr/>
        </p:nvSpPr>
        <p:spPr>
          <a:xfrm>
            <a:off x="748698" y="3314700"/>
            <a:ext cx="49157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"scope"</a:t>
            </a:r>
            <a:endParaRPr lang="en-US" sz="788" dirty="0"/>
          </a:p>
        </p:txBody>
      </p:sp>
      <p:sp>
        <p:nvSpPr>
          <p:cNvPr id="43" name="Text 39"/>
          <p:cNvSpPr/>
          <p:nvPr/>
        </p:nvSpPr>
        <p:spPr>
          <a:xfrm>
            <a:off x="1168840" y="3314700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788" dirty="0"/>
          </a:p>
        </p:txBody>
      </p:sp>
      <p:sp>
        <p:nvSpPr>
          <p:cNvPr id="44" name="Text 40"/>
          <p:cNvSpPr/>
          <p:nvPr/>
        </p:nvSpPr>
        <p:spPr>
          <a:xfrm>
            <a:off x="1288889" y="3314700"/>
            <a:ext cx="25151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"/"</a:t>
            </a:r>
            <a:endParaRPr lang="en-US" sz="788" dirty="0"/>
          </a:p>
        </p:txBody>
      </p:sp>
      <p:sp>
        <p:nvSpPr>
          <p:cNvPr id="45" name="Text 41"/>
          <p:cNvSpPr/>
          <p:nvPr/>
        </p:nvSpPr>
        <p:spPr>
          <a:xfrm>
            <a:off x="628650" y="3314700"/>
            <a:ext cx="971773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788" dirty="0"/>
          </a:p>
        </p:txBody>
      </p:sp>
      <p:sp>
        <p:nvSpPr>
          <p:cNvPr id="46" name="Text 42"/>
          <p:cNvSpPr/>
          <p:nvPr/>
        </p:nvSpPr>
        <p:spPr>
          <a:xfrm>
            <a:off x="748698" y="3477220"/>
            <a:ext cx="49157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"icons"</a:t>
            </a:r>
            <a:endParaRPr lang="en-US" sz="788" dirty="0"/>
          </a:p>
        </p:txBody>
      </p:sp>
      <p:sp>
        <p:nvSpPr>
          <p:cNvPr id="47" name="Text 43"/>
          <p:cNvSpPr/>
          <p:nvPr/>
        </p:nvSpPr>
        <p:spPr>
          <a:xfrm>
            <a:off x="628650" y="3477220"/>
            <a:ext cx="791701" cy="4393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 [</a:t>
            </a:r>
            <a:endParaRPr lang="en-US" sz="788" dirty="0"/>
          </a:p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{</a:t>
            </a:r>
            <a:endParaRPr lang="en-US" sz="788" dirty="0"/>
          </a:p>
        </p:txBody>
      </p:sp>
      <p:sp>
        <p:nvSpPr>
          <p:cNvPr id="48" name="Text 44"/>
          <p:cNvSpPr/>
          <p:nvPr/>
        </p:nvSpPr>
        <p:spPr>
          <a:xfrm>
            <a:off x="988768" y="3802261"/>
            <a:ext cx="3715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"src"</a:t>
            </a:r>
            <a:endParaRPr lang="en-US" sz="788" dirty="0"/>
          </a:p>
        </p:txBody>
      </p:sp>
      <p:sp>
        <p:nvSpPr>
          <p:cNvPr id="49" name="Text 45"/>
          <p:cNvSpPr/>
          <p:nvPr/>
        </p:nvSpPr>
        <p:spPr>
          <a:xfrm>
            <a:off x="1288861" y="3802261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788" dirty="0"/>
          </a:p>
        </p:txBody>
      </p:sp>
      <p:sp>
        <p:nvSpPr>
          <p:cNvPr id="50" name="Text 46"/>
          <p:cNvSpPr/>
          <p:nvPr/>
        </p:nvSpPr>
        <p:spPr>
          <a:xfrm>
            <a:off x="1408909" y="3802261"/>
            <a:ext cx="15118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"icons/icon-192x192.png"</a:t>
            </a:r>
            <a:endParaRPr lang="en-US" sz="788" dirty="0"/>
          </a:p>
        </p:txBody>
      </p:sp>
      <p:sp>
        <p:nvSpPr>
          <p:cNvPr id="51" name="Text 47"/>
          <p:cNvSpPr/>
          <p:nvPr/>
        </p:nvSpPr>
        <p:spPr>
          <a:xfrm>
            <a:off x="628650" y="3802261"/>
            <a:ext cx="2352135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788" dirty="0"/>
          </a:p>
        </p:txBody>
      </p:sp>
      <p:sp>
        <p:nvSpPr>
          <p:cNvPr id="52" name="Text 48"/>
          <p:cNvSpPr/>
          <p:nvPr/>
        </p:nvSpPr>
        <p:spPr>
          <a:xfrm>
            <a:off x="988768" y="3964781"/>
            <a:ext cx="49157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"sizes"</a:t>
            </a:r>
            <a:endParaRPr lang="en-US" sz="788" dirty="0"/>
          </a:p>
        </p:txBody>
      </p:sp>
      <p:sp>
        <p:nvSpPr>
          <p:cNvPr id="53" name="Text 49"/>
          <p:cNvSpPr/>
          <p:nvPr/>
        </p:nvSpPr>
        <p:spPr>
          <a:xfrm>
            <a:off x="1408909" y="3964781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788" dirty="0"/>
          </a:p>
        </p:txBody>
      </p:sp>
      <p:sp>
        <p:nvSpPr>
          <p:cNvPr id="54" name="Text 50"/>
          <p:cNvSpPr/>
          <p:nvPr/>
        </p:nvSpPr>
        <p:spPr>
          <a:xfrm>
            <a:off x="1528958" y="3964781"/>
            <a:ext cx="6116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"192x192"</a:t>
            </a:r>
            <a:endParaRPr lang="en-US" sz="788" dirty="0"/>
          </a:p>
        </p:txBody>
      </p:sp>
      <p:sp>
        <p:nvSpPr>
          <p:cNvPr id="55" name="Text 51"/>
          <p:cNvSpPr/>
          <p:nvPr/>
        </p:nvSpPr>
        <p:spPr>
          <a:xfrm>
            <a:off x="628650" y="3964781"/>
            <a:ext cx="1571932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788" dirty="0"/>
          </a:p>
        </p:txBody>
      </p:sp>
      <p:sp>
        <p:nvSpPr>
          <p:cNvPr id="56" name="Text 52"/>
          <p:cNvSpPr/>
          <p:nvPr/>
        </p:nvSpPr>
        <p:spPr>
          <a:xfrm>
            <a:off x="988768" y="4127302"/>
            <a:ext cx="43155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"type"</a:t>
            </a:r>
            <a:endParaRPr lang="en-US" sz="788" dirty="0"/>
          </a:p>
        </p:txBody>
      </p:sp>
      <p:sp>
        <p:nvSpPr>
          <p:cNvPr id="57" name="Text 53"/>
          <p:cNvSpPr/>
          <p:nvPr/>
        </p:nvSpPr>
        <p:spPr>
          <a:xfrm>
            <a:off x="1348885" y="4127302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788" dirty="0"/>
          </a:p>
        </p:txBody>
      </p:sp>
      <p:sp>
        <p:nvSpPr>
          <p:cNvPr id="58" name="Text 54"/>
          <p:cNvSpPr/>
          <p:nvPr/>
        </p:nvSpPr>
        <p:spPr>
          <a:xfrm>
            <a:off x="1468934" y="4127302"/>
            <a:ext cx="73164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"image/png"</a:t>
            </a:r>
            <a:endParaRPr lang="en-US" sz="788" dirty="0"/>
          </a:p>
        </p:txBody>
      </p:sp>
      <p:sp>
        <p:nvSpPr>
          <p:cNvPr id="59" name="Text 55"/>
          <p:cNvSpPr/>
          <p:nvPr/>
        </p:nvSpPr>
        <p:spPr>
          <a:xfrm>
            <a:off x="628650" y="4127302"/>
            <a:ext cx="1631956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788" dirty="0"/>
          </a:p>
        </p:txBody>
      </p:sp>
      <p:sp>
        <p:nvSpPr>
          <p:cNvPr id="60" name="Text 56"/>
          <p:cNvSpPr/>
          <p:nvPr/>
        </p:nvSpPr>
        <p:spPr>
          <a:xfrm>
            <a:off x="988768" y="4289822"/>
            <a:ext cx="6116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"purpose"</a:t>
            </a:r>
            <a:endParaRPr lang="en-US" sz="788" dirty="0"/>
          </a:p>
        </p:txBody>
      </p:sp>
      <p:sp>
        <p:nvSpPr>
          <p:cNvPr id="61" name="Text 57"/>
          <p:cNvSpPr/>
          <p:nvPr/>
        </p:nvSpPr>
        <p:spPr>
          <a:xfrm>
            <a:off x="1528930" y="4289822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788" dirty="0"/>
          </a:p>
        </p:txBody>
      </p:sp>
      <p:sp>
        <p:nvSpPr>
          <p:cNvPr id="62" name="Text 58"/>
          <p:cNvSpPr/>
          <p:nvPr/>
        </p:nvSpPr>
        <p:spPr>
          <a:xfrm>
            <a:off x="1648978" y="4289822"/>
            <a:ext cx="91169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"maskable any"</a:t>
            </a:r>
            <a:endParaRPr lang="en-US" sz="788" dirty="0"/>
          </a:p>
        </p:txBody>
      </p:sp>
      <p:sp>
        <p:nvSpPr>
          <p:cNvPr id="63" name="Text 59"/>
          <p:cNvSpPr/>
          <p:nvPr/>
        </p:nvSpPr>
        <p:spPr>
          <a:xfrm>
            <a:off x="628650" y="4452342"/>
            <a:ext cx="431555" cy="4393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},</a:t>
            </a:r>
            <a:endParaRPr lang="en-US" sz="788" dirty="0"/>
          </a:p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{</a:t>
            </a:r>
            <a:endParaRPr lang="en-US" sz="788" dirty="0"/>
          </a:p>
        </p:txBody>
      </p:sp>
      <p:sp>
        <p:nvSpPr>
          <p:cNvPr id="64" name="Text 60"/>
          <p:cNvSpPr/>
          <p:nvPr/>
        </p:nvSpPr>
        <p:spPr>
          <a:xfrm>
            <a:off x="988768" y="4777383"/>
            <a:ext cx="3715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"src"</a:t>
            </a:r>
            <a:endParaRPr lang="en-US" sz="788" dirty="0"/>
          </a:p>
        </p:txBody>
      </p:sp>
      <p:sp>
        <p:nvSpPr>
          <p:cNvPr id="65" name="Text 61"/>
          <p:cNvSpPr/>
          <p:nvPr/>
        </p:nvSpPr>
        <p:spPr>
          <a:xfrm>
            <a:off x="1288861" y="4777383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788" dirty="0"/>
          </a:p>
        </p:txBody>
      </p:sp>
      <p:sp>
        <p:nvSpPr>
          <p:cNvPr id="66" name="Text 62"/>
          <p:cNvSpPr/>
          <p:nvPr/>
        </p:nvSpPr>
        <p:spPr>
          <a:xfrm>
            <a:off x="1408909" y="4777383"/>
            <a:ext cx="15118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"icons/icon-512x512.png"</a:t>
            </a:r>
            <a:endParaRPr lang="en-US" sz="788" dirty="0"/>
          </a:p>
        </p:txBody>
      </p:sp>
      <p:sp>
        <p:nvSpPr>
          <p:cNvPr id="67" name="Text 63"/>
          <p:cNvSpPr/>
          <p:nvPr/>
        </p:nvSpPr>
        <p:spPr>
          <a:xfrm>
            <a:off x="628650" y="4777383"/>
            <a:ext cx="2352135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788" dirty="0"/>
          </a:p>
        </p:txBody>
      </p:sp>
      <p:sp>
        <p:nvSpPr>
          <p:cNvPr id="68" name="Text 64"/>
          <p:cNvSpPr/>
          <p:nvPr/>
        </p:nvSpPr>
        <p:spPr>
          <a:xfrm>
            <a:off x="988768" y="4939903"/>
            <a:ext cx="49157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"sizes"</a:t>
            </a:r>
            <a:endParaRPr lang="en-US" sz="788" dirty="0"/>
          </a:p>
        </p:txBody>
      </p:sp>
      <p:sp>
        <p:nvSpPr>
          <p:cNvPr id="69" name="Text 65"/>
          <p:cNvSpPr/>
          <p:nvPr/>
        </p:nvSpPr>
        <p:spPr>
          <a:xfrm>
            <a:off x="1408909" y="4939903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788" dirty="0"/>
          </a:p>
        </p:txBody>
      </p:sp>
      <p:sp>
        <p:nvSpPr>
          <p:cNvPr id="70" name="Text 66"/>
          <p:cNvSpPr/>
          <p:nvPr/>
        </p:nvSpPr>
        <p:spPr>
          <a:xfrm>
            <a:off x="1528958" y="4939903"/>
            <a:ext cx="6116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"512x512"</a:t>
            </a:r>
            <a:endParaRPr lang="en-US" sz="788" dirty="0"/>
          </a:p>
        </p:txBody>
      </p:sp>
      <p:sp>
        <p:nvSpPr>
          <p:cNvPr id="71" name="Text 67"/>
          <p:cNvSpPr/>
          <p:nvPr/>
        </p:nvSpPr>
        <p:spPr>
          <a:xfrm>
            <a:off x="628650" y="4939903"/>
            <a:ext cx="1571932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788" dirty="0"/>
          </a:p>
        </p:txBody>
      </p:sp>
      <p:sp>
        <p:nvSpPr>
          <p:cNvPr id="72" name="Text 68"/>
          <p:cNvSpPr/>
          <p:nvPr/>
        </p:nvSpPr>
        <p:spPr>
          <a:xfrm>
            <a:off x="988768" y="5102423"/>
            <a:ext cx="43155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"type"</a:t>
            </a:r>
            <a:endParaRPr lang="en-US" sz="788" dirty="0"/>
          </a:p>
        </p:txBody>
      </p:sp>
      <p:sp>
        <p:nvSpPr>
          <p:cNvPr id="73" name="Text 69"/>
          <p:cNvSpPr/>
          <p:nvPr/>
        </p:nvSpPr>
        <p:spPr>
          <a:xfrm>
            <a:off x="1348885" y="5102423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788" dirty="0"/>
          </a:p>
        </p:txBody>
      </p:sp>
      <p:sp>
        <p:nvSpPr>
          <p:cNvPr id="74" name="Text 70"/>
          <p:cNvSpPr/>
          <p:nvPr/>
        </p:nvSpPr>
        <p:spPr>
          <a:xfrm>
            <a:off x="1468934" y="5102423"/>
            <a:ext cx="73164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"image/png"</a:t>
            </a:r>
            <a:endParaRPr lang="en-US" sz="788" dirty="0"/>
          </a:p>
        </p:txBody>
      </p:sp>
      <p:sp>
        <p:nvSpPr>
          <p:cNvPr id="75" name="Text 71"/>
          <p:cNvSpPr/>
          <p:nvPr/>
        </p:nvSpPr>
        <p:spPr>
          <a:xfrm>
            <a:off x="628650" y="5102423"/>
            <a:ext cx="1631956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788" dirty="0"/>
          </a:p>
        </p:txBody>
      </p:sp>
      <p:sp>
        <p:nvSpPr>
          <p:cNvPr id="76" name="Text 72"/>
          <p:cNvSpPr/>
          <p:nvPr/>
        </p:nvSpPr>
        <p:spPr>
          <a:xfrm>
            <a:off x="988768" y="5264944"/>
            <a:ext cx="6116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"purpose"</a:t>
            </a:r>
            <a:endParaRPr lang="en-US" sz="788" dirty="0"/>
          </a:p>
        </p:txBody>
      </p:sp>
      <p:sp>
        <p:nvSpPr>
          <p:cNvPr id="77" name="Text 73"/>
          <p:cNvSpPr/>
          <p:nvPr/>
        </p:nvSpPr>
        <p:spPr>
          <a:xfrm>
            <a:off x="1528930" y="5264944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788" dirty="0"/>
          </a:p>
        </p:txBody>
      </p:sp>
      <p:sp>
        <p:nvSpPr>
          <p:cNvPr id="78" name="Text 74"/>
          <p:cNvSpPr/>
          <p:nvPr/>
        </p:nvSpPr>
        <p:spPr>
          <a:xfrm>
            <a:off x="1648978" y="5264944"/>
            <a:ext cx="91169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"maskable any"</a:t>
            </a:r>
            <a:endParaRPr lang="en-US" sz="788" dirty="0"/>
          </a:p>
        </p:txBody>
      </p:sp>
      <p:sp>
        <p:nvSpPr>
          <p:cNvPr id="79" name="Text 75"/>
          <p:cNvSpPr/>
          <p:nvPr/>
        </p:nvSpPr>
        <p:spPr>
          <a:xfrm>
            <a:off x="628650" y="5427464"/>
            <a:ext cx="371531" cy="4393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788" dirty="0"/>
          </a:p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],</a:t>
            </a:r>
            <a:endParaRPr lang="en-US" sz="788" dirty="0"/>
          </a:p>
        </p:txBody>
      </p:sp>
      <p:sp>
        <p:nvSpPr>
          <p:cNvPr id="80" name="Text 76"/>
          <p:cNvSpPr/>
          <p:nvPr/>
        </p:nvSpPr>
        <p:spPr>
          <a:xfrm>
            <a:off x="748698" y="5752505"/>
            <a:ext cx="73164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"shortcuts"</a:t>
            </a:r>
            <a:endParaRPr lang="en-US" sz="788" dirty="0"/>
          </a:p>
        </p:txBody>
      </p:sp>
      <p:sp>
        <p:nvSpPr>
          <p:cNvPr id="81" name="Text 77"/>
          <p:cNvSpPr/>
          <p:nvPr/>
        </p:nvSpPr>
        <p:spPr>
          <a:xfrm>
            <a:off x="628650" y="5752505"/>
            <a:ext cx="1031770" cy="4393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 [</a:t>
            </a:r>
            <a:endParaRPr lang="en-US" sz="788" dirty="0"/>
          </a:p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{</a:t>
            </a:r>
            <a:endParaRPr lang="en-US" sz="788" dirty="0"/>
          </a:p>
        </p:txBody>
      </p:sp>
      <p:sp>
        <p:nvSpPr>
          <p:cNvPr id="82" name="Text 78"/>
          <p:cNvSpPr/>
          <p:nvPr/>
        </p:nvSpPr>
        <p:spPr>
          <a:xfrm>
            <a:off x="988768" y="6077545"/>
            <a:ext cx="43155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"name"</a:t>
            </a:r>
            <a:endParaRPr lang="en-US" sz="788" dirty="0"/>
          </a:p>
        </p:txBody>
      </p:sp>
      <p:sp>
        <p:nvSpPr>
          <p:cNvPr id="83" name="Text 79"/>
          <p:cNvSpPr/>
          <p:nvPr/>
        </p:nvSpPr>
        <p:spPr>
          <a:xfrm>
            <a:off x="1348885" y="6077545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788" dirty="0"/>
          </a:p>
        </p:txBody>
      </p:sp>
      <p:sp>
        <p:nvSpPr>
          <p:cNvPr id="84" name="Text 80"/>
          <p:cNvSpPr/>
          <p:nvPr/>
        </p:nvSpPr>
        <p:spPr>
          <a:xfrm>
            <a:off x="1468934" y="6077545"/>
            <a:ext cx="91169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"Browse Games"</a:t>
            </a:r>
            <a:endParaRPr lang="en-US" sz="788" dirty="0"/>
          </a:p>
        </p:txBody>
      </p:sp>
      <p:sp>
        <p:nvSpPr>
          <p:cNvPr id="85" name="Text 81"/>
          <p:cNvSpPr/>
          <p:nvPr/>
        </p:nvSpPr>
        <p:spPr>
          <a:xfrm>
            <a:off x="628650" y="6077545"/>
            <a:ext cx="1812001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788" dirty="0"/>
          </a:p>
        </p:txBody>
      </p:sp>
      <p:sp>
        <p:nvSpPr>
          <p:cNvPr id="86" name="Text 82"/>
          <p:cNvSpPr/>
          <p:nvPr/>
        </p:nvSpPr>
        <p:spPr>
          <a:xfrm>
            <a:off x="988768" y="6240066"/>
            <a:ext cx="3715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"url"</a:t>
            </a:r>
            <a:endParaRPr lang="en-US" sz="788" dirty="0"/>
          </a:p>
        </p:txBody>
      </p:sp>
      <p:sp>
        <p:nvSpPr>
          <p:cNvPr id="87" name="Text 83"/>
          <p:cNvSpPr/>
          <p:nvPr/>
        </p:nvSpPr>
        <p:spPr>
          <a:xfrm>
            <a:off x="1288861" y="6240066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:</a:t>
            </a:r>
            <a:endParaRPr lang="en-US" sz="788" dirty="0"/>
          </a:p>
        </p:txBody>
      </p:sp>
      <p:sp>
        <p:nvSpPr>
          <p:cNvPr id="88" name="Text 84"/>
          <p:cNvSpPr/>
          <p:nvPr/>
        </p:nvSpPr>
        <p:spPr>
          <a:xfrm>
            <a:off x="1408909" y="6240066"/>
            <a:ext cx="6116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"/#games"</a:t>
            </a:r>
            <a:endParaRPr lang="en-US" sz="788" dirty="0"/>
          </a:p>
        </p:txBody>
      </p:sp>
      <p:sp>
        <p:nvSpPr>
          <p:cNvPr id="89" name="Text 85"/>
          <p:cNvSpPr/>
          <p:nvPr/>
        </p:nvSpPr>
        <p:spPr>
          <a:xfrm>
            <a:off x="628650" y="6402586"/>
            <a:ext cx="1271783" cy="60186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788" dirty="0"/>
          </a:p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]</a:t>
            </a:r>
            <a:endParaRPr lang="en-US" sz="788" dirty="0"/>
          </a:p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788" dirty="0"/>
          </a:p>
        </p:txBody>
      </p:sp>
      <p:pic>
        <p:nvPicPr>
          <p:cNvPr id="9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94" y="5236369"/>
            <a:ext cx="178594" cy="142875"/>
          </a:xfrm>
          <a:prstGeom prst="rect">
            <a:avLst/>
          </a:prstGeom>
        </p:spPr>
      </p:pic>
      <p:sp>
        <p:nvSpPr>
          <p:cNvPr id="91" name="Text 86"/>
          <p:cNvSpPr/>
          <p:nvPr/>
        </p:nvSpPr>
        <p:spPr>
          <a:xfrm>
            <a:off x="900113" y="5207794"/>
            <a:ext cx="13386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HTML Integration</a:t>
            </a:r>
            <a:endParaRPr lang="en-US" sz="1125" dirty="0"/>
          </a:p>
        </p:txBody>
      </p:sp>
      <p:sp>
        <p:nvSpPr>
          <p:cNvPr id="92" name="Shape 87"/>
          <p:cNvSpPr/>
          <p:nvPr/>
        </p:nvSpPr>
        <p:spPr>
          <a:xfrm>
            <a:off x="635794" y="5493544"/>
            <a:ext cx="3586163" cy="671513"/>
          </a:xfrm>
          <a:prstGeom prst="rect">
            <a:avLst/>
          </a:prstGeom>
          <a:solidFill>
            <a:srgbClr val="000000">
              <a:alpha val="4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sp>
        <p:nvSpPr>
          <p:cNvPr id="93" name="Text 88"/>
          <p:cNvSpPr/>
          <p:nvPr/>
        </p:nvSpPr>
        <p:spPr>
          <a:xfrm>
            <a:off x="750094" y="5622131"/>
            <a:ext cx="3715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&lt;link</a:t>
            </a:r>
            <a:endParaRPr lang="en-US" sz="788" dirty="0"/>
          </a:p>
        </p:txBody>
      </p:sp>
      <p:sp>
        <p:nvSpPr>
          <p:cNvPr id="94" name="Text 89"/>
          <p:cNvSpPr/>
          <p:nvPr/>
        </p:nvSpPr>
        <p:spPr>
          <a:xfrm>
            <a:off x="1110211" y="5622131"/>
            <a:ext cx="25151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rel</a:t>
            </a:r>
            <a:endParaRPr lang="en-US" sz="788" dirty="0"/>
          </a:p>
        </p:txBody>
      </p:sp>
      <p:sp>
        <p:nvSpPr>
          <p:cNvPr id="95" name="Text 90"/>
          <p:cNvSpPr/>
          <p:nvPr/>
        </p:nvSpPr>
        <p:spPr>
          <a:xfrm>
            <a:off x="1290284" y="5622131"/>
            <a:ext cx="1314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788" dirty="0"/>
          </a:p>
        </p:txBody>
      </p:sp>
      <p:sp>
        <p:nvSpPr>
          <p:cNvPr id="96" name="Text 91"/>
          <p:cNvSpPr/>
          <p:nvPr/>
        </p:nvSpPr>
        <p:spPr>
          <a:xfrm>
            <a:off x="1350308" y="5622131"/>
            <a:ext cx="67162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"manifest"</a:t>
            </a:r>
            <a:endParaRPr lang="en-US" sz="788" dirty="0"/>
          </a:p>
        </p:txBody>
      </p:sp>
      <p:sp>
        <p:nvSpPr>
          <p:cNvPr id="97" name="Text 92"/>
          <p:cNvSpPr/>
          <p:nvPr/>
        </p:nvSpPr>
        <p:spPr>
          <a:xfrm>
            <a:off x="2010519" y="5622131"/>
            <a:ext cx="31150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href</a:t>
            </a:r>
            <a:endParaRPr lang="en-US" sz="788" dirty="0"/>
          </a:p>
        </p:txBody>
      </p:sp>
      <p:sp>
        <p:nvSpPr>
          <p:cNvPr id="98" name="Text 93"/>
          <p:cNvSpPr/>
          <p:nvPr/>
        </p:nvSpPr>
        <p:spPr>
          <a:xfrm>
            <a:off x="2250588" y="5622131"/>
            <a:ext cx="1314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788" dirty="0"/>
          </a:p>
        </p:txBody>
      </p:sp>
      <p:sp>
        <p:nvSpPr>
          <p:cNvPr id="99" name="Text 94"/>
          <p:cNvSpPr/>
          <p:nvPr/>
        </p:nvSpPr>
        <p:spPr>
          <a:xfrm>
            <a:off x="2310612" y="5622131"/>
            <a:ext cx="97171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"manifest.json"</a:t>
            </a:r>
            <a:endParaRPr lang="en-US" sz="788" dirty="0"/>
          </a:p>
        </p:txBody>
      </p:sp>
      <p:sp>
        <p:nvSpPr>
          <p:cNvPr id="100" name="Text 95"/>
          <p:cNvSpPr/>
          <p:nvPr/>
        </p:nvSpPr>
        <p:spPr>
          <a:xfrm>
            <a:off x="3210892" y="5622131"/>
            <a:ext cx="1314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&gt;</a:t>
            </a:r>
            <a:endParaRPr lang="en-US" sz="788" dirty="0"/>
          </a:p>
        </p:txBody>
      </p:sp>
      <p:sp>
        <p:nvSpPr>
          <p:cNvPr id="101" name="Text 96"/>
          <p:cNvSpPr/>
          <p:nvPr/>
        </p:nvSpPr>
        <p:spPr>
          <a:xfrm>
            <a:off x="750094" y="5765006"/>
            <a:ext cx="3715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&lt;meta</a:t>
            </a:r>
            <a:endParaRPr lang="en-US" sz="788" dirty="0"/>
          </a:p>
        </p:txBody>
      </p:sp>
      <p:sp>
        <p:nvSpPr>
          <p:cNvPr id="102" name="Text 97"/>
          <p:cNvSpPr/>
          <p:nvPr/>
        </p:nvSpPr>
        <p:spPr>
          <a:xfrm>
            <a:off x="1110211" y="5765006"/>
            <a:ext cx="31150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name</a:t>
            </a:r>
            <a:endParaRPr lang="en-US" sz="788" dirty="0"/>
          </a:p>
        </p:txBody>
      </p:sp>
      <p:sp>
        <p:nvSpPr>
          <p:cNvPr id="103" name="Text 98"/>
          <p:cNvSpPr/>
          <p:nvPr/>
        </p:nvSpPr>
        <p:spPr>
          <a:xfrm>
            <a:off x="1350280" y="5765006"/>
            <a:ext cx="1314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788" dirty="0"/>
          </a:p>
        </p:txBody>
      </p:sp>
      <p:sp>
        <p:nvSpPr>
          <p:cNvPr id="104" name="Text 99"/>
          <p:cNvSpPr/>
          <p:nvPr/>
        </p:nvSpPr>
        <p:spPr>
          <a:xfrm>
            <a:off x="1410305" y="5765006"/>
            <a:ext cx="85166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"theme-color"</a:t>
            </a:r>
            <a:endParaRPr lang="en-US" sz="788" dirty="0"/>
          </a:p>
        </p:txBody>
      </p:sp>
      <p:sp>
        <p:nvSpPr>
          <p:cNvPr id="105" name="Text 100"/>
          <p:cNvSpPr/>
          <p:nvPr/>
        </p:nvSpPr>
        <p:spPr>
          <a:xfrm>
            <a:off x="2250560" y="5765006"/>
            <a:ext cx="49157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content</a:t>
            </a:r>
            <a:endParaRPr lang="en-US" sz="788" dirty="0"/>
          </a:p>
        </p:txBody>
      </p:sp>
      <p:sp>
        <p:nvSpPr>
          <p:cNvPr id="106" name="Text 101"/>
          <p:cNvSpPr/>
          <p:nvPr/>
        </p:nvSpPr>
        <p:spPr>
          <a:xfrm>
            <a:off x="2670702" y="5765006"/>
            <a:ext cx="1314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</a:t>
            </a:r>
            <a:endParaRPr lang="en-US" sz="788" dirty="0"/>
          </a:p>
        </p:txBody>
      </p:sp>
      <p:sp>
        <p:nvSpPr>
          <p:cNvPr id="107" name="Text 102"/>
          <p:cNvSpPr/>
          <p:nvPr/>
        </p:nvSpPr>
        <p:spPr>
          <a:xfrm>
            <a:off x="2730726" y="5765006"/>
            <a:ext cx="6116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"#667eea"</a:t>
            </a:r>
            <a:endParaRPr lang="en-US" sz="788" dirty="0"/>
          </a:p>
        </p:txBody>
      </p:sp>
      <p:sp>
        <p:nvSpPr>
          <p:cNvPr id="108" name="Text 103"/>
          <p:cNvSpPr/>
          <p:nvPr/>
        </p:nvSpPr>
        <p:spPr>
          <a:xfrm>
            <a:off x="3270889" y="5765006"/>
            <a:ext cx="1314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&gt;</a:t>
            </a:r>
            <a:endParaRPr lang="en-US" sz="788" dirty="0"/>
          </a:p>
        </p:txBody>
      </p:sp>
      <p:sp>
        <p:nvSpPr>
          <p:cNvPr id="109" name="Text 104"/>
          <p:cNvSpPr/>
          <p:nvPr/>
        </p:nvSpPr>
        <p:spPr>
          <a:xfrm>
            <a:off x="4743450" y="1343025"/>
            <a:ext cx="40147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Manifest Features</a:t>
            </a:r>
            <a:endParaRPr lang="en-US" sz="1350" dirty="0"/>
          </a:p>
        </p:txBody>
      </p:sp>
      <p:sp>
        <p:nvSpPr>
          <p:cNvPr id="110" name="Shape 105"/>
          <p:cNvSpPr/>
          <p:nvPr/>
        </p:nvSpPr>
        <p:spPr>
          <a:xfrm>
            <a:off x="4743450" y="1743075"/>
            <a:ext cx="3943350" cy="1271588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pic>
        <p:nvPicPr>
          <p:cNvPr id="1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900" y="2000250"/>
            <a:ext cx="128588" cy="171450"/>
          </a:xfrm>
          <a:prstGeom prst="rect">
            <a:avLst/>
          </a:prstGeom>
        </p:spPr>
      </p:pic>
      <p:sp>
        <p:nvSpPr>
          <p:cNvPr id="112" name="Text 106"/>
          <p:cNvSpPr/>
          <p:nvPr/>
        </p:nvSpPr>
        <p:spPr>
          <a:xfrm>
            <a:off x="5157788" y="1914525"/>
            <a:ext cx="16205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 Identity</a:t>
            </a:r>
            <a:endParaRPr lang="en-US" sz="1013" dirty="0"/>
          </a:p>
        </p:txBody>
      </p:sp>
      <p:sp>
        <p:nvSpPr>
          <p:cNvPr id="113" name="Text 107"/>
          <p:cNvSpPr/>
          <p:nvPr/>
        </p:nvSpPr>
        <p:spPr>
          <a:xfrm>
            <a:off x="5157788" y="2114550"/>
            <a:ext cx="16205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Name, description, and branding</a:t>
            </a:r>
            <a:endParaRPr lang="en-US" sz="788" dirty="0"/>
          </a:p>
        </p:txBody>
      </p:sp>
      <p:sp>
        <p:nvSpPr>
          <p:cNvPr id="114" name="Text 108"/>
          <p:cNvSpPr/>
          <p:nvPr/>
        </p:nvSpPr>
        <p:spPr>
          <a:xfrm>
            <a:off x="5200650" y="2343150"/>
            <a:ext cx="33861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Full name and short name</a:t>
            </a:r>
            <a:endParaRPr lang="en-US" sz="788" dirty="0"/>
          </a:p>
        </p:txBody>
      </p:sp>
      <p:sp>
        <p:nvSpPr>
          <p:cNvPr id="115" name="Text 109"/>
          <p:cNvSpPr/>
          <p:nvPr/>
        </p:nvSpPr>
        <p:spPr>
          <a:xfrm>
            <a:off x="5200650" y="2514600"/>
            <a:ext cx="33861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App description and category</a:t>
            </a:r>
            <a:endParaRPr lang="en-US" sz="788" dirty="0"/>
          </a:p>
        </p:txBody>
      </p:sp>
      <p:sp>
        <p:nvSpPr>
          <p:cNvPr id="116" name="Text 110"/>
          <p:cNvSpPr/>
          <p:nvPr/>
        </p:nvSpPr>
        <p:spPr>
          <a:xfrm>
            <a:off x="5200650" y="2686050"/>
            <a:ext cx="33861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Theme and background colors</a:t>
            </a:r>
            <a:endParaRPr lang="en-US" sz="788" dirty="0"/>
          </a:p>
        </p:txBody>
      </p:sp>
      <p:sp>
        <p:nvSpPr>
          <p:cNvPr id="117" name="Shape 111"/>
          <p:cNvSpPr/>
          <p:nvPr/>
        </p:nvSpPr>
        <p:spPr>
          <a:xfrm>
            <a:off x="4743450" y="3114675"/>
            <a:ext cx="3943350" cy="1271588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pic>
        <p:nvPicPr>
          <p:cNvPr id="1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900" y="3371850"/>
            <a:ext cx="171450" cy="171450"/>
          </a:xfrm>
          <a:prstGeom prst="rect">
            <a:avLst/>
          </a:prstGeom>
        </p:spPr>
      </p:pic>
      <p:sp>
        <p:nvSpPr>
          <p:cNvPr id="119" name="Text 112"/>
          <p:cNvSpPr/>
          <p:nvPr/>
        </p:nvSpPr>
        <p:spPr>
          <a:xfrm>
            <a:off x="5200650" y="3286125"/>
            <a:ext cx="18354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Icons &amp; Display</a:t>
            </a:r>
            <a:endParaRPr lang="en-US" sz="1013" dirty="0"/>
          </a:p>
        </p:txBody>
      </p:sp>
      <p:sp>
        <p:nvSpPr>
          <p:cNvPr id="120" name="Text 113"/>
          <p:cNvSpPr/>
          <p:nvPr/>
        </p:nvSpPr>
        <p:spPr>
          <a:xfrm>
            <a:off x="5200650" y="3486150"/>
            <a:ext cx="18354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Multiple icon sizes and display modes</a:t>
            </a:r>
            <a:endParaRPr lang="en-US" sz="788" dirty="0"/>
          </a:p>
        </p:txBody>
      </p:sp>
      <p:sp>
        <p:nvSpPr>
          <p:cNvPr id="121" name="Text 114"/>
          <p:cNvSpPr/>
          <p:nvPr/>
        </p:nvSpPr>
        <p:spPr>
          <a:xfrm>
            <a:off x="5200650" y="3714750"/>
            <a:ext cx="33861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Icons: 72px to 512px</a:t>
            </a:r>
            <a:endParaRPr lang="en-US" sz="788" dirty="0"/>
          </a:p>
        </p:txBody>
      </p:sp>
      <p:sp>
        <p:nvSpPr>
          <p:cNvPr id="122" name="Text 115"/>
          <p:cNvSpPr/>
          <p:nvPr/>
        </p:nvSpPr>
        <p:spPr>
          <a:xfrm>
            <a:off x="5200650" y="3886200"/>
            <a:ext cx="33861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Standalone display mode</a:t>
            </a:r>
            <a:endParaRPr lang="en-US" sz="788" dirty="0"/>
          </a:p>
        </p:txBody>
      </p:sp>
      <p:sp>
        <p:nvSpPr>
          <p:cNvPr id="123" name="Text 116"/>
          <p:cNvSpPr/>
          <p:nvPr/>
        </p:nvSpPr>
        <p:spPr>
          <a:xfrm>
            <a:off x="5200650" y="4057650"/>
            <a:ext cx="33861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Portrait orientation</a:t>
            </a:r>
            <a:endParaRPr lang="en-US" sz="788" dirty="0"/>
          </a:p>
        </p:txBody>
      </p:sp>
      <p:sp>
        <p:nvSpPr>
          <p:cNvPr id="124" name="Shape 117"/>
          <p:cNvSpPr/>
          <p:nvPr/>
        </p:nvSpPr>
        <p:spPr>
          <a:xfrm>
            <a:off x="4743450" y="4486275"/>
            <a:ext cx="3943350" cy="1271588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pic>
        <p:nvPicPr>
          <p:cNvPr id="1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4900" y="4743450"/>
            <a:ext cx="171450" cy="171450"/>
          </a:xfrm>
          <a:prstGeom prst="rect">
            <a:avLst/>
          </a:prstGeom>
        </p:spPr>
      </p:pic>
      <p:sp>
        <p:nvSpPr>
          <p:cNvPr id="126" name="Text 118"/>
          <p:cNvSpPr/>
          <p:nvPr/>
        </p:nvSpPr>
        <p:spPr>
          <a:xfrm>
            <a:off x="5200650" y="4657725"/>
            <a:ext cx="13908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 Shortcuts</a:t>
            </a:r>
            <a:endParaRPr lang="en-US" sz="1013" dirty="0"/>
          </a:p>
        </p:txBody>
      </p:sp>
      <p:sp>
        <p:nvSpPr>
          <p:cNvPr id="127" name="Text 119"/>
          <p:cNvSpPr/>
          <p:nvPr/>
        </p:nvSpPr>
        <p:spPr>
          <a:xfrm>
            <a:off x="5200650" y="4857750"/>
            <a:ext cx="13908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Quick access to key features</a:t>
            </a:r>
            <a:endParaRPr lang="en-US" sz="788" dirty="0"/>
          </a:p>
        </p:txBody>
      </p:sp>
      <p:sp>
        <p:nvSpPr>
          <p:cNvPr id="128" name="Text 120"/>
          <p:cNvSpPr/>
          <p:nvPr/>
        </p:nvSpPr>
        <p:spPr>
          <a:xfrm>
            <a:off x="5200650" y="5086350"/>
            <a:ext cx="33861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Browse Games shortcut</a:t>
            </a:r>
            <a:endParaRPr lang="en-US" sz="788" dirty="0"/>
          </a:p>
        </p:txBody>
      </p:sp>
      <p:sp>
        <p:nvSpPr>
          <p:cNvPr id="129" name="Text 121"/>
          <p:cNvSpPr/>
          <p:nvPr/>
        </p:nvSpPr>
        <p:spPr>
          <a:xfrm>
            <a:off x="5200650" y="5257800"/>
            <a:ext cx="33861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Latest News shortcut</a:t>
            </a:r>
            <a:endParaRPr lang="en-US" sz="788" dirty="0"/>
          </a:p>
        </p:txBody>
      </p:sp>
      <p:sp>
        <p:nvSpPr>
          <p:cNvPr id="130" name="Text 122"/>
          <p:cNvSpPr/>
          <p:nvPr/>
        </p:nvSpPr>
        <p:spPr>
          <a:xfrm>
            <a:off x="5200650" y="5429250"/>
            <a:ext cx="33861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Direct deep linking</a:t>
            </a:r>
            <a:endParaRPr lang="en-US" sz="788" dirty="0"/>
          </a:p>
        </p:txBody>
      </p:sp>
      <p:sp>
        <p:nvSpPr>
          <p:cNvPr id="131" name="Shape 123"/>
          <p:cNvSpPr/>
          <p:nvPr/>
        </p:nvSpPr>
        <p:spPr>
          <a:xfrm>
            <a:off x="4743450" y="5857875"/>
            <a:ext cx="3943350" cy="1271588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pic>
        <p:nvPicPr>
          <p:cNvPr id="1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4900" y="6115050"/>
            <a:ext cx="171450" cy="171450"/>
          </a:xfrm>
          <a:prstGeom prst="rect">
            <a:avLst/>
          </a:prstGeom>
        </p:spPr>
      </p:pic>
      <p:sp>
        <p:nvSpPr>
          <p:cNvPr id="133" name="Text 124"/>
          <p:cNvSpPr/>
          <p:nvPr/>
        </p:nvSpPr>
        <p:spPr>
          <a:xfrm>
            <a:off x="5200650" y="6029325"/>
            <a:ext cx="14991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Installation</a:t>
            </a:r>
            <a:endParaRPr lang="en-US" sz="1013" dirty="0"/>
          </a:p>
        </p:txBody>
      </p:sp>
      <p:sp>
        <p:nvSpPr>
          <p:cNvPr id="134" name="Text 125"/>
          <p:cNvSpPr/>
          <p:nvPr/>
        </p:nvSpPr>
        <p:spPr>
          <a:xfrm>
            <a:off x="5200650" y="6229350"/>
            <a:ext cx="14991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Enables "Add to Home Screen"</a:t>
            </a:r>
            <a:endParaRPr lang="en-US" sz="788" dirty="0"/>
          </a:p>
        </p:txBody>
      </p:sp>
      <p:sp>
        <p:nvSpPr>
          <p:cNvPr id="135" name="Text 126"/>
          <p:cNvSpPr/>
          <p:nvPr/>
        </p:nvSpPr>
        <p:spPr>
          <a:xfrm>
            <a:off x="5200650" y="6457950"/>
            <a:ext cx="33861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Browser install prompts</a:t>
            </a:r>
            <a:endParaRPr lang="en-US" sz="788" dirty="0"/>
          </a:p>
        </p:txBody>
      </p:sp>
      <p:sp>
        <p:nvSpPr>
          <p:cNvPr id="136" name="Text 127"/>
          <p:cNvSpPr/>
          <p:nvPr/>
        </p:nvSpPr>
        <p:spPr>
          <a:xfrm>
            <a:off x="5200650" y="6629400"/>
            <a:ext cx="33861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Home screen icon</a:t>
            </a:r>
            <a:endParaRPr lang="en-US" sz="788" dirty="0"/>
          </a:p>
        </p:txBody>
      </p:sp>
      <p:sp>
        <p:nvSpPr>
          <p:cNvPr id="137" name="Text 128"/>
          <p:cNvSpPr/>
          <p:nvPr/>
        </p:nvSpPr>
        <p:spPr>
          <a:xfrm>
            <a:off x="5200650" y="6800850"/>
            <a:ext cx="33861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 Splash screen generation</a:t>
            </a:r>
            <a:endParaRPr lang="en-US" sz="788" dirty="0"/>
          </a:p>
        </p:txBody>
      </p:sp>
      <p:sp>
        <p:nvSpPr>
          <p:cNvPr id="138" name="Shape 129"/>
          <p:cNvSpPr/>
          <p:nvPr/>
        </p:nvSpPr>
        <p:spPr>
          <a:xfrm>
            <a:off x="578644" y="7465219"/>
            <a:ext cx="1685925" cy="228600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39" name="Text 130"/>
          <p:cNvSpPr/>
          <p:nvPr/>
        </p:nvSpPr>
        <p:spPr>
          <a:xfrm>
            <a:off x="578644" y="7465219"/>
            <a:ext cx="1757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</a:t>
            </a:r>
            <a:endParaRPr lang="en-US" sz="1350" dirty="0"/>
          </a:p>
        </p:txBody>
      </p:sp>
      <p:sp>
        <p:nvSpPr>
          <p:cNvPr id="140" name="Text 131"/>
          <p:cNvSpPr/>
          <p:nvPr/>
        </p:nvSpPr>
        <p:spPr>
          <a:xfrm>
            <a:off x="578644" y="7693819"/>
            <a:ext cx="17573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Icon Sizes</a:t>
            </a:r>
            <a:endParaRPr lang="en-US" sz="788" dirty="0"/>
          </a:p>
        </p:txBody>
      </p:sp>
      <p:sp>
        <p:nvSpPr>
          <p:cNvPr id="141" name="Shape 132"/>
          <p:cNvSpPr/>
          <p:nvPr/>
        </p:nvSpPr>
        <p:spPr>
          <a:xfrm>
            <a:off x="2678906" y="7465219"/>
            <a:ext cx="1685925" cy="228600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42" name="Text 133"/>
          <p:cNvSpPr/>
          <p:nvPr/>
        </p:nvSpPr>
        <p:spPr>
          <a:xfrm>
            <a:off x="2678906" y="7465219"/>
            <a:ext cx="1757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350" dirty="0"/>
          </a:p>
        </p:txBody>
      </p:sp>
      <p:sp>
        <p:nvSpPr>
          <p:cNvPr id="143" name="Text 134"/>
          <p:cNvSpPr/>
          <p:nvPr/>
        </p:nvSpPr>
        <p:spPr>
          <a:xfrm>
            <a:off x="2678906" y="7693819"/>
            <a:ext cx="17573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 Shortcuts</a:t>
            </a:r>
            <a:endParaRPr lang="en-US" sz="788" dirty="0"/>
          </a:p>
        </p:txBody>
      </p:sp>
      <p:sp>
        <p:nvSpPr>
          <p:cNvPr id="144" name="Shape 135"/>
          <p:cNvSpPr/>
          <p:nvPr/>
        </p:nvSpPr>
        <p:spPr>
          <a:xfrm>
            <a:off x="4779169" y="7465219"/>
            <a:ext cx="1685925" cy="228600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45" name="Text 136"/>
          <p:cNvSpPr/>
          <p:nvPr/>
        </p:nvSpPr>
        <p:spPr>
          <a:xfrm>
            <a:off x="4779169" y="7465219"/>
            <a:ext cx="1757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100%</a:t>
            </a:r>
            <a:endParaRPr lang="en-US" sz="1350" dirty="0"/>
          </a:p>
        </p:txBody>
      </p:sp>
      <p:sp>
        <p:nvSpPr>
          <p:cNvPr id="146" name="Text 137"/>
          <p:cNvSpPr/>
          <p:nvPr/>
        </p:nvSpPr>
        <p:spPr>
          <a:xfrm>
            <a:off x="4779169" y="7693819"/>
            <a:ext cx="17573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PWA Compliant</a:t>
            </a:r>
            <a:endParaRPr lang="en-US" sz="788" dirty="0"/>
          </a:p>
        </p:txBody>
      </p:sp>
      <p:sp>
        <p:nvSpPr>
          <p:cNvPr id="147" name="Shape 138"/>
          <p:cNvSpPr/>
          <p:nvPr/>
        </p:nvSpPr>
        <p:spPr>
          <a:xfrm>
            <a:off x="6879431" y="7465219"/>
            <a:ext cx="1685925" cy="228600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48" name="Text 139"/>
          <p:cNvSpPr/>
          <p:nvPr/>
        </p:nvSpPr>
        <p:spPr>
          <a:xfrm>
            <a:off x="6879431" y="7465219"/>
            <a:ext cx="1757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</a:t>
            </a:r>
            <a:endParaRPr lang="en-US" sz="1350" dirty="0"/>
          </a:p>
        </p:txBody>
      </p:sp>
      <p:sp>
        <p:nvSpPr>
          <p:cNvPr id="149" name="Text 140"/>
          <p:cNvSpPr/>
          <p:nvPr/>
        </p:nvSpPr>
        <p:spPr>
          <a:xfrm>
            <a:off x="6879431" y="7693819"/>
            <a:ext cx="17573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Installable</a:t>
            </a:r>
            <a:endParaRPr lang="en-US" sz="78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084064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35134" y="394692"/>
            <a:ext cx="2578615" cy="466130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4" name="Text 1"/>
          <p:cNvSpPr/>
          <p:nvPr/>
        </p:nvSpPr>
        <p:spPr>
          <a:xfrm>
            <a:off x="1835134" y="394692"/>
            <a:ext cx="2650052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Service Worker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413749" y="394692"/>
            <a:ext cx="2966554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Implementation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8301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backbone of PWA offline functionality and performance</a:t>
            </a:r>
            <a:endParaRPr lang="en-US" sz="1125" dirty="0"/>
          </a:p>
        </p:txBody>
      </p:sp>
      <p:sp>
        <p:nvSpPr>
          <p:cNvPr id="7" name="Shape 4"/>
          <p:cNvSpPr/>
          <p:nvPr/>
        </p:nvSpPr>
        <p:spPr>
          <a:xfrm>
            <a:off x="457200" y="1343025"/>
            <a:ext cx="3943350" cy="2343150"/>
          </a:xfrm>
          <a:prstGeom prst="rect">
            <a:avLst/>
          </a:prstGeom>
          <a:solidFill>
            <a:srgbClr val="000000">
              <a:alpha val="30000"/>
            </a:srgbClr>
          </a:solidFill>
          <a:ln w="198">
            <a:solidFill>
              <a:srgbClr val="667EEA">
                <a:alpha val="3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8650" y="1514475"/>
            <a:ext cx="36718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Service Worker Lifecycle</a:t>
            </a:r>
            <a:endParaRPr lang="en-US" sz="1125" dirty="0"/>
          </a:p>
        </p:txBody>
      </p:sp>
      <p:sp>
        <p:nvSpPr>
          <p:cNvPr id="9" name="Shape 6"/>
          <p:cNvSpPr/>
          <p:nvPr/>
        </p:nvSpPr>
        <p:spPr>
          <a:xfrm>
            <a:off x="628650" y="1928813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714319" y="1971675"/>
            <a:ext cx="12867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788" dirty="0"/>
          </a:p>
        </p:txBody>
      </p:sp>
      <p:sp>
        <p:nvSpPr>
          <p:cNvPr id="11" name="Text 8"/>
          <p:cNvSpPr/>
          <p:nvPr/>
        </p:nvSpPr>
        <p:spPr>
          <a:xfrm>
            <a:off x="971550" y="1885950"/>
            <a:ext cx="95137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Install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71550" y="2057400"/>
            <a:ext cx="95137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Cache static assets</a:t>
            </a:r>
            <a:endParaRPr lang="en-US" sz="788" dirty="0"/>
          </a:p>
        </p:txBody>
      </p:sp>
      <p:sp>
        <p:nvSpPr>
          <p:cNvPr id="13" name="Shape 10"/>
          <p:cNvSpPr/>
          <p:nvPr/>
        </p:nvSpPr>
        <p:spPr>
          <a:xfrm>
            <a:off x="628650" y="2357438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714319" y="2400300"/>
            <a:ext cx="12867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788" dirty="0"/>
          </a:p>
        </p:txBody>
      </p:sp>
      <p:sp>
        <p:nvSpPr>
          <p:cNvPr id="15" name="Text 12"/>
          <p:cNvSpPr/>
          <p:nvPr/>
        </p:nvSpPr>
        <p:spPr>
          <a:xfrm>
            <a:off x="971550" y="2314575"/>
            <a:ext cx="85284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Activate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71550" y="2486025"/>
            <a:ext cx="85284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Clean old caches</a:t>
            </a:r>
            <a:endParaRPr lang="en-US" sz="788" dirty="0"/>
          </a:p>
        </p:txBody>
      </p:sp>
      <p:sp>
        <p:nvSpPr>
          <p:cNvPr id="17" name="Shape 14"/>
          <p:cNvSpPr/>
          <p:nvPr/>
        </p:nvSpPr>
        <p:spPr>
          <a:xfrm>
            <a:off x="628650" y="2786063"/>
            <a:ext cx="228600" cy="2286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5"/>
          <p:cNvSpPr/>
          <p:nvPr/>
        </p:nvSpPr>
        <p:spPr>
          <a:xfrm>
            <a:off x="714319" y="2828925"/>
            <a:ext cx="12867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788" dirty="0"/>
          </a:p>
        </p:txBody>
      </p:sp>
      <p:sp>
        <p:nvSpPr>
          <p:cNvPr id="19" name="Text 16"/>
          <p:cNvSpPr/>
          <p:nvPr/>
        </p:nvSpPr>
        <p:spPr>
          <a:xfrm>
            <a:off x="971550" y="2743200"/>
            <a:ext cx="13485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Fetch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71550" y="2914650"/>
            <a:ext cx="13485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Intercept network requests</a:t>
            </a:r>
            <a:endParaRPr lang="en-US" sz="788" dirty="0"/>
          </a:p>
        </p:txBody>
      </p:sp>
      <p:sp>
        <p:nvSpPr>
          <p:cNvPr id="21" name="Text 18"/>
          <p:cNvSpPr/>
          <p:nvPr/>
        </p:nvSpPr>
        <p:spPr>
          <a:xfrm>
            <a:off x="714319" y="3257550"/>
            <a:ext cx="12867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788" dirty="0"/>
          </a:p>
        </p:txBody>
      </p:sp>
      <p:sp>
        <p:nvSpPr>
          <p:cNvPr id="22" name="Text 19"/>
          <p:cNvSpPr/>
          <p:nvPr/>
        </p:nvSpPr>
        <p:spPr>
          <a:xfrm>
            <a:off x="971550" y="3171825"/>
            <a:ext cx="99306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971550" y="3343275"/>
            <a:ext cx="99306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Sync &amp; notifications</a:t>
            </a:r>
            <a:endParaRPr lang="en-US" sz="788" dirty="0"/>
          </a:p>
        </p:txBody>
      </p:sp>
      <p:sp>
        <p:nvSpPr>
          <p:cNvPr id="24" name="Shape 21"/>
          <p:cNvSpPr/>
          <p:nvPr/>
        </p:nvSpPr>
        <p:spPr>
          <a:xfrm>
            <a:off x="457200" y="3829050"/>
            <a:ext cx="3943350" cy="2593181"/>
          </a:xfrm>
          <a:prstGeom prst="rect">
            <a:avLst/>
          </a:prstGeom>
          <a:solidFill>
            <a:srgbClr val="000000">
              <a:alpha val="4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8650" y="4000500"/>
            <a:ext cx="36718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Registration</a:t>
            </a:r>
            <a:endParaRPr lang="en-US" sz="1013" dirty="0"/>
          </a:p>
        </p:txBody>
      </p:sp>
      <p:sp>
        <p:nvSpPr>
          <p:cNvPr id="26" name="Text 23"/>
          <p:cNvSpPr/>
          <p:nvPr/>
        </p:nvSpPr>
        <p:spPr>
          <a:xfrm>
            <a:off x="628650" y="4309467"/>
            <a:ext cx="16319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A78B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Register Service Worker</a:t>
            </a:r>
            <a:endParaRPr lang="en-US" sz="788" dirty="0"/>
          </a:p>
        </p:txBody>
      </p:sp>
      <p:sp>
        <p:nvSpPr>
          <p:cNvPr id="27" name="Text 24"/>
          <p:cNvSpPr/>
          <p:nvPr/>
        </p:nvSpPr>
        <p:spPr>
          <a:xfrm>
            <a:off x="628650" y="4471988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if</a:t>
            </a:r>
            <a:endParaRPr lang="en-US" sz="788" dirty="0"/>
          </a:p>
        </p:txBody>
      </p:sp>
      <p:sp>
        <p:nvSpPr>
          <p:cNvPr id="28" name="Text 25"/>
          <p:cNvSpPr/>
          <p:nvPr/>
        </p:nvSpPr>
        <p:spPr>
          <a:xfrm>
            <a:off x="748698" y="4471988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788" dirty="0"/>
          </a:p>
        </p:txBody>
      </p:sp>
      <p:sp>
        <p:nvSpPr>
          <p:cNvPr id="29" name="Text 26"/>
          <p:cNvSpPr/>
          <p:nvPr/>
        </p:nvSpPr>
        <p:spPr>
          <a:xfrm>
            <a:off x="868747" y="4471988"/>
            <a:ext cx="97171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'serviceWorker'</a:t>
            </a:r>
            <a:endParaRPr lang="en-US" sz="788" dirty="0"/>
          </a:p>
        </p:txBody>
      </p:sp>
      <p:sp>
        <p:nvSpPr>
          <p:cNvPr id="30" name="Text 27"/>
          <p:cNvSpPr/>
          <p:nvPr/>
        </p:nvSpPr>
        <p:spPr>
          <a:xfrm>
            <a:off x="1829051" y="4471988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</a:t>
            </a:r>
            <a:endParaRPr lang="en-US" sz="788" dirty="0"/>
          </a:p>
        </p:txBody>
      </p:sp>
      <p:sp>
        <p:nvSpPr>
          <p:cNvPr id="31" name="Text 28"/>
          <p:cNvSpPr/>
          <p:nvPr/>
        </p:nvSpPr>
        <p:spPr>
          <a:xfrm>
            <a:off x="2009124" y="4471988"/>
            <a:ext cx="6116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navigator</a:t>
            </a:r>
            <a:endParaRPr lang="en-US" sz="788" dirty="0"/>
          </a:p>
        </p:txBody>
      </p:sp>
      <p:sp>
        <p:nvSpPr>
          <p:cNvPr id="32" name="Text 29"/>
          <p:cNvSpPr/>
          <p:nvPr/>
        </p:nvSpPr>
        <p:spPr>
          <a:xfrm>
            <a:off x="628650" y="4471988"/>
            <a:ext cx="2172146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 {</a:t>
            </a:r>
            <a:endParaRPr lang="en-US" sz="788" dirty="0"/>
          </a:p>
        </p:txBody>
      </p:sp>
      <p:sp>
        <p:nvSpPr>
          <p:cNvPr id="33" name="Text 30"/>
          <p:cNvSpPr/>
          <p:nvPr/>
        </p:nvSpPr>
        <p:spPr>
          <a:xfrm>
            <a:off x="748698" y="4634508"/>
            <a:ext cx="6116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navigator</a:t>
            </a:r>
            <a:endParaRPr lang="en-US" sz="788" dirty="0"/>
          </a:p>
        </p:txBody>
      </p:sp>
      <p:sp>
        <p:nvSpPr>
          <p:cNvPr id="34" name="Text 31"/>
          <p:cNvSpPr/>
          <p:nvPr/>
        </p:nvSpPr>
        <p:spPr>
          <a:xfrm>
            <a:off x="1288861" y="4634508"/>
            <a:ext cx="1314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788" dirty="0"/>
          </a:p>
        </p:txBody>
      </p:sp>
      <p:sp>
        <p:nvSpPr>
          <p:cNvPr id="35" name="Text 32"/>
          <p:cNvSpPr/>
          <p:nvPr/>
        </p:nvSpPr>
        <p:spPr>
          <a:xfrm>
            <a:off x="1348885" y="4634508"/>
            <a:ext cx="85166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serviceWorker</a:t>
            </a:r>
            <a:endParaRPr lang="en-US" sz="788" dirty="0"/>
          </a:p>
        </p:txBody>
      </p:sp>
      <p:sp>
        <p:nvSpPr>
          <p:cNvPr id="36" name="Text 33"/>
          <p:cNvSpPr/>
          <p:nvPr/>
        </p:nvSpPr>
        <p:spPr>
          <a:xfrm>
            <a:off x="628650" y="4797028"/>
            <a:ext cx="3715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788" dirty="0"/>
          </a:p>
        </p:txBody>
      </p:sp>
      <p:sp>
        <p:nvSpPr>
          <p:cNvPr id="37" name="Text 34"/>
          <p:cNvSpPr/>
          <p:nvPr/>
        </p:nvSpPr>
        <p:spPr>
          <a:xfrm>
            <a:off x="928743" y="4797028"/>
            <a:ext cx="55157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register</a:t>
            </a:r>
            <a:endParaRPr lang="en-US" sz="788" dirty="0"/>
          </a:p>
        </p:txBody>
      </p:sp>
      <p:sp>
        <p:nvSpPr>
          <p:cNvPr id="38" name="Text 35"/>
          <p:cNvSpPr/>
          <p:nvPr/>
        </p:nvSpPr>
        <p:spPr>
          <a:xfrm>
            <a:off x="1408881" y="4797028"/>
            <a:ext cx="1314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788" dirty="0"/>
          </a:p>
        </p:txBody>
      </p:sp>
      <p:sp>
        <p:nvSpPr>
          <p:cNvPr id="39" name="Text 36"/>
          <p:cNvSpPr/>
          <p:nvPr/>
        </p:nvSpPr>
        <p:spPr>
          <a:xfrm>
            <a:off x="1468906" y="4797028"/>
            <a:ext cx="6116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'./sw.js'</a:t>
            </a:r>
            <a:endParaRPr lang="en-US" sz="788" dirty="0"/>
          </a:p>
        </p:txBody>
      </p:sp>
      <p:sp>
        <p:nvSpPr>
          <p:cNvPr id="40" name="Text 37"/>
          <p:cNvSpPr/>
          <p:nvPr/>
        </p:nvSpPr>
        <p:spPr>
          <a:xfrm>
            <a:off x="628650" y="4797028"/>
            <a:ext cx="151188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788" dirty="0"/>
          </a:p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.</a:t>
            </a:r>
            <a:endParaRPr lang="en-US" sz="788" dirty="0"/>
          </a:p>
        </p:txBody>
      </p:sp>
      <p:sp>
        <p:nvSpPr>
          <p:cNvPr id="41" name="Text 38"/>
          <p:cNvSpPr/>
          <p:nvPr/>
        </p:nvSpPr>
        <p:spPr>
          <a:xfrm>
            <a:off x="928743" y="4959548"/>
            <a:ext cx="31150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then</a:t>
            </a:r>
            <a:endParaRPr lang="en-US" sz="788" dirty="0"/>
          </a:p>
        </p:txBody>
      </p:sp>
      <p:sp>
        <p:nvSpPr>
          <p:cNvPr id="42" name="Text 39"/>
          <p:cNvSpPr/>
          <p:nvPr/>
        </p:nvSpPr>
        <p:spPr>
          <a:xfrm>
            <a:off x="1168812" y="4959548"/>
            <a:ext cx="1314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788" dirty="0"/>
          </a:p>
        </p:txBody>
      </p:sp>
      <p:sp>
        <p:nvSpPr>
          <p:cNvPr id="43" name="Text 40"/>
          <p:cNvSpPr/>
          <p:nvPr/>
        </p:nvSpPr>
        <p:spPr>
          <a:xfrm>
            <a:off x="1228837" y="4959548"/>
            <a:ext cx="79164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registration</a:t>
            </a:r>
            <a:endParaRPr lang="en-US" sz="788" dirty="0"/>
          </a:p>
        </p:txBody>
      </p:sp>
      <p:sp>
        <p:nvSpPr>
          <p:cNvPr id="44" name="Text 41"/>
          <p:cNvSpPr/>
          <p:nvPr/>
        </p:nvSpPr>
        <p:spPr>
          <a:xfrm>
            <a:off x="628650" y="4959548"/>
            <a:ext cx="1691925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=&gt; {</a:t>
            </a:r>
            <a:endParaRPr lang="en-US" sz="788" dirty="0"/>
          </a:p>
        </p:txBody>
      </p:sp>
      <p:sp>
        <p:nvSpPr>
          <p:cNvPr id="45" name="Text 42"/>
          <p:cNvSpPr/>
          <p:nvPr/>
        </p:nvSpPr>
        <p:spPr>
          <a:xfrm>
            <a:off x="988768" y="5122069"/>
            <a:ext cx="49157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console</a:t>
            </a:r>
            <a:endParaRPr lang="en-US" sz="788" dirty="0"/>
          </a:p>
        </p:txBody>
      </p:sp>
      <p:sp>
        <p:nvSpPr>
          <p:cNvPr id="46" name="Text 43"/>
          <p:cNvSpPr/>
          <p:nvPr/>
        </p:nvSpPr>
        <p:spPr>
          <a:xfrm>
            <a:off x="1408909" y="5122069"/>
            <a:ext cx="1314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788" dirty="0"/>
          </a:p>
        </p:txBody>
      </p:sp>
      <p:sp>
        <p:nvSpPr>
          <p:cNvPr id="47" name="Text 44"/>
          <p:cNvSpPr/>
          <p:nvPr/>
        </p:nvSpPr>
        <p:spPr>
          <a:xfrm>
            <a:off x="1468934" y="5122069"/>
            <a:ext cx="25151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log</a:t>
            </a:r>
            <a:endParaRPr lang="en-US" sz="788" dirty="0"/>
          </a:p>
        </p:txBody>
      </p:sp>
      <p:sp>
        <p:nvSpPr>
          <p:cNvPr id="48" name="Text 45"/>
          <p:cNvSpPr/>
          <p:nvPr/>
        </p:nvSpPr>
        <p:spPr>
          <a:xfrm>
            <a:off x="1649006" y="5122069"/>
            <a:ext cx="1314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788" dirty="0"/>
          </a:p>
        </p:txBody>
      </p:sp>
      <p:sp>
        <p:nvSpPr>
          <p:cNvPr id="49" name="Text 46"/>
          <p:cNvSpPr/>
          <p:nvPr/>
        </p:nvSpPr>
        <p:spPr>
          <a:xfrm>
            <a:off x="1709031" y="5122069"/>
            <a:ext cx="97171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'SW registered'</a:t>
            </a:r>
            <a:endParaRPr lang="en-US" sz="788" dirty="0"/>
          </a:p>
        </p:txBody>
      </p:sp>
      <p:sp>
        <p:nvSpPr>
          <p:cNvPr id="50" name="Text 47"/>
          <p:cNvSpPr/>
          <p:nvPr/>
        </p:nvSpPr>
        <p:spPr>
          <a:xfrm>
            <a:off x="628650" y="5122069"/>
            <a:ext cx="2172146" cy="439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);</a:t>
            </a:r>
            <a:endParaRPr lang="en-US" sz="788" dirty="0"/>
          </a:p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})</a:t>
            </a:r>
            <a:endParaRPr lang="en-US" sz="788" dirty="0"/>
          </a:p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.</a:t>
            </a:r>
            <a:endParaRPr lang="en-US" sz="788" dirty="0"/>
          </a:p>
        </p:txBody>
      </p:sp>
      <p:sp>
        <p:nvSpPr>
          <p:cNvPr id="51" name="Text 48"/>
          <p:cNvSpPr/>
          <p:nvPr/>
        </p:nvSpPr>
        <p:spPr>
          <a:xfrm>
            <a:off x="928743" y="5447109"/>
            <a:ext cx="3715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catch</a:t>
            </a:r>
            <a:endParaRPr lang="en-US" sz="788" dirty="0"/>
          </a:p>
        </p:txBody>
      </p:sp>
      <p:sp>
        <p:nvSpPr>
          <p:cNvPr id="52" name="Text 49"/>
          <p:cNvSpPr/>
          <p:nvPr/>
        </p:nvSpPr>
        <p:spPr>
          <a:xfrm>
            <a:off x="1228837" y="5447109"/>
            <a:ext cx="1314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788" dirty="0"/>
          </a:p>
        </p:txBody>
      </p:sp>
      <p:sp>
        <p:nvSpPr>
          <p:cNvPr id="53" name="Text 50"/>
          <p:cNvSpPr/>
          <p:nvPr/>
        </p:nvSpPr>
        <p:spPr>
          <a:xfrm>
            <a:off x="1288861" y="5447109"/>
            <a:ext cx="3715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error</a:t>
            </a:r>
            <a:endParaRPr lang="en-US" sz="788" dirty="0"/>
          </a:p>
        </p:txBody>
      </p:sp>
      <p:sp>
        <p:nvSpPr>
          <p:cNvPr id="54" name="Text 51"/>
          <p:cNvSpPr/>
          <p:nvPr/>
        </p:nvSpPr>
        <p:spPr>
          <a:xfrm>
            <a:off x="628650" y="5447109"/>
            <a:ext cx="1331835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=&gt; {</a:t>
            </a:r>
            <a:endParaRPr lang="en-US" sz="788" dirty="0"/>
          </a:p>
        </p:txBody>
      </p:sp>
      <p:sp>
        <p:nvSpPr>
          <p:cNvPr id="55" name="Text 52"/>
          <p:cNvSpPr/>
          <p:nvPr/>
        </p:nvSpPr>
        <p:spPr>
          <a:xfrm>
            <a:off x="988768" y="5609630"/>
            <a:ext cx="49157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console</a:t>
            </a:r>
            <a:endParaRPr lang="en-US" sz="788" dirty="0"/>
          </a:p>
        </p:txBody>
      </p:sp>
      <p:sp>
        <p:nvSpPr>
          <p:cNvPr id="56" name="Text 53"/>
          <p:cNvSpPr/>
          <p:nvPr/>
        </p:nvSpPr>
        <p:spPr>
          <a:xfrm>
            <a:off x="1408909" y="5609630"/>
            <a:ext cx="1314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788" dirty="0"/>
          </a:p>
        </p:txBody>
      </p:sp>
      <p:sp>
        <p:nvSpPr>
          <p:cNvPr id="57" name="Text 54"/>
          <p:cNvSpPr/>
          <p:nvPr/>
        </p:nvSpPr>
        <p:spPr>
          <a:xfrm>
            <a:off x="1468934" y="5609630"/>
            <a:ext cx="25151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log</a:t>
            </a:r>
            <a:endParaRPr lang="en-US" sz="788" dirty="0"/>
          </a:p>
        </p:txBody>
      </p:sp>
      <p:sp>
        <p:nvSpPr>
          <p:cNvPr id="58" name="Text 55"/>
          <p:cNvSpPr/>
          <p:nvPr/>
        </p:nvSpPr>
        <p:spPr>
          <a:xfrm>
            <a:off x="1649006" y="5609630"/>
            <a:ext cx="1314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788" dirty="0"/>
          </a:p>
        </p:txBody>
      </p:sp>
      <p:sp>
        <p:nvSpPr>
          <p:cNvPr id="59" name="Text 56"/>
          <p:cNvSpPr/>
          <p:nvPr/>
        </p:nvSpPr>
        <p:spPr>
          <a:xfrm>
            <a:off x="1709031" y="5609630"/>
            <a:ext cx="151185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'SW registration failed'</a:t>
            </a:r>
            <a:endParaRPr lang="en-US" sz="788" dirty="0"/>
          </a:p>
        </p:txBody>
      </p:sp>
      <p:sp>
        <p:nvSpPr>
          <p:cNvPr id="60" name="Text 57"/>
          <p:cNvSpPr/>
          <p:nvPr/>
        </p:nvSpPr>
        <p:spPr>
          <a:xfrm>
            <a:off x="628650" y="5609630"/>
            <a:ext cx="2712281" cy="6018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);</a:t>
            </a:r>
            <a:endParaRPr lang="en-US" sz="788" dirty="0"/>
          </a:p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});</a:t>
            </a:r>
            <a:endParaRPr lang="en-US" sz="788" dirty="0"/>
          </a:p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788" dirty="0"/>
          </a:p>
        </p:txBody>
      </p:sp>
      <p:sp>
        <p:nvSpPr>
          <p:cNvPr id="61" name="Shape 58"/>
          <p:cNvSpPr/>
          <p:nvPr/>
        </p:nvSpPr>
        <p:spPr>
          <a:xfrm>
            <a:off x="457200" y="6579394"/>
            <a:ext cx="3943350" cy="1585913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pic>
        <p:nvPicPr>
          <p:cNvPr id="6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6786563"/>
            <a:ext cx="160734" cy="128588"/>
          </a:xfrm>
          <a:prstGeom prst="rect">
            <a:avLst/>
          </a:prstGeom>
        </p:spPr>
      </p:pic>
      <p:sp>
        <p:nvSpPr>
          <p:cNvPr id="63" name="Text 59"/>
          <p:cNvSpPr/>
          <p:nvPr/>
        </p:nvSpPr>
        <p:spPr>
          <a:xfrm>
            <a:off x="875109" y="6750844"/>
            <a:ext cx="18034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Features Implemented</a:t>
            </a:r>
            <a:endParaRPr lang="en-US" sz="1013" dirty="0"/>
          </a:p>
        </p:txBody>
      </p:sp>
      <p:pic>
        <p:nvPicPr>
          <p:cNvPr id="6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7058025"/>
            <a:ext cx="100013" cy="100013"/>
          </a:xfrm>
          <a:prstGeom prst="rect">
            <a:avLst/>
          </a:prstGeom>
        </p:spPr>
      </p:pic>
      <p:sp>
        <p:nvSpPr>
          <p:cNvPr id="65" name="Text 60"/>
          <p:cNvSpPr/>
          <p:nvPr/>
        </p:nvSpPr>
        <p:spPr>
          <a:xfrm>
            <a:off x="785813" y="7036594"/>
            <a:ext cx="98795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Static asset caching</a:t>
            </a:r>
            <a:endParaRPr lang="en-US" sz="788" dirty="0"/>
          </a:p>
        </p:txBody>
      </p:sp>
      <p:pic>
        <p:nvPicPr>
          <p:cNvPr id="6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7258050"/>
            <a:ext cx="100013" cy="100013"/>
          </a:xfrm>
          <a:prstGeom prst="rect">
            <a:avLst/>
          </a:prstGeom>
        </p:spPr>
      </p:pic>
      <p:sp>
        <p:nvSpPr>
          <p:cNvPr id="67" name="Text 61"/>
          <p:cNvSpPr/>
          <p:nvPr/>
        </p:nvSpPr>
        <p:spPr>
          <a:xfrm>
            <a:off x="785813" y="7236619"/>
            <a:ext cx="125649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Dynamic content caching</a:t>
            </a:r>
            <a:endParaRPr lang="en-US" sz="788" dirty="0"/>
          </a:p>
        </p:txBody>
      </p:sp>
      <p:pic>
        <p:nvPicPr>
          <p:cNvPr id="6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7458075"/>
            <a:ext cx="100013" cy="100013"/>
          </a:xfrm>
          <a:prstGeom prst="rect">
            <a:avLst/>
          </a:prstGeom>
        </p:spPr>
      </p:pic>
      <p:sp>
        <p:nvSpPr>
          <p:cNvPr id="69" name="Text 62"/>
          <p:cNvSpPr/>
          <p:nvPr/>
        </p:nvSpPr>
        <p:spPr>
          <a:xfrm>
            <a:off x="785813" y="7436644"/>
            <a:ext cx="82323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Offline fallbacks</a:t>
            </a:r>
            <a:endParaRPr lang="en-US" sz="788" dirty="0"/>
          </a:p>
        </p:txBody>
      </p:sp>
      <p:pic>
        <p:nvPicPr>
          <p:cNvPr id="7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7658100"/>
            <a:ext cx="100013" cy="100013"/>
          </a:xfrm>
          <a:prstGeom prst="rect">
            <a:avLst/>
          </a:prstGeom>
        </p:spPr>
      </p:pic>
      <p:sp>
        <p:nvSpPr>
          <p:cNvPr id="71" name="Text 63"/>
          <p:cNvSpPr/>
          <p:nvPr/>
        </p:nvSpPr>
        <p:spPr>
          <a:xfrm>
            <a:off x="785813" y="7636669"/>
            <a:ext cx="87516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Background sync</a:t>
            </a:r>
            <a:endParaRPr lang="en-US" sz="788" dirty="0"/>
          </a:p>
        </p:txBody>
      </p:sp>
      <p:pic>
        <p:nvPicPr>
          <p:cNvPr id="7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" y="7858125"/>
            <a:ext cx="100013" cy="100013"/>
          </a:xfrm>
          <a:prstGeom prst="rect">
            <a:avLst/>
          </a:prstGeom>
        </p:spPr>
      </p:pic>
      <p:sp>
        <p:nvSpPr>
          <p:cNvPr id="73" name="Text 64"/>
          <p:cNvSpPr/>
          <p:nvPr/>
        </p:nvSpPr>
        <p:spPr>
          <a:xfrm>
            <a:off x="785813" y="7836694"/>
            <a:ext cx="91015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Push notifications</a:t>
            </a:r>
            <a:endParaRPr lang="en-US" sz="788" dirty="0"/>
          </a:p>
        </p:txBody>
      </p:sp>
      <p:sp>
        <p:nvSpPr>
          <p:cNvPr id="74" name="Shape 65"/>
          <p:cNvSpPr/>
          <p:nvPr/>
        </p:nvSpPr>
        <p:spPr>
          <a:xfrm>
            <a:off x="4743450" y="1343025"/>
            <a:ext cx="3943350" cy="2918222"/>
          </a:xfrm>
          <a:prstGeom prst="rect">
            <a:avLst/>
          </a:prstGeom>
          <a:solidFill>
            <a:srgbClr val="000000">
              <a:alpha val="4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sp>
        <p:nvSpPr>
          <p:cNvPr id="75" name="Text 66"/>
          <p:cNvSpPr/>
          <p:nvPr/>
        </p:nvSpPr>
        <p:spPr>
          <a:xfrm>
            <a:off x="4914900" y="1514475"/>
            <a:ext cx="36718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 Event</a:t>
            </a:r>
            <a:endParaRPr lang="en-US" sz="1013" dirty="0"/>
          </a:p>
        </p:txBody>
      </p:sp>
      <p:sp>
        <p:nvSpPr>
          <p:cNvPr id="76" name="Text 67"/>
          <p:cNvSpPr/>
          <p:nvPr/>
        </p:nvSpPr>
        <p:spPr>
          <a:xfrm>
            <a:off x="4914900" y="1823442"/>
            <a:ext cx="31150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self</a:t>
            </a:r>
            <a:endParaRPr lang="en-US" sz="788" dirty="0"/>
          </a:p>
        </p:txBody>
      </p:sp>
      <p:sp>
        <p:nvSpPr>
          <p:cNvPr id="77" name="Text 68"/>
          <p:cNvSpPr/>
          <p:nvPr/>
        </p:nvSpPr>
        <p:spPr>
          <a:xfrm>
            <a:off x="5154969" y="1823442"/>
            <a:ext cx="1314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788" dirty="0"/>
          </a:p>
        </p:txBody>
      </p:sp>
      <p:sp>
        <p:nvSpPr>
          <p:cNvPr id="78" name="Text 69"/>
          <p:cNvSpPr/>
          <p:nvPr/>
        </p:nvSpPr>
        <p:spPr>
          <a:xfrm>
            <a:off x="5214993" y="1823442"/>
            <a:ext cx="103171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addEventListener</a:t>
            </a:r>
            <a:endParaRPr lang="en-US" sz="788" dirty="0"/>
          </a:p>
        </p:txBody>
      </p:sp>
      <p:sp>
        <p:nvSpPr>
          <p:cNvPr id="79" name="Text 70"/>
          <p:cNvSpPr/>
          <p:nvPr/>
        </p:nvSpPr>
        <p:spPr>
          <a:xfrm>
            <a:off x="6175270" y="1823442"/>
            <a:ext cx="1314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788" dirty="0"/>
          </a:p>
        </p:txBody>
      </p:sp>
      <p:sp>
        <p:nvSpPr>
          <p:cNvPr id="80" name="Text 71"/>
          <p:cNvSpPr/>
          <p:nvPr/>
        </p:nvSpPr>
        <p:spPr>
          <a:xfrm>
            <a:off x="6235294" y="1823442"/>
            <a:ext cx="6116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'install'</a:t>
            </a:r>
            <a:endParaRPr lang="en-US" sz="788" dirty="0"/>
          </a:p>
        </p:txBody>
      </p:sp>
      <p:sp>
        <p:nvSpPr>
          <p:cNvPr id="81" name="Text 72"/>
          <p:cNvSpPr/>
          <p:nvPr/>
        </p:nvSpPr>
        <p:spPr>
          <a:xfrm>
            <a:off x="6775456" y="1823442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788" dirty="0"/>
          </a:p>
        </p:txBody>
      </p:sp>
      <p:sp>
        <p:nvSpPr>
          <p:cNvPr id="82" name="Text 73"/>
          <p:cNvSpPr/>
          <p:nvPr/>
        </p:nvSpPr>
        <p:spPr>
          <a:xfrm>
            <a:off x="6895505" y="1823442"/>
            <a:ext cx="3715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event</a:t>
            </a:r>
            <a:endParaRPr lang="en-US" sz="788" dirty="0"/>
          </a:p>
        </p:txBody>
      </p:sp>
      <p:sp>
        <p:nvSpPr>
          <p:cNvPr id="83" name="Text 74"/>
          <p:cNvSpPr/>
          <p:nvPr/>
        </p:nvSpPr>
        <p:spPr>
          <a:xfrm>
            <a:off x="4914900" y="1823442"/>
            <a:ext cx="2652229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=&gt; {</a:t>
            </a:r>
            <a:endParaRPr lang="en-US" sz="788" dirty="0"/>
          </a:p>
        </p:txBody>
      </p:sp>
      <p:sp>
        <p:nvSpPr>
          <p:cNvPr id="84" name="Text 75"/>
          <p:cNvSpPr/>
          <p:nvPr/>
        </p:nvSpPr>
        <p:spPr>
          <a:xfrm>
            <a:off x="5034948" y="1985963"/>
            <a:ext cx="3715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event</a:t>
            </a:r>
            <a:endParaRPr lang="en-US" sz="788" dirty="0"/>
          </a:p>
        </p:txBody>
      </p:sp>
      <p:sp>
        <p:nvSpPr>
          <p:cNvPr id="85" name="Text 76"/>
          <p:cNvSpPr/>
          <p:nvPr/>
        </p:nvSpPr>
        <p:spPr>
          <a:xfrm>
            <a:off x="5335042" y="1985963"/>
            <a:ext cx="1314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788" dirty="0"/>
          </a:p>
        </p:txBody>
      </p:sp>
      <p:sp>
        <p:nvSpPr>
          <p:cNvPr id="86" name="Text 77"/>
          <p:cNvSpPr/>
          <p:nvPr/>
        </p:nvSpPr>
        <p:spPr>
          <a:xfrm>
            <a:off x="5395066" y="1985963"/>
            <a:ext cx="6116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waitUntil</a:t>
            </a:r>
            <a:endParaRPr lang="en-US" sz="788" dirty="0"/>
          </a:p>
        </p:txBody>
      </p:sp>
      <p:sp>
        <p:nvSpPr>
          <p:cNvPr id="87" name="Text 78"/>
          <p:cNvSpPr/>
          <p:nvPr/>
        </p:nvSpPr>
        <p:spPr>
          <a:xfrm>
            <a:off x="4914900" y="1985963"/>
            <a:ext cx="115179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788" dirty="0"/>
          </a:p>
        </p:txBody>
      </p:sp>
      <p:sp>
        <p:nvSpPr>
          <p:cNvPr id="88" name="Text 79"/>
          <p:cNvSpPr/>
          <p:nvPr/>
        </p:nvSpPr>
        <p:spPr>
          <a:xfrm>
            <a:off x="5154969" y="2148483"/>
            <a:ext cx="43155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caches</a:t>
            </a:r>
            <a:endParaRPr lang="en-US" sz="788" dirty="0"/>
          </a:p>
        </p:txBody>
      </p:sp>
      <p:sp>
        <p:nvSpPr>
          <p:cNvPr id="89" name="Text 80"/>
          <p:cNvSpPr/>
          <p:nvPr/>
        </p:nvSpPr>
        <p:spPr>
          <a:xfrm>
            <a:off x="5515087" y="2148483"/>
            <a:ext cx="1314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788" dirty="0"/>
          </a:p>
        </p:txBody>
      </p:sp>
      <p:sp>
        <p:nvSpPr>
          <p:cNvPr id="90" name="Text 81"/>
          <p:cNvSpPr/>
          <p:nvPr/>
        </p:nvSpPr>
        <p:spPr>
          <a:xfrm>
            <a:off x="5575111" y="2148483"/>
            <a:ext cx="31150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open</a:t>
            </a:r>
            <a:endParaRPr lang="en-US" sz="788" dirty="0"/>
          </a:p>
        </p:txBody>
      </p:sp>
      <p:sp>
        <p:nvSpPr>
          <p:cNvPr id="91" name="Text 82"/>
          <p:cNvSpPr/>
          <p:nvPr/>
        </p:nvSpPr>
        <p:spPr>
          <a:xfrm>
            <a:off x="5815180" y="2148483"/>
            <a:ext cx="1314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788" dirty="0"/>
          </a:p>
        </p:txBody>
      </p:sp>
      <p:sp>
        <p:nvSpPr>
          <p:cNvPr id="92" name="Text 83"/>
          <p:cNvSpPr/>
          <p:nvPr/>
        </p:nvSpPr>
        <p:spPr>
          <a:xfrm>
            <a:off x="5875204" y="2148483"/>
            <a:ext cx="12117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'gamehub-static-v1'</a:t>
            </a:r>
            <a:endParaRPr lang="en-US" sz="788" dirty="0"/>
          </a:p>
        </p:txBody>
      </p:sp>
      <p:sp>
        <p:nvSpPr>
          <p:cNvPr id="93" name="Text 84"/>
          <p:cNvSpPr/>
          <p:nvPr/>
        </p:nvSpPr>
        <p:spPr>
          <a:xfrm>
            <a:off x="4914900" y="2148483"/>
            <a:ext cx="2232115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788" dirty="0"/>
          </a:p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.</a:t>
            </a:r>
            <a:endParaRPr lang="en-US" sz="788" dirty="0"/>
          </a:p>
        </p:txBody>
      </p:sp>
      <p:sp>
        <p:nvSpPr>
          <p:cNvPr id="94" name="Text 85"/>
          <p:cNvSpPr/>
          <p:nvPr/>
        </p:nvSpPr>
        <p:spPr>
          <a:xfrm>
            <a:off x="5335042" y="2311003"/>
            <a:ext cx="31150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then</a:t>
            </a:r>
            <a:endParaRPr lang="en-US" sz="788" dirty="0"/>
          </a:p>
        </p:txBody>
      </p:sp>
      <p:sp>
        <p:nvSpPr>
          <p:cNvPr id="95" name="Text 86"/>
          <p:cNvSpPr/>
          <p:nvPr/>
        </p:nvSpPr>
        <p:spPr>
          <a:xfrm>
            <a:off x="5575111" y="2311003"/>
            <a:ext cx="1314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788" dirty="0"/>
          </a:p>
        </p:txBody>
      </p:sp>
      <p:sp>
        <p:nvSpPr>
          <p:cNvPr id="96" name="Text 87"/>
          <p:cNvSpPr/>
          <p:nvPr/>
        </p:nvSpPr>
        <p:spPr>
          <a:xfrm>
            <a:off x="5635135" y="2311003"/>
            <a:ext cx="3715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cache</a:t>
            </a:r>
            <a:endParaRPr lang="en-US" sz="788" dirty="0"/>
          </a:p>
        </p:txBody>
      </p:sp>
      <p:sp>
        <p:nvSpPr>
          <p:cNvPr id="97" name="Text 88"/>
          <p:cNvSpPr/>
          <p:nvPr/>
        </p:nvSpPr>
        <p:spPr>
          <a:xfrm>
            <a:off x="4914900" y="2311003"/>
            <a:ext cx="1391859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=&gt; {</a:t>
            </a:r>
            <a:endParaRPr lang="en-US" sz="788" dirty="0"/>
          </a:p>
        </p:txBody>
      </p:sp>
      <p:sp>
        <p:nvSpPr>
          <p:cNvPr id="98" name="Text 89"/>
          <p:cNvSpPr/>
          <p:nvPr/>
        </p:nvSpPr>
        <p:spPr>
          <a:xfrm>
            <a:off x="5395038" y="2473523"/>
            <a:ext cx="43155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</a:t>
            </a:r>
            <a:endParaRPr lang="en-US" sz="788" dirty="0"/>
          </a:p>
        </p:txBody>
      </p:sp>
      <p:sp>
        <p:nvSpPr>
          <p:cNvPr id="99" name="Text 90"/>
          <p:cNvSpPr/>
          <p:nvPr/>
        </p:nvSpPr>
        <p:spPr>
          <a:xfrm>
            <a:off x="5815180" y="2473523"/>
            <a:ext cx="3715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cache</a:t>
            </a:r>
            <a:endParaRPr lang="en-US" sz="788" dirty="0"/>
          </a:p>
        </p:txBody>
      </p:sp>
      <p:sp>
        <p:nvSpPr>
          <p:cNvPr id="100" name="Text 91"/>
          <p:cNvSpPr/>
          <p:nvPr/>
        </p:nvSpPr>
        <p:spPr>
          <a:xfrm>
            <a:off x="6115273" y="2473523"/>
            <a:ext cx="1314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788" dirty="0"/>
          </a:p>
        </p:txBody>
      </p:sp>
      <p:sp>
        <p:nvSpPr>
          <p:cNvPr id="101" name="Text 92"/>
          <p:cNvSpPr/>
          <p:nvPr/>
        </p:nvSpPr>
        <p:spPr>
          <a:xfrm>
            <a:off x="6175297" y="2473523"/>
            <a:ext cx="43155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addAll</a:t>
            </a:r>
            <a:endParaRPr lang="en-US" sz="788" dirty="0"/>
          </a:p>
        </p:txBody>
      </p:sp>
      <p:sp>
        <p:nvSpPr>
          <p:cNvPr id="102" name="Text 93"/>
          <p:cNvSpPr/>
          <p:nvPr/>
        </p:nvSpPr>
        <p:spPr>
          <a:xfrm>
            <a:off x="4914900" y="2473523"/>
            <a:ext cx="1812001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([</a:t>
            </a:r>
            <a:endParaRPr lang="en-US" sz="788" dirty="0"/>
          </a:p>
        </p:txBody>
      </p:sp>
      <p:sp>
        <p:nvSpPr>
          <p:cNvPr id="103" name="Text 94"/>
          <p:cNvSpPr/>
          <p:nvPr/>
        </p:nvSpPr>
        <p:spPr>
          <a:xfrm>
            <a:off x="5515087" y="2636044"/>
            <a:ext cx="25151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'/'</a:t>
            </a:r>
            <a:endParaRPr lang="en-US" sz="788" dirty="0"/>
          </a:p>
        </p:txBody>
      </p:sp>
      <p:sp>
        <p:nvSpPr>
          <p:cNvPr id="104" name="Text 95"/>
          <p:cNvSpPr/>
          <p:nvPr/>
        </p:nvSpPr>
        <p:spPr>
          <a:xfrm>
            <a:off x="4914900" y="2636044"/>
            <a:ext cx="91172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788" dirty="0"/>
          </a:p>
        </p:txBody>
      </p:sp>
      <p:sp>
        <p:nvSpPr>
          <p:cNvPr id="105" name="Text 96"/>
          <p:cNvSpPr/>
          <p:nvPr/>
        </p:nvSpPr>
        <p:spPr>
          <a:xfrm>
            <a:off x="5515087" y="2798564"/>
            <a:ext cx="85166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'/styles.css'</a:t>
            </a:r>
            <a:endParaRPr lang="en-US" sz="788" dirty="0"/>
          </a:p>
        </p:txBody>
      </p:sp>
      <p:sp>
        <p:nvSpPr>
          <p:cNvPr id="106" name="Text 97"/>
          <p:cNvSpPr/>
          <p:nvPr/>
        </p:nvSpPr>
        <p:spPr>
          <a:xfrm>
            <a:off x="4914900" y="2798564"/>
            <a:ext cx="151188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788" dirty="0"/>
          </a:p>
        </p:txBody>
      </p:sp>
      <p:sp>
        <p:nvSpPr>
          <p:cNvPr id="107" name="Text 98"/>
          <p:cNvSpPr/>
          <p:nvPr/>
        </p:nvSpPr>
        <p:spPr>
          <a:xfrm>
            <a:off x="5515087" y="2961084"/>
            <a:ext cx="6116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'/app.js'</a:t>
            </a:r>
            <a:endParaRPr lang="en-US" sz="788" dirty="0"/>
          </a:p>
        </p:txBody>
      </p:sp>
      <p:sp>
        <p:nvSpPr>
          <p:cNvPr id="108" name="Text 99"/>
          <p:cNvSpPr/>
          <p:nvPr/>
        </p:nvSpPr>
        <p:spPr>
          <a:xfrm>
            <a:off x="4914900" y="2961084"/>
            <a:ext cx="127181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788" dirty="0"/>
          </a:p>
        </p:txBody>
      </p:sp>
      <p:sp>
        <p:nvSpPr>
          <p:cNvPr id="109" name="Text 100"/>
          <p:cNvSpPr/>
          <p:nvPr/>
        </p:nvSpPr>
        <p:spPr>
          <a:xfrm>
            <a:off x="5515087" y="3123605"/>
            <a:ext cx="103171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'/manifest.json'</a:t>
            </a:r>
            <a:endParaRPr lang="en-US" sz="788" dirty="0"/>
          </a:p>
        </p:txBody>
      </p:sp>
      <p:sp>
        <p:nvSpPr>
          <p:cNvPr id="110" name="Text 101"/>
          <p:cNvSpPr/>
          <p:nvPr/>
        </p:nvSpPr>
        <p:spPr>
          <a:xfrm>
            <a:off x="4914900" y="3286125"/>
            <a:ext cx="1271783" cy="7643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]);</a:t>
            </a:r>
            <a:endParaRPr lang="en-US" sz="788" dirty="0"/>
          </a:p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})</a:t>
            </a:r>
            <a:endParaRPr lang="en-US" sz="788" dirty="0"/>
          </a:p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);</a:t>
            </a:r>
            <a:endParaRPr lang="en-US" sz="788" dirty="0"/>
          </a:p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});</a:t>
            </a:r>
            <a:endParaRPr lang="en-US" sz="788" dirty="0"/>
          </a:p>
        </p:txBody>
      </p:sp>
      <p:sp>
        <p:nvSpPr>
          <p:cNvPr id="111" name="Shape 102"/>
          <p:cNvSpPr/>
          <p:nvPr/>
        </p:nvSpPr>
        <p:spPr>
          <a:xfrm>
            <a:off x="4743450" y="4418409"/>
            <a:ext cx="3943350" cy="3893344"/>
          </a:xfrm>
          <a:prstGeom prst="rect">
            <a:avLst/>
          </a:prstGeom>
          <a:solidFill>
            <a:srgbClr val="000000">
              <a:alpha val="4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sp>
        <p:nvSpPr>
          <p:cNvPr id="112" name="Text 103"/>
          <p:cNvSpPr/>
          <p:nvPr/>
        </p:nvSpPr>
        <p:spPr>
          <a:xfrm>
            <a:off x="4914900" y="4589859"/>
            <a:ext cx="36718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 Event</a:t>
            </a:r>
            <a:endParaRPr lang="en-US" sz="1013" dirty="0"/>
          </a:p>
        </p:txBody>
      </p:sp>
      <p:sp>
        <p:nvSpPr>
          <p:cNvPr id="113" name="Text 104"/>
          <p:cNvSpPr/>
          <p:nvPr/>
        </p:nvSpPr>
        <p:spPr>
          <a:xfrm>
            <a:off x="4914900" y="4898827"/>
            <a:ext cx="31150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self</a:t>
            </a:r>
            <a:endParaRPr lang="en-US" sz="788" dirty="0"/>
          </a:p>
        </p:txBody>
      </p:sp>
      <p:sp>
        <p:nvSpPr>
          <p:cNvPr id="114" name="Text 105"/>
          <p:cNvSpPr/>
          <p:nvPr/>
        </p:nvSpPr>
        <p:spPr>
          <a:xfrm>
            <a:off x="5154969" y="4898827"/>
            <a:ext cx="1314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788" dirty="0"/>
          </a:p>
        </p:txBody>
      </p:sp>
      <p:sp>
        <p:nvSpPr>
          <p:cNvPr id="115" name="Text 106"/>
          <p:cNvSpPr/>
          <p:nvPr/>
        </p:nvSpPr>
        <p:spPr>
          <a:xfrm>
            <a:off x="5214993" y="4898827"/>
            <a:ext cx="103171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addEventListener</a:t>
            </a:r>
            <a:endParaRPr lang="en-US" sz="788" dirty="0"/>
          </a:p>
        </p:txBody>
      </p:sp>
      <p:sp>
        <p:nvSpPr>
          <p:cNvPr id="116" name="Text 107"/>
          <p:cNvSpPr/>
          <p:nvPr/>
        </p:nvSpPr>
        <p:spPr>
          <a:xfrm>
            <a:off x="6175270" y="4898827"/>
            <a:ext cx="1314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788" dirty="0"/>
          </a:p>
        </p:txBody>
      </p:sp>
      <p:sp>
        <p:nvSpPr>
          <p:cNvPr id="117" name="Text 108"/>
          <p:cNvSpPr/>
          <p:nvPr/>
        </p:nvSpPr>
        <p:spPr>
          <a:xfrm>
            <a:off x="6235294" y="4898827"/>
            <a:ext cx="49157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'fetch'</a:t>
            </a:r>
            <a:endParaRPr lang="en-US" sz="788" dirty="0"/>
          </a:p>
        </p:txBody>
      </p:sp>
      <p:sp>
        <p:nvSpPr>
          <p:cNvPr id="118" name="Text 109"/>
          <p:cNvSpPr/>
          <p:nvPr/>
        </p:nvSpPr>
        <p:spPr>
          <a:xfrm>
            <a:off x="6655436" y="4898827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788" dirty="0"/>
          </a:p>
        </p:txBody>
      </p:sp>
      <p:sp>
        <p:nvSpPr>
          <p:cNvPr id="119" name="Text 110"/>
          <p:cNvSpPr/>
          <p:nvPr/>
        </p:nvSpPr>
        <p:spPr>
          <a:xfrm>
            <a:off x="6775484" y="4898827"/>
            <a:ext cx="3715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event</a:t>
            </a:r>
            <a:endParaRPr lang="en-US" sz="788" dirty="0"/>
          </a:p>
        </p:txBody>
      </p:sp>
      <p:sp>
        <p:nvSpPr>
          <p:cNvPr id="120" name="Text 111"/>
          <p:cNvSpPr/>
          <p:nvPr/>
        </p:nvSpPr>
        <p:spPr>
          <a:xfrm>
            <a:off x="4914900" y="4898827"/>
            <a:ext cx="2532208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=&gt; {</a:t>
            </a:r>
            <a:endParaRPr lang="en-US" sz="788" dirty="0"/>
          </a:p>
        </p:txBody>
      </p:sp>
      <p:sp>
        <p:nvSpPr>
          <p:cNvPr id="121" name="Text 112"/>
          <p:cNvSpPr/>
          <p:nvPr/>
        </p:nvSpPr>
        <p:spPr>
          <a:xfrm>
            <a:off x="5034948" y="5061347"/>
            <a:ext cx="3715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event</a:t>
            </a:r>
            <a:endParaRPr lang="en-US" sz="788" dirty="0"/>
          </a:p>
        </p:txBody>
      </p:sp>
      <p:sp>
        <p:nvSpPr>
          <p:cNvPr id="122" name="Text 113"/>
          <p:cNvSpPr/>
          <p:nvPr/>
        </p:nvSpPr>
        <p:spPr>
          <a:xfrm>
            <a:off x="5335042" y="5061347"/>
            <a:ext cx="1314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788" dirty="0"/>
          </a:p>
        </p:txBody>
      </p:sp>
      <p:sp>
        <p:nvSpPr>
          <p:cNvPr id="123" name="Text 114"/>
          <p:cNvSpPr/>
          <p:nvPr/>
        </p:nvSpPr>
        <p:spPr>
          <a:xfrm>
            <a:off x="5395066" y="5061347"/>
            <a:ext cx="73164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respondWith</a:t>
            </a:r>
            <a:endParaRPr lang="en-US" sz="788" dirty="0"/>
          </a:p>
        </p:txBody>
      </p:sp>
      <p:sp>
        <p:nvSpPr>
          <p:cNvPr id="124" name="Text 115"/>
          <p:cNvSpPr/>
          <p:nvPr/>
        </p:nvSpPr>
        <p:spPr>
          <a:xfrm>
            <a:off x="4914900" y="5061347"/>
            <a:ext cx="12718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788" dirty="0"/>
          </a:p>
        </p:txBody>
      </p:sp>
      <p:sp>
        <p:nvSpPr>
          <p:cNvPr id="125" name="Text 116"/>
          <p:cNvSpPr/>
          <p:nvPr/>
        </p:nvSpPr>
        <p:spPr>
          <a:xfrm>
            <a:off x="5154969" y="5223867"/>
            <a:ext cx="43155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caches</a:t>
            </a:r>
            <a:endParaRPr lang="en-US" sz="788" dirty="0"/>
          </a:p>
        </p:txBody>
      </p:sp>
      <p:sp>
        <p:nvSpPr>
          <p:cNvPr id="126" name="Text 117"/>
          <p:cNvSpPr/>
          <p:nvPr/>
        </p:nvSpPr>
        <p:spPr>
          <a:xfrm>
            <a:off x="5515087" y="5223867"/>
            <a:ext cx="1314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788" dirty="0"/>
          </a:p>
        </p:txBody>
      </p:sp>
      <p:sp>
        <p:nvSpPr>
          <p:cNvPr id="127" name="Text 118"/>
          <p:cNvSpPr/>
          <p:nvPr/>
        </p:nvSpPr>
        <p:spPr>
          <a:xfrm>
            <a:off x="5575111" y="5223867"/>
            <a:ext cx="3715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match</a:t>
            </a:r>
            <a:endParaRPr lang="en-US" sz="788" dirty="0"/>
          </a:p>
        </p:txBody>
      </p:sp>
      <p:sp>
        <p:nvSpPr>
          <p:cNvPr id="128" name="Text 119"/>
          <p:cNvSpPr/>
          <p:nvPr/>
        </p:nvSpPr>
        <p:spPr>
          <a:xfrm>
            <a:off x="5875204" y="5223867"/>
            <a:ext cx="1314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788" dirty="0"/>
          </a:p>
        </p:txBody>
      </p:sp>
      <p:sp>
        <p:nvSpPr>
          <p:cNvPr id="129" name="Text 120"/>
          <p:cNvSpPr/>
          <p:nvPr/>
        </p:nvSpPr>
        <p:spPr>
          <a:xfrm>
            <a:off x="5935228" y="5223867"/>
            <a:ext cx="3715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event</a:t>
            </a:r>
            <a:endParaRPr lang="en-US" sz="788" dirty="0"/>
          </a:p>
        </p:txBody>
      </p:sp>
      <p:sp>
        <p:nvSpPr>
          <p:cNvPr id="130" name="Text 121"/>
          <p:cNvSpPr/>
          <p:nvPr/>
        </p:nvSpPr>
        <p:spPr>
          <a:xfrm>
            <a:off x="6235322" y="5223867"/>
            <a:ext cx="1314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788" dirty="0"/>
          </a:p>
        </p:txBody>
      </p:sp>
      <p:sp>
        <p:nvSpPr>
          <p:cNvPr id="131" name="Text 122"/>
          <p:cNvSpPr/>
          <p:nvPr/>
        </p:nvSpPr>
        <p:spPr>
          <a:xfrm>
            <a:off x="6295346" y="5223867"/>
            <a:ext cx="49157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request</a:t>
            </a:r>
            <a:endParaRPr lang="en-US" sz="788" dirty="0"/>
          </a:p>
        </p:txBody>
      </p:sp>
      <p:sp>
        <p:nvSpPr>
          <p:cNvPr id="132" name="Text 123"/>
          <p:cNvSpPr/>
          <p:nvPr/>
        </p:nvSpPr>
        <p:spPr>
          <a:xfrm>
            <a:off x="4914900" y="5223867"/>
            <a:ext cx="193205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788" dirty="0"/>
          </a:p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.</a:t>
            </a:r>
            <a:endParaRPr lang="en-US" sz="788" dirty="0"/>
          </a:p>
        </p:txBody>
      </p:sp>
      <p:sp>
        <p:nvSpPr>
          <p:cNvPr id="133" name="Text 124"/>
          <p:cNvSpPr/>
          <p:nvPr/>
        </p:nvSpPr>
        <p:spPr>
          <a:xfrm>
            <a:off x="5335042" y="5386388"/>
            <a:ext cx="31150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then</a:t>
            </a:r>
            <a:endParaRPr lang="en-US" sz="788" dirty="0"/>
          </a:p>
        </p:txBody>
      </p:sp>
      <p:sp>
        <p:nvSpPr>
          <p:cNvPr id="134" name="Text 125"/>
          <p:cNvSpPr/>
          <p:nvPr/>
        </p:nvSpPr>
        <p:spPr>
          <a:xfrm>
            <a:off x="5575111" y="5386388"/>
            <a:ext cx="1314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788" dirty="0"/>
          </a:p>
        </p:txBody>
      </p:sp>
      <p:sp>
        <p:nvSpPr>
          <p:cNvPr id="135" name="Text 126"/>
          <p:cNvSpPr/>
          <p:nvPr/>
        </p:nvSpPr>
        <p:spPr>
          <a:xfrm>
            <a:off x="5635135" y="5386388"/>
            <a:ext cx="55157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response</a:t>
            </a:r>
            <a:endParaRPr lang="en-US" sz="788" dirty="0"/>
          </a:p>
        </p:txBody>
      </p:sp>
      <p:sp>
        <p:nvSpPr>
          <p:cNvPr id="136" name="Text 127"/>
          <p:cNvSpPr/>
          <p:nvPr/>
        </p:nvSpPr>
        <p:spPr>
          <a:xfrm>
            <a:off x="4914900" y="5386388"/>
            <a:ext cx="1571904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=&gt; {</a:t>
            </a:r>
            <a:endParaRPr lang="en-US" sz="788" dirty="0"/>
          </a:p>
        </p:txBody>
      </p:sp>
      <p:sp>
        <p:nvSpPr>
          <p:cNvPr id="137" name="Text 128"/>
          <p:cNvSpPr/>
          <p:nvPr/>
        </p:nvSpPr>
        <p:spPr>
          <a:xfrm>
            <a:off x="5395038" y="5548908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if</a:t>
            </a:r>
            <a:endParaRPr lang="en-US" sz="788" dirty="0"/>
          </a:p>
        </p:txBody>
      </p:sp>
      <p:sp>
        <p:nvSpPr>
          <p:cNvPr id="138" name="Text 129"/>
          <p:cNvSpPr/>
          <p:nvPr/>
        </p:nvSpPr>
        <p:spPr>
          <a:xfrm>
            <a:off x="5515087" y="5548908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788" dirty="0"/>
          </a:p>
        </p:txBody>
      </p:sp>
      <p:sp>
        <p:nvSpPr>
          <p:cNvPr id="139" name="Text 130"/>
          <p:cNvSpPr/>
          <p:nvPr/>
        </p:nvSpPr>
        <p:spPr>
          <a:xfrm>
            <a:off x="5635135" y="5548908"/>
            <a:ext cx="55157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response</a:t>
            </a:r>
            <a:endParaRPr lang="en-US" sz="788" dirty="0"/>
          </a:p>
        </p:txBody>
      </p:sp>
      <p:sp>
        <p:nvSpPr>
          <p:cNvPr id="140" name="Text 131"/>
          <p:cNvSpPr/>
          <p:nvPr/>
        </p:nvSpPr>
        <p:spPr>
          <a:xfrm>
            <a:off x="4914900" y="5548908"/>
            <a:ext cx="1451883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 {</a:t>
            </a:r>
            <a:endParaRPr lang="en-US" sz="788" dirty="0"/>
          </a:p>
        </p:txBody>
      </p:sp>
      <p:sp>
        <p:nvSpPr>
          <p:cNvPr id="141" name="Text 132"/>
          <p:cNvSpPr/>
          <p:nvPr/>
        </p:nvSpPr>
        <p:spPr>
          <a:xfrm>
            <a:off x="5515087" y="5711428"/>
            <a:ext cx="43155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</a:t>
            </a:r>
            <a:endParaRPr lang="en-US" sz="788" dirty="0"/>
          </a:p>
        </p:txBody>
      </p:sp>
      <p:sp>
        <p:nvSpPr>
          <p:cNvPr id="142" name="Text 133"/>
          <p:cNvSpPr/>
          <p:nvPr/>
        </p:nvSpPr>
        <p:spPr>
          <a:xfrm>
            <a:off x="5935228" y="5711428"/>
            <a:ext cx="55157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response</a:t>
            </a:r>
            <a:endParaRPr lang="en-US" sz="788" dirty="0"/>
          </a:p>
        </p:txBody>
      </p:sp>
      <p:sp>
        <p:nvSpPr>
          <p:cNvPr id="143" name="Text 134"/>
          <p:cNvSpPr/>
          <p:nvPr/>
        </p:nvSpPr>
        <p:spPr>
          <a:xfrm>
            <a:off x="6415367" y="5711428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;</a:t>
            </a:r>
            <a:endParaRPr lang="en-US" sz="788" dirty="0"/>
          </a:p>
        </p:txBody>
      </p:sp>
      <p:sp>
        <p:nvSpPr>
          <p:cNvPr id="144" name="Text 135"/>
          <p:cNvSpPr/>
          <p:nvPr/>
        </p:nvSpPr>
        <p:spPr>
          <a:xfrm>
            <a:off x="6535415" y="5711428"/>
            <a:ext cx="79164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A78B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Cache hit</a:t>
            </a:r>
            <a:endParaRPr lang="en-US" sz="788" dirty="0"/>
          </a:p>
        </p:txBody>
      </p:sp>
      <p:sp>
        <p:nvSpPr>
          <p:cNvPr id="145" name="Text 136"/>
          <p:cNvSpPr/>
          <p:nvPr/>
        </p:nvSpPr>
        <p:spPr>
          <a:xfrm>
            <a:off x="4914900" y="5873948"/>
            <a:ext cx="611600" cy="4393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788" dirty="0"/>
          </a:p>
        </p:txBody>
      </p:sp>
      <p:sp>
        <p:nvSpPr>
          <p:cNvPr id="146" name="Text 137"/>
          <p:cNvSpPr/>
          <p:nvPr/>
        </p:nvSpPr>
        <p:spPr>
          <a:xfrm>
            <a:off x="5395038" y="6198989"/>
            <a:ext cx="43155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</a:t>
            </a:r>
            <a:endParaRPr lang="en-US" sz="788" dirty="0"/>
          </a:p>
        </p:txBody>
      </p:sp>
      <p:sp>
        <p:nvSpPr>
          <p:cNvPr id="147" name="Text 138"/>
          <p:cNvSpPr/>
          <p:nvPr/>
        </p:nvSpPr>
        <p:spPr>
          <a:xfrm>
            <a:off x="5815180" y="6198989"/>
            <a:ext cx="3715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fetch</a:t>
            </a:r>
            <a:endParaRPr lang="en-US" sz="788" dirty="0"/>
          </a:p>
        </p:txBody>
      </p:sp>
      <p:sp>
        <p:nvSpPr>
          <p:cNvPr id="148" name="Text 139"/>
          <p:cNvSpPr/>
          <p:nvPr/>
        </p:nvSpPr>
        <p:spPr>
          <a:xfrm>
            <a:off x="6115273" y="6198989"/>
            <a:ext cx="1314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788" dirty="0"/>
          </a:p>
        </p:txBody>
      </p:sp>
      <p:sp>
        <p:nvSpPr>
          <p:cNvPr id="149" name="Text 140"/>
          <p:cNvSpPr/>
          <p:nvPr/>
        </p:nvSpPr>
        <p:spPr>
          <a:xfrm>
            <a:off x="6175297" y="6198989"/>
            <a:ext cx="3715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event</a:t>
            </a:r>
            <a:endParaRPr lang="en-US" sz="788" dirty="0"/>
          </a:p>
        </p:txBody>
      </p:sp>
      <p:sp>
        <p:nvSpPr>
          <p:cNvPr id="150" name="Text 141"/>
          <p:cNvSpPr/>
          <p:nvPr/>
        </p:nvSpPr>
        <p:spPr>
          <a:xfrm>
            <a:off x="6475391" y="6198989"/>
            <a:ext cx="1314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788" dirty="0"/>
          </a:p>
        </p:txBody>
      </p:sp>
      <p:sp>
        <p:nvSpPr>
          <p:cNvPr id="151" name="Text 142"/>
          <p:cNvSpPr/>
          <p:nvPr/>
        </p:nvSpPr>
        <p:spPr>
          <a:xfrm>
            <a:off x="6535415" y="6198989"/>
            <a:ext cx="49157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request</a:t>
            </a:r>
            <a:endParaRPr lang="en-US" sz="788" dirty="0"/>
          </a:p>
        </p:txBody>
      </p:sp>
      <p:sp>
        <p:nvSpPr>
          <p:cNvPr id="152" name="Text 143"/>
          <p:cNvSpPr/>
          <p:nvPr/>
        </p:nvSpPr>
        <p:spPr>
          <a:xfrm>
            <a:off x="4914900" y="6198989"/>
            <a:ext cx="2172119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788" dirty="0"/>
          </a:p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.</a:t>
            </a:r>
            <a:endParaRPr lang="en-US" sz="788" dirty="0"/>
          </a:p>
        </p:txBody>
      </p:sp>
      <p:sp>
        <p:nvSpPr>
          <p:cNvPr id="153" name="Text 144"/>
          <p:cNvSpPr/>
          <p:nvPr/>
        </p:nvSpPr>
        <p:spPr>
          <a:xfrm>
            <a:off x="5575111" y="6361509"/>
            <a:ext cx="31150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then</a:t>
            </a:r>
            <a:endParaRPr lang="en-US" sz="788" dirty="0"/>
          </a:p>
        </p:txBody>
      </p:sp>
      <p:sp>
        <p:nvSpPr>
          <p:cNvPr id="154" name="Text 145"/>
          <p:cNvSpPr/>
          <p:nvPr/>
        </p:nvSpPr>
        <p:spPr>
          <a:xfrm>
            <a:off x="5815180" y="6361509"/>
            <a:ext cx="1314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788" dirty="0"/>
          </a:p>
        </p:txBody>
      </p:sp>
      <p:sp>
        <p:nvSpPr>
          <p:cNvPr id="155" name="Text 146"/>
          <p:cNvSpPr/>
          <p:nvPr/>
        </p:nvSpPr>
        <p:spPr>
          <a:xfrm>
            <a:off x="5875204" y="6361509"/>
            <a:ext cx="55157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response</a:t>
            </a:r>
            <a:endParaRPr lang="en-US" sz="788" dirty="0"/>
          </a:p>
        </p:txBody>
      </p:sp>
      <p:sp>
        <p:nvSpPr>
          <p:cNvPr id="156" name="Text 147"/>
          <p:cNvSpPr/>
          <p:nvPr/>
        </p:nvSpPr>
        <p:spPr>
          <a:xfrm>
            <a:off x="4914900" y="6361509"/>
            <a:ext cx="1811973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=&gt; {</a:t>
            </a:r>
            <a:endParaRPr lang="en-US" sz="788" dirty="0"/>
          </a:p>
        </p:txBody>
      </p:sp>
      <p:sp>
        <p:nvSpPr>
          <p:cNvPr id="157" name="Text 148"/>
          <p:cNvSpPr/>
          <p:nvPr/>
        </p:nvSpPr>
        <p:spPr>
          <a:xfrm>
            <a:off x="5635107" y="6524030"/>
            <a:ext cx="18119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A78B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// Cache successful responses</a:t>
            </a:r>
            <a:endParaRPr lang="en-US" sz="788" dirty="0"/>
          </a:p>
        </p:txBody>
      </p:sp>
      <p:sp>
        <p:nvSpPr>
          <p:cNvPr id="158" name="Text 149"/>
          <p:cNvSpPr/>
          <p:nvPr/>
        </p:nvSpPr>
        <p:spPr>
          <a:xfrm>
            <a:off x="5635107" y="6686550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if</a:t>
            </a:r>
            <a:endParaRPr lang="en-US" sz="788" dirty="0"/>
          </a:p>
        </p:txBody>
      </p:sp>
      <p:sp>
        <p:nvSpPr>
          <p:cNvPr id="159" name="Text 150"/>
          <p:cNvSpPr/>
          <p:nvPr/>
        </p:nvSpPr>
        <p:spPr>
          <a:xfrm>
            <a:off x="5755156" y="6686550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788" dirty="0"/>
          </a:p>
        </p:txBody>
      </p:sp>
      <p:sp>
        <p:nvSpPr>
          <p:cNvPr id="160" name="Text 151"/>
          <p:cNvSpPr/>
          <p:nvPr/>
        </p:nvSpPr>
        <p:spPr>
          <a:xfrm>
            <a:off x="5875204" y="6686550"/>
            <a:ext cx="55157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response</a:t>
            </a:r>
            <a:endParaRPr lang="en-US" sz="788" dirty="0"/>
          </a:p>
        </p:txBody>
      </p:sp>
      <p:sp>
        <p:nvSpPr>
          <p:cNvPr id="161" name="Text 152"/>
          <p:cNvSpPr/>
          <p:nvPr/>
        </p:nvSpPr>
        <p:spPr>
          <a:xfrm>
            <a:off x="6355342" y="6686550"/>
            <a:ext cx="1314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788" dirty="0"/>
          </a:p>
        </p:txBody>
      </p:sp>
      <p:sp>
        <p:nvSpPr>
          <p:cNvPr id="162" name="Text 153"/>
          <p:cNvSpPr/>
          <p:nvPr/>
        </p:nvSpPr>
        <p:spPr>
          <a:xfrm>
            <a:off x="6415367" y="6686550"/>
            <a:ext cx="43155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status</a:t>
            </a:r>
            <a:endParaRPr lang="en-US" sz="788" dirty="0"/>
          </a:p>
        </p:txBody>
      </p:sp>
      <p:sp>
        <p:nvSpPr>
          <p:cNvPr id="163" name="Text 154"/>
          <p:cNvSpPr/>
          <p:nvPr/>
        </p:nvSpPr>
        <p:spPr>
          <a:xfrm>
            <a:off x="6775484" y="6686550"/>
            <a:ext cx="3715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===</a:t>
            </a:r>
            <a:endParaRPr lang="en-US" sz="788" dirty="0"/>
          </a:p>
        </p:txBody>
      </p:sp>
      <p:sp>
        <p:nvSpPr>
          <p:cNvPr id="164" name="Text 155"/>
          <p:cNvSpPr/>
          <p:nvPr/>
        </p:nvSpPr>
        <p:spPr>
          <a:xfrm>
            <a:off x="7075577" y="6686550"/>
            <a:ext cx="25151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200</a:t>
            </a:r>
            <a:endParaRPr lang="en-US" sz="788" dirty="0"/>
          </a:p>
        </p:txBody>
      </p:sp>
      <p:sp>
        <p:nvSpPr>
          <p:cNvPr id="165" name="Text 156"/>
          <p:cNvSpPr/>
          <p:nvPr/>
        </p:nvSpPr>
        <p:spPr>
          <a:xfrm>
            <a:off x="4914900" y="6686550"/>
            <a:ext cx="259226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 {</a:t>
            </a:r>
            <a:endParaRPr lang="en-US" sz="788" dirty="0"/>
          </a:p>
        </p:txBody>
      </p:sp>
      <p:sp>
        <p:nvSpPr>
          <p:cNvPr id="166" name="Text 157"/>
          <p:cNvSpPr/>
          <p:nvPr/>
        </p:nvSpPr>
        <p:spPr>
          <a:xfrm>
            <a:off x="5755156" y="6849070"/>
            <a:ext cx="3715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cache</a:t>
            </a:r>
            <a:endParaRPr lang="en-US" sz="788" dirty="0"/>
          </a:p>
        </p:txBody>
      </p:sp>
      <p:sp>
        <p:nvSpPr>
          <p:cNvPr id="167" name="Text 158"/>
          <p:cNvSpPr/>
          <p:nvPr/>
        </p:nvSpPr>
        <p:spPr>
          <a:xfrm>
            <a:off x="6055249" y="6849070"/>
            <a:ext cx="1314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788" dirty="0"/>
          </a:p>
        </p:txBody>
      </p:sp>
      <p:sp>
        <p:nvSpPr>
          <p:cNvPr id="168" name="Text 159"/>
          <p:cNvSpPr/>
          <p:nvPr/>
        </p:nvSpPr>
        <p:spPr>
          <a:xfrm>
            <a:off x="6115273" y="6849070"/>
            <a:ext cx="25151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put</a:t>
            </a:r>
            <a:endParaRPr lang="en-US" sz="788" dirty="0"/>
          </a:p>
        </p:txBody>
      </p:sp>
      <p:sp>
        <p:nvSpPr>
          <p:cNvPr id="169" name="Text 160"/>
          <p:cNvSpPr/>
          <p:nvPr/>
        </p:nvSpPr>
        <p:spPr>
          <a:xfrm>
            <a:off x="6295346" y="6849070"/>
            <a:ext cx="1314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788" dirty="0"/>
          </a:p>
        </p:txBody>
      </p:sp>
      <p:sp>
        <p:nvSpPr>
          <p:cNvPr id="170" name="Text 161"/>
          <p:cNvSpPr/>
          <p:nvPr/>
        </p:nvSpPr>
        <p:spPr>
          <a:xfrm>
            <a:off x="6355370" y="6849070"/>
            <a:ext cx="3715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event</a:t>
            </a:r>
            <a:endParaRPr lang="en-US" sz="788" dirty="0"/>
          </a:p>
        </p:txBody>
      </p:sp>
      <p:sp>
        <p:nvSpPr>
          <p:cNvPr id="171" name="Text 162"/>
          <p:cNvSpPr/>
          <p:nvPr/>
        </p:nvSpPr>
        <p:spPr>
          <a:xfrm>
            <a:off x="6655464" y="6849070"/>
            <a:ext cx="1314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788" dirty="0"/>
          </a:p>
        </p:txBody>
      </p:sp>
      <p:sp>
        <p:nvSpPr>
          <p:cNvPr id="172" name="Text 163"/>
          <p:cNvSpPr/>
          <p:nvPr/>
        </p:nvSpPr>
        <p:spPr>
          <a:xfrm>
            <a:off x="6715488" y="6849070"/>
            <a:ext cx="491579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request</a:t>
            </a:r>
            <a:endParaRPr lang="en-US" sz="788" dirty="0"/>
          </a:p>
        </p:txBody>
      </p:sp>
      <p:sp>
        <p:nvSpPr>
          <p:cNvPr id="173" name="Text 164"/>
          <p:cNvSpPr/>
          <p:nvPr/>
        </p:nvSpPr>
        <p:spPr>
          <a:xfrm>
            <a:off x="7135630" y="6849070"/>
            <a:ext cx="19148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788" dirty="0"/>
          </a:p>
        </p:txBody>
      </p:sp>
      <p:sp>
        <p:nvSpPr>
          <p:cNvPr id="174" name="Text 165"/>
          <p:cNvSpPr/>
          <p:nvPr/>
        </p:nvSpPr>
        <p:spPr>
          <a:xfrm>
            <a:off x="7255678" y="6849070"/>
            <a:ext cx="55157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response</a:t>
            </a:r>
            <a:endParaRPr lang="en-US" sz="788" dirty="0"/>
          </a:p>
        </p:txBody>
      </p:sp>
      <p:sp>
        <p:nvSpPr>
          <p:cNvPr id="175" name="Text 166"/>
          <p:cNvSpPr/>
          <p:nvPr/>
        </p:nvSpPr>
        <p:spPr>
          <a:xfrm>
            <a:off x="7735816" y="6849070"/>
            <a:ext cx="13146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788" dirty="0"/>
          </a:p>
        </p:txBody>
      </p:sp>
      <p:sp>
        <p:nvSpPr>
          <p:cNvPr id="176" name="Text 167"/>
          <p:cNvSpPr/>
          <p:nvPr/>
        </p:nvSpPr>
        <p:spPr>
          <a:xfrm>
            <a:off x="7795840" y="6849070"/>
            <a:ext cx="3715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clone</a:t>
            </a:r>
            <a:endParaRPr lang="en-US" sz="788" dirty="0"/>
          </a:p>
        </p:txBody>
      </p:sp>
      <p:sp>
        <p:nvSpPr>
          <p:cNvPr id="177" name="Text 168"/>
          <p:cNvSpPr/>
          <p:nvPr/>
        </p:nvSpPr>
        <p:spPr>
          <a:xfrm>
            <a:off x="4914900" y="6849070"/>
            <a:ext cx="3492540" cy="4393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());</a:t>
            </a:r>
            <a:endParaRPr lang="en-US" sz="788" dirty="0"/>
          </a:p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  }</a:t>
            </a:r>
            <a:endParaRPr lang="en-US" sz="788" dirty="0"/>
          </a:p>
        </p:txBody>
      </p:sp>
      <p:sp>
        <p:nvSpPr>
          <p:cNvPr id="178" name="Text 169"/>
          <p:cNvSpPr/>
          <p:nvPr/>
        </p:nvSpPr>
        <p:spPr>
          <a:xfrm>
            <a:off x="5635107" y="7174111"/>
            <a:ext cx="43155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</a:t>
            </a:r>
            <a:endParaRPr lang="en-US" sz="788" dirty="0"/>
          </a:p>
        </p:txBody>
      </p:sp>
      <p:sp>
        <p:nvSpPr>
          <p:cNvPr id="179" name="Text 170"/>
          <p:cNvSpPr/>
          <p:nvPr/>
        </p:nvSpPr>
        <p:spPr>
          <a:xfrm>
            <a:off x="6055249" y="7174111"/>
            <a:ext cx="55157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response</a:t>
            </a:r>
            <a:endParaRPr lang="en-US" sz="788" dirty="0"/>
          </a:p>
        </p:txBody>
      </p:sp>
      <p:sp>
        <p:nvSpPr>
          <p:cNvPr id="180" name="Text 171"/>
          <p:cNvSpPr/>
          <p:nvPr/>
        </p:nvSpPr>
        <p:spPr>
          <a:xfrm>
            <a:off x="4914900" y="7174111"/>
            <a:ext cx="1751949" cy="926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;</a:t>
            </a:r>
            <a:endParaRPr lang="en-US" sz="788" dirty="0"/>
          </a:p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  });</a:t>
            </a:r>
            <a:endParaRPr lang="en-US" sz="788" dirty="0"/>
          </a:p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})</a:t>
            </a:r>
            <a:endParaRPr lang="en-US" sz="788" dirty="0"/>
          </a:p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);</a:t>
            </a:r>
            <a:endParaRPr lang="en-US" sz="788" dirty="0"/>
          </a:p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});</a:t>
            </a:r>
            <a:endParaRPr lang="en-US" sz="788" dirty="0"/>
          </a:p>
        </p:txBody>
      </p:sp>
      <p:sp>
        <p:nvSpPr>
          <p:cNvPr id="181" name="Shape 172"/>
          <p:cNvSpPr/>
          <p:nvPr/>
        </p:nvSpPr>
        <p:spPr>
          <a:xfrm>
            <a:off x="4743450" y="8468916"/>
            <a:ext cx="3943350" cy="1042988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pic>
        <p:nvPicPr>
          <p:cNvPr id="18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4900" y="8676084"/>
            <a:ext cx="112514" cy="128588"/>
          </a:xfrm>
          <a:prstGeom prst="rect">
            <a:avLst/>
          </a:prstGeom>
        </p:spPr>
      </p:pic>
      <p:sp>
        <p:nvSpPr>
          <p:cNvPr id="183" name="Text 173"/>
          <p:cNvSpPr/>
          <p:nvPr/>
        </p:nvSpPr>
        <p:spPr>
          <a:xfrm>
            <a:off x="5113139" y="8640366"/>
            <a:ext cx="12940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Advanced Features</a:t>
            </a:r>
            <a:endParaRPr lang="en-US" sz="1013" dirty="0"/>
          </a:p>
        </p:txBody>
      </p:sp>
      <p:pic>
        <p:nvPicPr>
          <p:cNvPr id="18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4900" y="8947547"/>
            <a:ext cx="100013" cy="100013"/>
          </a:xfrm>
          <a:prstGeom prst="rect">
            <a:avLst/>
          </a:prstGeom>
        </p:spPr>
      </p:pic>
      <p:sp>
        <p:nvSpPr>
          <p:cNvPr id="185" name="Text 174"/>
          <p:cNvSpPr/>
          <p:nvPr/>
        </p:nvSpPr>
        <p:spPr>
          <a:xfrm>
            <a:off x="5072063" y="8926116"/>
            <a:ext cx="88214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Background Sync</a:t>
            </a:r>
            <a:endParaRPr lang="en-US" sz="788" dirty="0"/>
          </a:p>
        </p:txBody>
      </p:sp>
      <p:pic>
        <p:nvPicPr>
          <p:cNvPr id="18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72275" y="8947547"/>
            <a:ext cx="87511" cy="100013"/>
          </a:xfrm>
          <a:prstGeom prst="rect">
            <a:avLst/>
          </a:prstGeom>
        </p:spPr>
      </p:pic>
      <p:sp>
        <p:nvSpPr>
          <p:cNvPr id="187" name="Text 175"/>
          <p:cNvSpPr/>
          <p:nvPr/>
        </p:nvSpPr>
        <p:spPr>
          <a:xfrm>
            <a:off x="6916936" y="8926116"/>
            <a:ext cx="92436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Push Notifications</a:t>
            </a:r>
            <a:endParaRPr lang="en-US" sz="788" dirty="0"/>
          </a:p>
        </p:txBody>
      </p:sp>
      <p:pic>
        <p:nvPicPr>
          <p:cNvPr id="18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4900" y="9204722"/>
            <a:ext cx="87511" cy="100013"/>
          </a:xfrm>
          <a:prstGeom prst="rect">
            <a:avLst/>
          </a:prstGeom>
        </p:spPr>
      </p:pic>
      <p:sp>
        <p:nvSpPr>
          <p:cNvPr id="189" name="Text 176"/>
          <p:cNvSpPr/>
          <p:nvPr/>
        </p:nvSpPr>
        <p:spPr>
          <a:xfrm>
            <a:off x="5059561" y="9183291"/>
            <a:ext cx="101346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Cache Management</a:t>
            </a:r>
            <a:endParaRPr lang="en-US" sz="788" dirty="0"/>
          </a:p>
        </p:txBody>
      </p:sp>
      <p:pic>
        <p:nvPicPr>
          <p:cNvPr id="19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72275" y="9204722"/>
            <a:ext cx="125016" cy="100013"/>
          </a:xfrm>
          <a:prstGeom prst="rect">
            <a:avLst/>
          </a:prstGeom>
        </p:spPr>
      </p:pic>
      <p:sp>
        <p:nvSpPr>
          <p:cNvPr id="191" name="Text 177"/>
          <p:cNvSpPr/>
          <p:nvPr/>
        </p:nvSpPr>
        <p:spPr>
          <a:xfrm>
            <a:off x="6954441" y="9183291"/>
            <a:ext cx="86835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Offline Detection</a:t>
            </a:r>
            <a:endParaRPr lang="en-US" sz="788" dirty="0"/>
          </a:p>
        </p:txBody>
      </p:sp>
      <p:sp>
        <p:nvSpPr>
          <p:cNvPr id="192" name="Shape 178"/>
          <p:cNvSpPr/>
          <p:nvPr/>
        </p:nvSpPr>
        <p:spPr>
          <a:xfrm>
            <a:off x="578644" y="9847659"/>
            <a:ext cx="1685925" cy="228600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93" name="Text 179"/>
          <p:cNvSpPr/>
          <p:nvPr/>
        </p:nvSpPr>
        <p:spPr>
          <a:xfrm>
            <a:off x="578644" y="9847659"/>
            <a:ext cx="1757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90%</a:t>
            </a:r>
            <a:endParaRPr lang="en-US" sz="1350" dirty="0"/>
          </a:p>
        </p:txBody>
      </p:sp>
      <p:sp>
        <p:nvSpPr>
          <p:cNvPr id="194" name="Text 180"/>
          <p:cNvSpPr/>
          <p:nvPr/>
        </p:nvSpPr>
        <p:spPr>
          <a:xfrm>
            <a:off x="578644" y="10076259"/>
            <a:ext cx="17573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Faster Repeat Visits</a:t>
            </a:r>
            <a:endParaRPr lang="en-US" sz="788" dirty="0"/>
          </a:p>
        </p:txBody>
      </p:sp>
      <p:sp>
        <p:nvSpPr>
          <p:cNvPr id="195" name="Shape 181"/>
          <p:cNvSpPr/>
          <p:nvPr/>
        </p:nvSpPr>
        <p:spPr>
          <a:xfrm>
            <a:off x="2678906" y="9847659"/>
            <a:ext cx="1685925" cy="228600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96" name="Text 182"/>
          <p:cNvSpPr/>
          <p:nvPr/>
        </p:nvSpPr>
        <p:spPr>
          <a:xfrm>
            <a:off x="2678906" y="9847659"/>
            <a:ext cx="1757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100%</a:t>
            </a:r>
            <a:endParaRPr lang="en-US" sz="1350" dirty="0"/>
          </a:p>
        </p:txBody>
      </p:sp>
      <p:sp>
        <p:nvSpPr>
          <p:cNvPr id="197" name="Text 183"/>
          <p:cNvSpPr/>
          <p:nvPr/>
        </p:nvSpPr>
        <p:spPr>
          <a:xfrm>
            <a:off x="2678906" y="10076259"/>
            <a:ext cx="17573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Offline Functionality</a:t>
            </a:r>
            <a:endParaRPr lang="en-US" sz="788" dirty="0"/>
          </a:p>
        </p:txBody>
      </p:sp>
      <p:sp>
        <p:nvSpPr>
          <p:cNvPr id="198" name="Shape 184"/>
          <p:cNvSpPr/>
          <p:nvPr/>
        </p:nvSpPr>
        <p:spPr>
          <a:xfrm>
            <a:off x="4779169" y="9847659"/>
            <a:ext cx="1685925" cy="228600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99" name="Text 185"/>
          <p:cNvSpPr/>
          <p:nvPr/>
        </p:nvSpPr>
        <p:spPr>
          <a:xfrm>
            <a:off x="4779169" y="9847659"/>
            <a:ext cx="1757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2MB</a:t>
            </a:r>
            <a:endParaRPr lang="en-US" sz="1350" dirty="0"/>
          </a:p>
        </p:txBody>
      </p:sp>
      <p:sp>
        <p:nvSpPr>
          <p:cNvPr id="200" name="Text 186"/>
          <p:cNvSpPr/>
          <p:nvPr/>
        </p:nvSpPr>
        <p:spPr>
          <a:xfrm>
            <a:off x="4779169" y="10076259"/>
            <a:ext cx="17573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Cache Size</a:t>
            </a:r>
            <a:endParaRPr lang="en-US" sz="788" dirty="0"/>
          </a:p>
        </p:txBody>
      </p:sp>
      <p:sp>
        <p:nvSpPr>
          <p:cNvPr id="201" name="Shape 187"/>
          <p:cNvSpPr/>
          <p:nvPr/>
        </p:nvSpPr>
        <p:spPr>
          <a:xfrm>
            <a:off x="6879431" y="9847659"/>
            <a:ext cx="1685925" cy="228600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202" name="Text 188"/>
          <p:cNvSpPr/>
          <p:nvPr/>
        </p:nvSpPr>
        <p:spPr>
          <a:xfrm>
            <a:off x="6879431" y="9847659"/>
            <a:ext cx="1757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0.5s</a:t>
            </a:r>
            <a:endParaRPr lang="en-US" sz="1350" dirty="0"/>
          </a:p>
        </p:txBody>
      </p:sp>
      <p:sp>
        <p:nvSpPr>
          <p:cNvPr id="203" name="Text 189"/>
          <p:cNvSpPr/>
          <p:nvPr/>
        </p:nvSpPr>
        <p:spPr>
          <a:xfrm>
            <a:off x="6879431" y="10076259"/>
            <a:ext cx="17573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Cache Response Time</a:t>
            </a:r>
            <a:endParaRPr lang="en-US" sz="78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8458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970461" y="394692"/>
            <a:ext cx="3203051" cy="466130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4" name="Text 1"/>
          <p:cNvSpPr/>
          <p:nvPr/>
        </p:nvSpPr>
        <p:spPr>
          <a:xfrm>
            <a:off x="2970461" y="394692"/>
            <a:ext cx="3274489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Caching Strategies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8301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Optimizing performance with intelligent caching approaches</a:t>
            </a:r>
            <a:endParaRPr lang="en-US" sz="1125" dirty="0"/>
          </a:p>
        </p:txBody>
      </p:sp>
      <p:sp>
        <p:nvSpPr>
          <p:cNvPr id="6" name="Shape 3"/>
          <p:cNvSpPr/>
          <p:nvPr/>
        </p:nvSpPr>
        <p:spPr>
          <a:xfrm>
            <a:off x="457200" y="1421606"/>
            <a:ext cx="2590781" cy="1500188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628775"/>
            <a:ext cx="125016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9391" y="1600200"/>
            <a:ext cx="15107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Cache-First Strategy</a:t>
            </a:r>
            <a:endParaRPr lang="en-US" sz="1125" dirty="0"/>
          </a:p>
        </p:txBody>
      </p:sp>
      <p:sp>
        <p:nvSpPr>
          <p:cNvPr id="9" name="Text 5"/>
          <p:cNvSpPr/>
          <p:nvPr/>
        </p:nvSpPr>
        <p:spPr>
          <a:xfrm>
            <a:off x="628650" y="1914525"/>
            <a:ext cx="23193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 static assets (HTML, CSS, JS, images)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221706"/>
            <a:ext cx="100013" cy="1000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85813" y="2200275"/>
            <a:ext cx="8621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Check cache first</a:t>
            </a:r>
            <a:endParaRPr lang="en-US" sz="788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2421731"/>
            <a:ext cx="100013" cy="1000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85813" y="2400300"/>
            <a:ext cx="98687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Fallback to network</a:t>
            </a:r>
            <a:endParaRPr lang="en-US" sz="788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2621756"/>
            <a:ext cx="100013" cy="10001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85813" y="2600325"/>
            <a:ext cx="110186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Best for static content</a:t>
            </a:r>
            <a:endParaRPr lang="en-US" sz="788" dirty="0"/>
          </a:p>
        </p:txBody>
      </p:sp>
      <p:sp>
        <p:nvSpPr>
          <p:cNvPr id="16" name="Shape 9"/>
          <p:cNvSpPr/>
          <p:nvPr/>
        </p:nvSpPr>
        <p:spPr>
          <a:xfrm>
            <a:off x="4239202" y="1343025"/>
            <a:ext cx="665569" cy="28575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0"/>
          <p:cNvSpPr/>
          <p:nvPr/>
        </p:nvSpPr>
        <p:spPr>
          <a:xfrm>
            <a:off x="4239202" y="1343025"/>
            <a:ext cx="737006" cy="285750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Request</a:t>
            </a:r>
            <a:endParaRPr lang="en-US" sz="9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7678" y="1743075"/>
            <a:ext cx="128588" cy="17145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4294510" y="2028825"/>
            <a:ext cx="554952" cy="28575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2"/>
          <p:cNvSpPr/>
          <p:nvPr/>
        </p:nvSpPr>
        <p:spPr>
          <a:xfrm>
            <a:off x="4294510" y="2028825"/>
            <a:ext cx="626390" cy="285750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Cache</a:t>
            </a:r>
            <a:endParaRPr lang="en-US" sz="9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7678" y="2428875"/>
            <a:ext cx="128588" cy="17145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4197874" y="2714625"/>
            <a:ext cx="748224" cy="2857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14"/>
          <p:cNvSpPr/>
          <p:nvPr/>
        </p:nvSpPr>
        <p:spPr>
          <a:xfrm>
            <a:off x="4197874" y="2714625"/>
            <a:ext cx="819662" cy="285750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Response</a:t>
            </a:r>
            <a:endParaRPr lang="en-US" sz="900" dirty="0"/>
          </a:p>
        </p:txBody>
      </p:sp>
      <p:sp>
        <p:nvSpPr>
          <p:cNvPr id="24" name="Shape 15"/>
          <p:cNvSpPr/>
          <p:nvPr/>
        </p:nvSpPr>
        <p:spPr>
          <a:xfrm>
            <a:off x="6095991" y="1600200"/>
            <a:ext cx="2590781" cy="11430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5" name="Text 16"/>
          <p:cNvSpPr/>
          <p:nvPr/>
        </p:nvSpPr>
        <p:spPr>
          <a:xfrm>
            <a:off x="6210291" y="1723430"/>
            <a:ext cx="38009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caches</a:t>
            </a:r>
            <a:endParaRPr lang="en-US" sz="675" dirty="0"/>
          </a:p>
        </p:txBody>
      </p:sp>
      <p:sp>
        <p:nvSpPr>
          <p:cNvPr id="26" name="Text 17"/>
          <p:cNvSpPr/>
          <p:nvPr/>
        </p:nvSpPr>
        <p:spPr>
          <a:xfrm>
            <a:off x="6518951" y="1723430"/>
            <a:ext cx="12289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675" dirty="0"/>
          </a:p>
        </p:txBody>
      </p:sp>
      <p:sp>
        <p:nvSpPr>
          <p:cNvPr id="27" name="Text 18"/>
          <p:cNvSpPr/>
          <p:nvPr/>
        </p:nvSpPr>
        <p:spPr>
          <a:xfrm>
            <a:off x="6570408" y="1723430"/>
            <a:ext cx="32866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match</a:t>
            </a:r>
            <a:endParaRPr lang="en-US" sz="675" dirty="0"/>
          </a:p>
        </p:txBody>
      </p:sp>
      <p:sp>
        <p:nvSpPr>
          <p:cNvPr id="28" name="Text 19"/>
          <p:cNvSpPr/>
          <p:nvPr/>
        </p:nvSpPr>
        <p:spPr>
          <a:xfrm>
            <a:off x="6827639" y="1723430"/>
            <a:ext cx="12289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675" dirty="0"/>
          </a:p>
        </p:txBody>
      </p:sp>
      <p:sp>
        <p:nvSpPr>
          <p:cNvPr id="29" name="Text 20"/>
          <p:cNvSpPr/>
          <p:nvPr/>
        </p:nvSpPr>
        <p:spPr>
          <a:xfrm>
            <a:off x="6879096" y="1723430"/>
            <a:ext cx="43155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request</a:t>
            </a:r>
            <a:endParaRPr lang="en-US" sz="675" dirty="0"/>
          </a:p>
        </p:txBody>
      </p:sp>
      <p:sp>
        <p:nvSpPr>
          <p:cNvPr id="30" name="Text 21"/>
          <p:cNvSpPr/>
          <p:nvPr/>
        </p:nvSpPr>
        <p:spPr>
          <a:xfrm>
            <a:off x="6210291" y="1723430"/>
            <a:ext cx="1151818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675" dirty="0"/>
          </a:p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.</a:t>
            </a:r>
            <a:endParaRPr lang="en-US" sz="675" dirty="0"/>
          </a:p>
        </p:txBody>
      </p:sp>
      <p:sp>
        <p:nvSpPr>
          <p:cNvPr id="31" name="Text 22"/>
          <p:cNvSpPr/>
          <p:nvPr/>
        </p:nvSpPr>
        <p:spPr>
          <a:xfrm>
            <a:off x="6364635" y="1837730"/>
            <a:ext cx="277211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then</a:t>
            </a:r>
            <a:endParaRPr lang="en-US" sz="675" dirty="0"/>
          </a:p>
        </p:txBody>
      </p:sp>
      <p:sp>
        <p:nvSpPr>
          <p:cNvPr id="32" name="Text 23"/>
          <p:cNvSpPr/>
          <p:nvPr/>
        </p:nvSpPr>
        <p:spPr>
          <a:xfrm>
            <a:off x="6570408" y="1837730"/>
            <a:ext cx="12289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675" dirty="0"/>
          </a:p>
        </p:txBody>
      </p:sp>
      <p:sp>
        <p:nvSpPr>
          <p:cNvPr id="33" name="Text 24"/>
          <p:cNvSpPr/>
          <p:nvPr/>
        </p:nvSpPr>
        <p:spPr>
          <a:xfrm>
            <a:off x="6621866" y="1837730"/>
            <a:ext cx="482984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response</a:t>
            </a:r>
            <a:endParaRPr lang="en-US" sz="675" dirty="0"/>
          </a:p>
        </p:txBody>
      </p:sp>
      <p:sp>
        <p:nvSpPr>
          <p:cNvPr id="34" name="Text 25"/>
          <p:cNvSpPr/>
          <p:nvPr/>
        </p:nvSpPr>
        <p:spPr>
          <a:xfrm>
            <a:off x="6210291" y="1837730"/>
            <a:ext cx="1151790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=&gt; {</a:t>
            </a:r>
            <a:endParaRPr lang="en-US" sz="675" dirty="0"/>
          </a:p>
        </p:txBody>
      </p:sp>
      <p:sp>
        <p:nvSpPr>
          <p:cNvPr id="35" name="Text 26"/>
          <p:cNvSpPr/>
          <p:nvPr/>
        </p:nvSpPr>
        <p:spPr>
          <a:xfrm>
            <a:off x="6416064" y="1952030"/>
            <a:ext cx="174324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if</a:t>
            </a:r>
            <a:endParaRPr lang="en-US" sz="675" dirty="0"/>
          </a:p>
        </p:txBody>
      </p:sp>
      <p:sp>
        <p:nvSpPr>
          <p:cNvPr id="36" name="Text 27"/>
          <p:cNvSpPr/>
          <p:nvPr/>
        </p:nvSpPr>
        <p:spPr>
          <a:xfrm>
            <a:off x="6518951" y="1952030"/>
            <a:ext cx="174324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675" dirty="0"/>
          </a:p>
        </p:txBody>
      </p:sp>
      <p:sp>
        <p:nvSpPr>
          <p:cNvPr id="37" name="Text 28"/>
          <p:cNvSpPr/>
          <p:nvPr/>
        </p:nvSpPr>
        <p:spPr>
          <a:xfrm>
            <a:off x="6621838" y="1952030"/>
            <a:ext cx="482984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response</a:t>
            </a:r>
            <a:endParaRPr lang="en-US" sz="675" dirty="0"/>
          </a:p>
        </p:txBody>
      </p:sp>
      <p:sp>
        <p:nvSpPr>
          <p:cNvPr id="38" name="Text 29"/>
          <p:cNvSpPr/>
          <p:nvPr/>
        </p:nvSpPr>
        <p:spPr>
          <a:xfrm>
            <a:off x="6210291" y="1952030"/>
            <a:ext cx="1048876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 {</a:t>
            </a:r>
            <a:endParaRPr lang="en-US" sz="675" dirty="0"/>
          </a:p>
        </p:txBody>
      </p:sp>
      <p:sp>
        <p:nvSpPr>
          <p:cNvPr id="39" name="Text 30"/>
          <p:cNvSpPr/>
          <p:nvPr/>
        </p:nvSpPr>
        <p:spPr>
          <a:xfrm>
            <a:off x="6518951" y="2066330"/>
            <a:ext cx="38009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</a:t>
            </a:r>
            <a:endParaRPr lang="en-US" sz="675" dirty="0"/>
          </a:p>
        </p:txBody>
      </p:sp>
      <p:sp>
        <p:nvSpPr>
          <p:cNvPr id="40" name="Text 31"/>
          <p:cNvSpPr/>
          <p:nvPr/>
        </p:nvSpPr>
        <p:spPr>
          <a:xfrm>
            <a:off x="6879068" y="2066330"/>
            <a:ext cx="482984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response</a:t>
            </a:r>
            <a:endParaRPr lang="en-US" sz="675" dirty="0"/>
          </a:p>
        </p:txBody>
      </p:sp>
      <p:sp>
        <p:nvSpPr>
          <p:cNvPr id="41" name="Text 32"/>
          <p:cNvSpPr/>
          <p:nvPr/>
        </p:nvSpPr>
        <p:spPr>
          <a:xfrm>
            <a:off x="6210291" y="2066330"/>
            <a:ext cx="1203220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;</a:t>
            </a:r>
            <a:endParaRPr lang="en-US" sz="675" dirty="0"/>
          </a:p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}</a:t>
            </a:r>
            <a:endParaRPr lang="en-US" sz="675" dirty="0"/>
          </a:p>
        </p:txBody>
      </p:sp>
      <p:sp>
        <p:nvSpPr>
          <p:cNvPr id="42" name="Text 33"/>
          <p:cNvSpPr/>
          <p:nvPr/>
        </p:nvSpPr>
        <p:spPr>
          <a:xfrm>
            <a:off x="6416064" y="2294930"/>
            <a:ext cx="38009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</a:t>
            </a:r>
            <a:endParaRPr lang="en-US" sz="675" dirty="0"/>
          </a:p>
        </p:txBody>
      </p:sp>
      <p:sp>
        <p:nvSpPr>
          <p:cNvPr id="43" name="Text 34"/>
          <p:cNvSpPr/>
          <p:nvPr/>
        </p:nvSpPr>
        <p:spPr>
          <a:xfrm>
            <a:off x="6776182" y="2294930"/>
            <a:ext cx="32866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fetch</a:t>
            </a:r>
            <a:endParaRPr lang="en-US" sz="675" dirty="0"/>
          </a:p>
        </p:txBody>
      </p:sp>
      <p:sp>
        <p:nvSpPr>
          <p:cNvPr id="44" name="Text 35"/>
          <p:cNvSpPr/>
          <p:nvPr/>
        </p:nvSpPr>
        <p:spPr>
          <a:xfrm>
            <a:off x="7033413" y="2294930"/>
            <a:ext cx="12289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675" dirty="0"/>
          </a:p>
        </p:txBody>
      </p:sp>
      <p:sp>
        <p:nvSpPr>
          <p:cNvPr id="45" name="Text 36"/>
          <p:cNvSpPr/>
          <p:nvPr/>
        </p:nvSpPr>
        <p:spPr>
          <a:xfrm>
            <a:off x="7084870" y="2294930"/>
            <a:ext cx="43155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request</a:t>
            </a:r>
            <a:endParaRPr lang="en-US" sz="675" dirty="0"/>
          </a:p>
        </p:txBody>
      </p:sp>
      <p:sp>
        <p:nvSpPr>
          <p:cNvPr id="46" name="Text 37"/>
          <p:cNvSpPr/>
          <p:nvPr/>
        </p:nvSpPr>
        <p:spPr>
          <a:xfrm>
            <a:off x="6210291" y="2294930"/>
            <a:ext cx="1409021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);</a:t>
            </a:r>
            <a:endParaRPr lang="en-US" sz="675" dirty="0"/>
          </a:p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});</a:t>
            </a:r>
            <a:endParaRPr lang="en-US" sz="675" dirty="0"/>
          </a:p>
        </p:txBody>
      </p:sp>
      <p:sp>
        <p:nvSpPr>
          <p:cNvPr id="47" name="Shape 38"/>
          <p:cNvSpPr/>
          <p:nvPr/>
        </p:nvSpPr>
        <p:spPr>
          <a:xfrm>
            <a:off x="457200" y="3307556"/>
            <a:ext cx="2590781" cy="1500188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" y="3514725"/>
            <a:ext cx="178594" cy="142875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892969" y="3486150"/>
            <a:ext cx="1708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Network-First Strategy</a:t>
            </a:r>
            <a:endParaRPr lang="en-US" sz="1125" dirty="0"/>
          </a:p>
        </p:txBody>
      </p:sp>
      <p:sp>
        <p:nvSpPr>
          <p:cNvPr id="50" name="Text 40"/>
          <p:cNvSpPr/>
          <p:nvPr/>
        </p:nvSpPr>
        <p:spPr>
          <a:xfrm>
            <a:off x="628650" y="3800475"/>
            <a:ext cx="23193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 dynamic content and API calls</a:t>
            </a:r>
            <a:endParaRPr lang="en-US" sz="900" dirty="0"/>
          </a:p>
        </p:txBody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" y="4107656"/>
            <a:ext cx="100013" cy="100013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785813" y="4086225"/>
            <a:ext cx="84006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Try network first</a:t>
            </a:r>
            <a:endParaRPr lang="en-US" sz="788" dirty="0"/>
          </a:p>
        </p:txBody>
      </p:sp>
      <p:pic>
        <p:nvPicPr>
          <p:cNvPr id="5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0" y="4307681"/>
            <a:ext cx="100013" cy="100013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785813" y="4286250"/>
            <a:ext cx="86905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Fallback to cache</a:t>
            </a:r>
            <a:endParaRPr lang="en-US" sz="788" dirty="0"/>
          </a:p>
        </p:txBody>
      </p:sp>
      <p:pic>
        <p:nvPicPr>
          <p:cNvPr id="5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650" y="4507706"/>
            <a:ext cx="100013" cy="100013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785813" y="4486275"/>
            <a:ext cx="108487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Fresh content priority</a:t>
            </a:r>
            <a:endParaRPr lang="en-US" sz="788" dirty="0"/>
          </a:p>
        </p:txBody>
      </p:sp>
      <p:sp>
        <p:nvSpPr>
          <p:cNvPr id="57" name="Shape 44"/>
          <p:cNvSpPr/>
          <p:nvPr/>
        </p:nvSpPr>
        <p:spPr>
          <a:xfrm>
            <a:off x="4239202" y="3228975"/>
            <a:ext cx="665569" cy="28575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45"/>
          <p:cNvSpPr/>
          <p:nvPr/>
        </p:nvSpPr>
        <p:spPr>
          <a:xfrm>
            <a:off x="4239202" y="3228975"/>
            <a:ext cx="737006" cy="285750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Request</a:t>
            </a:r>
            <a:endParaRPr lang="en-US" sz="900" dirty="0"/>
          </a:p>
        </p:txBody>
      </p:sp>
      <p:pic>
        <p:nvPicPr>
          <p:cNvPr id="5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07678" y="3629025"/>
            <a:ext cx="128588" cy="171450"/>
          </a:xfrm>
          <a:prstGeom prst="rect">
            <a:avLst/>
          </a:prstGeom>
        </p:spPr>
      </p:pic>
      <p:sp>
        <p:nvSpPr>
          <p:cNvPr id="60" name="Shape 46"/>
          <p:cNvSpPr/>
          <p:nvPr/>
        </p:nvSpPr>
        <p:spPr>
          <a:xfrm>
            <a:off x="4227761" y="3914775"/>
            <a:ext cx="688451" cy="2857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1" name="Text 47"/>
          <p:cNvSpPr/>
          <p:nvPr/>
        </p:nvSpPr>
        <p:spPr>
          <a:xfrm>
            <a:off x="4227761" y="3914775"/>
            <a:ext cx="759889" cy="285750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Network</a:t>
            </a:r>
            <a:endParaRPr lang="en-US" sz="900" dirty="0"/>
          </a:p>
        </p:txBody>
      </p:sp>
      <p:pic>
        <p:nvPicPr>
          <p:cNvPr id="6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07678" y="4314825"/>
            <a:ext cx="128588" cy="171450"/>
          </a:xfrm>
          <a:prstGeom prst="rect">
            <a:avLst/>
          </a:prstGeom>
        </p:spPr>
      </p:pic>
      <p:sp>
        <p:nvSpPr>
          <p:cNvPr id="63" name="Shape 48"/>
          <p:cNvSpPr/>
          <p:nvPr/>
        </p:nvSpPr>
        <p:spPr>
          <a:xfrm>
            <a:off x="4063287" y="4600575"/>
            <a:ext cx="1017398" cy="28575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4" name="Text 49"/>
          <p:cNvSpPr/>
          <p:nvPr/>
        </p:nvSpPr>
        <p:spPr>
          <a:xfrm>
            <a:off x="4063287" y="4600575"/>
            <a:ext cx="1088836" cy="285750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Cache Fallback</a:t>
            </a:r>
            <a:endParaRPr lang="en-US" sz="900" dirty="0"/>
          </a:p>
        </p:txBody>
      </p:sp>
      <p:sp>
        <p:nvSpPr>
          <p:cNvPr id="65" name="Shape 50"/>
          <p:cNvSpPr/>
          <p:nvPr/>
        </p:nvSpPr>
        <p:spPr>
          <a:xfrm>
            <a:off x="6095991" y="3429000"/>
            <a:ext cx="2590781" cy="12573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6" name="Text 51"/>
          <p:cNvSpPr/>
          <p:nvPr/>
        </p:nvSpPr>
        <p:spPr>
          <a:xfrm>
            <a:off x="6210291" y="3552230"/>
            <a:ext cx="32866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fetch</a:t>
            </a:r>
            <a:endParaRPr lang="en-US" sz="675" dirty="0"/>
          </a:p>
        </p:txBody>
      </p:sp>
      <p:sp>
        <p:nvSpPr>
          <p:cNvPr id="67" name="Text 52"/>
          <p:cNvSpPr/>
          <p:nvPr/>
        </p:nvSpPr>
        <p:spPr>
          <a:xfrm>
            <a:off x="6467522" y="3552230"/>
            <a:ext cx="12289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675" dirty="0"/>
          </a:p>
        </p:txBody>
      </p:sp>
      <p:sp>
        <p:nvSpPr>
          <p:cNvPr id="68" name="Text 53"/>
          <p:cNvSpPr/>
          <p:nvPr/>
        </p:nvSpPr>
        <p:spPr>
          <a:xfrm>
            <a:off x="6518979" y="3552230"/>
            <a:ext cx="43155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request</a:t>
            </a:r>
            <a:endParaRPr lang="en-US" sz="675" dirty="0"/>
          </a:p>
        </p:txBody>
      </p:sp>
      <p:sp>
        <p:nvSpPr>
          <p:cNvPr id="69" name="Text 54"/>
          <p:cNvSpPr/>
          <p:nvPr/>
        </p:nvSpPr>
        <p:spPr>
          <a:xfrm>
            <a:off x="6210291" y="3552230"/>
            <a:ext cx="791701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</a:t>
            </a:r>
            <a:endParaRPr lang="en-US" sz="675" dirty="0"/>
          </a:p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.</a:t>
            </a:r>
            <a:endParaRPr lang="en-US" sz="675" dirty="0"/>
          </a:p>
        </p:txBody>
      </p:sp>
      <p:sp>
        <p:nvSpPr>
          <p:cNvPr id="70" name="Text 55"/>
          <p:cNvSpPr/>
          <p:nvPr/>
        </p:nvSpPr>
        <p:spPr>
          <a:xfrm>
            <a:off x="6364635" y="3666530"/>
            <a:ext cx="277211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then</a:t>
            </a:r>
            <a:endParaRPr lang="en-US" sz="675" dirty="0"/>
          </a:p>
        </p:txBody>
      </p:sp>
      <p:sp>
        <p:nvSpPr>
          <p:cNvPr id="71" name="Text 56"/>
          <p:cNvSpPr/>
          <p:nvPr/>
        </p:nvSpPr>
        <p:spPr>
          <a:xfrm>
            <a:off x="6570408" y="3666530"/>
            <a:ext cx="12289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675" dirty="0"/>
          </a:p>
        </p:txBody>
      </p:sp>
      <p:sp>
        <p:nvSpPr>
          <p:cNvPr id="72" name="Text 57"/>
          <p:cNvSpPr/>
          <p:nvPr/>
        </p:nvSpPr>
        <p:spPr>
          <a:xfrm>
            <a:off x="6621866" y="3666530"/>
            <a:ext cx="482984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response</a:t>
            </a:r>
            <a:endParaRPr lang="en-US" sz="675" dirty="0"/>
          </a:p>
        </p:txBody>
      </p:sp>
      <p:sp>
        <p:nvSpPr>
          <p:cNvPr id="73" name="Text 58"/>
          <p:cNvSpPr/>
          <p:nvPr/>
        </p:nvSpPr>
        <p:spPr>
          <a:xfrm>
            <a:off x="6210291" y="3666530"/>
            <a:ext cx="1151790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=&gt; {</a:t>
            </a:r>
            <a:endParaRPr lang="en-US" sz="675" dirty="0"/>
          </a:p>
        </p:txBody>
      </p:sp>
      <p:sp>
        <p:nvSpPr>
          <p:cNvPr id="74" name="Text 59"/>
          <p:cNvSpPr/>
          <p:nvPr/>
        </p:nvSpPr>
        <p:spPr>
          <a:xfrm>
            <a:off x="6416064" y="3780830"/>
            <a:ext cx="32866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cache</a:t>
            </a:r>
            <a:endParaRPr lang="en-US" sz="675" dirty="0"/>
          </a:p>
        </p:txBody>
      </p:sp>
      <p:sp>
        <p:nvSpPr>
          <p:cNvPr id="75" name="Text 60"/>
          <p:cNvSpPr/>
          <p:nvPr/>
        </p:nvSpPr>
        <p:spPr>
          <a:xfrm>
            <a:off x="6673295" y="3780830"/>
            <a:ext cx="12289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675" dirty="0"/>
          </a:p>
        </p:txBody>
      </p:sp>
      <p:sp>
        <p:nvSpPr>
          <p:cNvPr id="76" name="Text 61"/>
          <p:cNvSpPr/>
          <p:nvPr/>
        </p:nvSpPr>
        <p:spPr>
          <a:xfrm>
            <a:off x="6724752" y="3780830"/>
            <a:ext cx="225782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put</a:t>
            </a:r>
            <a:endParaRPr lang="en-US" sz="675" dirty="0"/>
          </a:p>
        </p:txBody>
      </p:sp>
      <p:sp>
        <p:nvSpPr>
          <p:cNvPr id="77" name="Text 62"/>
          <p:cNvSpPr/>
          <p:nvPr/>
        </p:nvSpPr>
        <p:spPr>
          <a:xfrm>
            <a:off x="6879096" y="3780830"/>
            <a:ext cx="12289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675" dirty="0"/>
          </a:p>
        </p:txBody>
      </p:sp>
      <p:sp>
        <p:nvSpPr>
          <p:cNvPr id="78" name="Text 63"/>
          <p:cNvSpPr/>
          <p:nvPr/>
        </p:nvSpPr>
        <p:spPr>
          <a:xfrm>
            <a:off x="6930554" y="3780830"/>
            <a:ext cx="43155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request</a:t>
            </a:r>
            <a:endParaRPr lang="en-US" sz="675" dirty="0"/>
          </a:p>
        </p:txBody>
      </p:sp>
      <p:sp>
        <p:nvSpPr>
          <p:cNvPr id="79" name="Text 64"/>
          <p:cNvSpPr/>
          <p:nvPr/>
        </p:nvSpPr>
        <p:spPr>
          <a:xfrm>
            <a:off x="7290671" y="3780830"/>
            <a:ext cx="174324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,</a:t>
            </a:r>
            <a:endParaRPr lang="en-US" sz="675" dirty="0"/>
          </a:p>
        </p:txBody>
      </p:sp>
      <p:sp>
        <p:nvSpPr>
          <p:cNvPr id="80" name="Text 65"/>
          <p:cNvSpPr/>
          <p:nvPr/>
        </p:nvSpPr>
        <p:spPr>
          <a:xfrm>
            <a:off x="7393558" y="3780830"/>
            <a:ext cx="482984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response</a:t>
            </a:r>
            <a:endParaRPr lang="en-US" sz="675" dirty="0"/>
          </a:p>
        </p:txBody>
      </p:sp>
      <p:sp>
        <p:nvSpPr>
          <p:cNvPr id="81" name="Text 66"/>
          <p:cNvSpPr/>
          <p:nvPr/>
        </p:nvSpPr>
        <p:spPr>
          <a:xfrm>
            <a:off x="7805105" y="3780830"/>
            <a:ext cx="12289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675" dirty="0"/>
          </a:p>
        </p:txBody>
      </p:sp>
      <p:sp>
        <p:nvSpPr>
          <p:cNvPr id="82" name="Text 67"/>
          <p:cNvSpPr/>
          <p:nvPr/>
        </p:nvSpPr>
        <p:spPr>
          <a:xfrm>
            <a:off x="7856562" y="3780830"/>
            <a:ext cx="32866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clone</a:t>
            </a:r>
            <a:endParaRPr lang="en-US" sz="675" dirty="0"/>
          </a:p>
        </p:txBody>
      </p:sp>
      <p:sp>
        <p:nvSpPr>
          <p:cNvPr id="83" name="Text 68"/>
          <p:cNvSpPr/>
          <p:nvPr/>
        </p:nvSpPr>
        <p:spPr>
          <a:xfrm>
            <a:off x="6210291" y="3780830"/>
            <a:ext cx="2180713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());</a:t>
            </a:r>
            <a:endParaRPr lang="en-US" sz="675" dirty="0"/>
          </a:p>
        </p:txBody>
      </p:sp>
      <p:sp>
        <p:nvSpPr>
          <p:cNvPr id="84" name="Text 69"/>
          <p:cNvSpPr/>
          <p:nvPr/>
        </p:nvSpPr>
        <p:spPr>
          <a:xfrm>
            <a:off x="6416064" y="3895130"/>
            <a:ext cx="38009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</a:t>
            </a:r>
            <a:endParaRPr lang="en-US" sz="675" dirty="0"/>
          </a:p>
        </p:txBody>
      </p:sp>
      <p:sp>
        <p:nvSpPr>
          <p:cNvPr id="85" name="Text 70"/>
          <p:cNvSpPr/>
          <p:nvPr/>
        </p:nvSpPr>
        <p:spPr>
          <a:xfrm>
            <a:off x="6776182" y="3895130"/>
            <a:ext cx="482984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response</a:t>
            </a:r>
            <a:endParaRPr lang="en-US" sz="675" dirty="0"/>
          </a:p>
        </p:txBody>
      </p:sp>
      <p:sp>
        <p:nvSpPr>
          <p:cNvPr id="86" name="Text 71"/>
          <p:cNvSpPr/>
          <p:nvPr/>
        </p:nvSpPr>
        <p:spPr>
          <a:xfrm>
            <a:off x="6210291" y="3895130"/>
            <a:ext cx="1100333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;</a:t>
            </a:r>
            <a:endParaRPr lang="en-US" sz="675" dirty="0"/>
          </a:p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})</a:t>
            </a:r>
            <a:endParaRPr lang="en-US" sz="675" dirty="0"/>
          </a:p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.</a:t>
            </a:r>
            <a:endParaRPr lang="en-US" sz="675" dirty="0"/>
          </a:p>
        </p:txBody>
      </p:sp>
      <p:sp>
        <p:nvSpPr>
          <p:cNvPr id="87" name="Text 72"/>
          <p:cNvSpPr/>
          <p:nvPr/>
        </p:nvSpPr>
        <p:spPr>
          <a:xfrm>
            <a:off x="6364635" y="4123730"/>
            <a:ext cx="32866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catch</a:t>
            </a:r>
            <a:endParaRPr lang="en-US" sz="675" dirty="0"/>
          </a:p>
        </p:txBody>
      </p:sp>
      <p:sp>
        <p:nvSpPr>
          <p:cNvPr id="88" name="Text 73"/>
          <p:cNvSpPr/>
          <p:nvPr/>
        </p:nvSpPr>
        <p:spPr>
          <a:xfrm>
            <a:off x="6210291" y="4123730"/>
            <a:ext cx="894559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(() =&gt; {</a:t>
            </a:r>
            <a:endParaRPr lang="en-US" sz="675" dirty="0"/>
          </a:p>
        </p:txBody>
      </p:sp>
      <p:sp>
        <p:nvSpPr>
          <p:cNvPr id="89" name="Text 74"/>
          <p:cNvSpPr/>
          <p:nvPr/>
        </p:nvSpPr>
        <p:spPr>
          <a:xfrm>
            <a:off x="6416064" y="4238030"/>
            <a:ext cx="38009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return</a:t>
            </a:r>
            <a:endParaRPr lang="en-US" sz="675" dirty="0"/>
          </a:p>
        </p:txBody>
      </p:sp>
      <p:sp>
        <p:nvSpPr>
          <p:cNvPr id="90" name="Text 75"/>
          <p:cNvSpPr/>
          <p:nvPr/>
        </p:nvSpPr>
        <p:spPr>
          <a:xfrm>
            <a:off x="6776182" y="4238030"/>
            <a:ext cx="38009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60A5FA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caches</a:t>
            </a:r>
            <a:endParaRPr lang="en-US" sz="675" dirty="0"/>
          </a:p>
        </p:txBody>
      </p:sp>
      <p:sp>
        <p:nvSpPr>
          <p:cNvPr id="91" name="Text 76"/>
          <p:cNvSpPr/>
          <p:nvPr/>
        </p:nvSpPr>
        <p:spPr>
          <a:xfrm>
            <a:off x="7084842" y="4238030"/>
            <a:ext cx="12289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.</a:t>
            </a:r>
            <a:endParaRPr lang="en-US" sz="675" dirty="0"/>
          </a:p>
        </p:txBody>
      </p:sp>
      <p:sp>
        <p:nvSpPr>
          <p:cNvPr id="92" name="Text 77"/>
          <p:cNvSpPr/>
          <p:nvPr/>
        </p:nvSpPr>
        <p:spPr>
          <a:xfrm>
            <a:off x="7136299" y="4238030"/>
            <a:ext cx="32866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FBBF2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match</a:t>
            </a:r>
            <a:endParaRPr lang="en-US" sz="675" dirty="0"/>
          </a:p>
        </p:txBody>
      </p:sp>
      <p:sp>
        <p:nvSpPr>
          <p:cNvPr id="93" name="Text 78"/>
          <p:cNvSpPr/>
          <p:nvPr/>
        </p:nvSpPr>
        <p:spPr>
          <a:xfrm>
            <a:off x="7393530" y="4238030"/>
            <a:ext cx="12289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</a:t>
            </a:r>
            <a:endParaRPr lang="en-US" sz="675" dirty="0"/>
          </a:p>
        </p:txBody>
      </p:sp>
      <p:sp>
        <p:nvSpPr>
          <p:cNvPr id="94" name="Text 79"/>
          <p:cNvSpPr/>
          <p:nvPr/>
        </p:nvSpPr>
        <p:spPr>
          <a:xfrm>
            <a:off x="7444987" y="4238030"/>
            <a:ext cx="431555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request</a:t>
            </a:r>
            <a:endParaRPr lang="en-US" sz="675" dirty="0"/>
          </a:p>
        </p:txBody>
      </p:sp>
      <p:sp>
        <p:nvSpPr>
          <p:cNvPr id="95" name="Text 80"/>
          <p:cNvSpPr/>
          <p:nvPr/>
        </p:nvSpPr>
        <p:spPr>
          <a:xfrm>
            <a:off x="6210291" y="4238030"/>
            <a:ext cx="1769139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);</a:t>
            </a:r>
            <a:endParaRPr lang="en-US" sz="675" dirty="0"/>
          </a:p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});</a:t>
            </a:r>
            <a:endParaRPr lang="en-US" sz="675" dirty="0"/>
          </a:p>
        </p:txBody>
      </p:sp>
      <p:sp>
        <p:nvSpPr>
          <p:cNvPr id="96" name="Shape 81"/>
          <p:cNvSpPr/>
          <p:nvPr/>
        </p:nvSpPr>
        <p:spPr>
          <a:xfrm>
            <a:off x="457200" y="5114925"/>
            <a:ext cx="4000500" cy="2100263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pic>
        <p:nvPicPr>
          <p:cNvPr id="9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8650" y="5314950"/>
            <a:ext cx="142875" cy="142875"/>
          </a:xfrm>
          <a:prstGeom prst="rect">
            <a:avLst/>
          </a:prstGeom>
        </p:spPr>
      </p:pic>
      <p:sp>
        <p:nvSpPr>
          <p:cNvPr id="98" name="Text 82"/>
          <p:cNvSpPr/>
          <p:nvPr/>
        </p:nvSpPr>
        <p:spPr>
          <a:xfrm>
            <a:off x="857250" y="5286375"/>
            <a:ext cx="14729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Cache Organization</a:t>
            </a:r>
            <a:endParaRPr lang="en-US" sz="1125" dirty="0"/>
          </a:p>
        </p:txBody>
      </p:sp>
      <p:sp>
        <p:nvSpPr>
          <p:cNvPr id="99" name="Shape 83"/>
          <p:cNvSpPr/>
          <p:nvPr/>
        </p:nvSpPr>
        <p:spPr>
          <a:xfrm>
            <a:off x="628650" y="5600700"/>
            <a:ext cx="3657600" cy="3429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00" name="Text 84"/>
          <p:cNvSpPr/>
          <p:nvPr/>
        </p:nvSpPr>
        <p:spPr>
          <a:xfrm>
            <a:off x="714375" y="5686425"/>
            <a:ext cx="7212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Static Cache</a:t>
            </a:r>
            <a:endParaRPr lang="en-US" sz="900" dirty="0"/>
          </a:p>
        </p:txBody>
      </p:sp>
      <p:sp>
        <p:nvSpPr>
          <p:cNvPr id="101" name="Text 85"/>
          <p:cNvSpPr/>
          <p:nvPr/>
        </p:nvSpPr>
        <p:spPr>
          <a:xfrm>
            <a:off x="3566824" y="5700713"/>
            <a:ext cx="7051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60A5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HTML, CSS, JS</a:t>
            </a:r>
            <a:endParaRPr lang="en-US" sz="788" dirty="0"/>
          </a:p>
        </p:txBody>
      </p:sp>
      <p:sp>
        <p:nvSpPr>
          <p:cNvPr id="102" name="Shape 86"/>
          <p:cNvSpPr/>
          <p:nvPr/>
        </p:nvSpPr>
        <p:spPr>
          <a:xfrm>
            <a:off x="628650" y="6029325"/>
            <a:ext cx="3657600" cy="3429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03" name="Text 87"/>
          <p:cNvSpPr/>
          <p:nvPr/>
        </p:nvSpPr>
        <p:spPr>
          <a:xfrm>
            <a:off x="714375" y="6115050"/>
            <a:ext cx="89520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Dynamic Cache</a:t>
            </a:r>
            <a:endParaRPr lang="en-US" sz="900" dirty="0"/>
          </a:p>
        </p:txBody>
      </p:sp>
      <p:sp>
        <p:nvSpPr>
          <p:cNvPr id="104" name="Text 88"/>
          <p:cNvSpPr/>
          <p:nvPr/>
        </p:nvSpPr>
        <p:spPr>
          <a:xfrm>
            <a:off x="3134376" y="6129338"/>
            <a:ext cx="113758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Images, API responses</a:t>
            </a:r>
            <a:endParaRPr lang="en-US" sz="788" dirty="0"/>
          </a:p>
        </p:txBody>
      </p:sp>
      <p:sp>
        <p:nvSpPr>
          <p:cNvPr id="105" name="Shape 89"/>
          <p:cNvSpPr/>
          <p:nvPr/>
        </p:nvSpPr>
        <p:spPr>
          <a:xfrm>
            <a:off x="628650" y="6457950"/>
            <a:ext cx="3657600" cy="3429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06" name="Text 90"/>
          <p:cNvSpPr/>
          <p:nvPr/>
        </p:nvSpPr>
        <p:spPr>
          <a:xfrm>
            <a:off x="714375" y="6543675"/>
            <a:ext cx="88194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Runtime Cache</a:t>
            </a:r>
            <a:endParaRPr lang="en-US" sz="900" dirty="0"/>
          </a:p>
        </p:txBody>
      </p:sp>
      <p:sp>
        <p:nvSpPr>
          <p:cNvPr id="107" name="Text 91"/>
          <p:cNvSpPr/>
          <p:nvPr/>
        </p:nvSpPr>
        <p:spPr>
          <a:xfrm>
            <a:off x="3077282" y="6557963"/>
            <a:ext cx="119468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A78B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User-generated content</a:t>
            </a:r>
            <a:endParaRPr lang="en-US" sz="788" dirty="0"/>
          </a:p>
        </p:txBody>
      </p:sp>
      <p:sp>
        <p:nvSpPr>
          <p:cNvPr id="108" name="Shape 92"/>
          <p:cNvSpPr/>
          <p:nvPr/>
        </p:nvSpPr>
        <p:spPr>
          <a:xfrm>
            <a:off x="4686300" y="5114925"/>
            <a:ext cx="4000500" cy="2100263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pic>
        <p:nvPicPr>
          <p:cNvPr id="10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57750" y="5314950"/>
            <a:ext cx="160734" cy="142875"/>
          </a:xfrm>
          <a:prstGeom prst="rect">
            <a:avLst/>
          </a:prstGeom>
        </p:spPr>
      </p:pic>
      <p:sp>
        <p:nvSpPr>
          <p:cNvPr id="110" name="Text 93"/>
          <p:cNvSpPr/>
          <p:nvPr/>
        </p:nvSpPr>
        <p:spPr>
          <a:xfrm>
            <a:off x="5104209" y="5286375"/>
            <a:ext cx="14636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Cache Performance</a:t>
            </a:r>
            <a:endParaRPr lang="en-US" sz="1125" dirty="0"/>
          </a:p>
        </p:txBody>
      </p:sp>
      <p:pic>
        <p:nvPicPr>
          <p:cNvPr id="11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57750" y="5600700"/>
            <a:ext cx="3643313" cy="1428750"/>
          </a:xfrm>
          <a:prstGeom prst="rect">
            <a:avLst/>
          </a:prstGeom>
        </p:spPr>
      </p:pic>
      <p:sp>
        <p:nvSpPr>
          <p:cNvPr id="112" name="Shape 94"/>
          <p:cNvSpPr/>
          <p:nvPr/>
        </p:nvSpPr>
        <p:spPr>
          <a:xfrm>
            <a:off x="578644" y="7550944"/>
            <a:ext cx="1311576" cy="200025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13" name="Text 95"/>
          <p:cNvSpPr/>
          <p:nvPr/>
        </p:nvSpPr>
        <p:spPr>
          <a:xfrm>
            <a:off x="578644" y="7550944"/>
            <a:ext cx="13830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2MB</a:t>
            </a:r>
            <a:endParaRPr lang="en-US" sz="1125" dirty="0"/>
          </a:p>
        </p:txBody>
      </p:sp>
      <p:sp>
        <p:nvSpPr>
          <p:cNvPr id="114" name="Text 96"/>
          <p:cNvSpPr/>
          <p:nvPr/>
        </p:nvSpPr>
        <p:spPr>
          <a:xfrm>
            <a:off x="578644" y="7750969"/>
            <a:ext cx="13830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Total Cache Size</a:t>
            </a:r>
            <a:endParaRPr lang="en-US" sz="675" dirty="0"/>
          </a:p>
        </p:txBody>
      </p:sp>
      <p:sp>
        <p:nvSpPr>
          <p:cNvPr id="115" name="Shape 97"/>
          <p:cNvSpPr/>
          <p:nvPr/>
        </p:nvSpPr>
        <p:spPr>
          <a:xfrm>
            <a:off x="2247407" y="7550944"/>
            <a:ext cx="1311604" cy="200025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16" name="Text 98"/>
          <p:cNvSpPr/>
          <p:nvPr/>
        </p:nvSpPr>
        <p:spPr>
          <a:xfrm>
            <a:off x="2247407" y="7550944"/>
            <a:ext cx="13830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95%</a:t>
            </a:r>
            <a:endParaRPr lang="en-US" sz="1125" dirty="0"/>
          </a:p>
        </p:txBody>
      </p:sp>
      <p:sp>
        <p:nvSpPr>
          <p:cNvPr id="117" name="Text 99"/>
          <p:cNvSpPr/>
          <p:nvPr/>
        </p:nvSpPr>
        <p:spPr>
          <a:xfrm>
            <a:off x="2247407" y="7750969"/>
            <a:ext cx="13830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Cache Hit Rate</a:t>
            </a:r>
            <a:endParaRPr lang="en-US" sz="675" dirty="0"/>
          </a:p>
        </p:txBody>
      </p:sp>
      <p:sp>
        <p:nvSpPr>
          <p:cNvPr id="118" name="Shape 100"/>
          <p:cNvSpPr/>
          <p:nvPr/>
        </p:nvSpPr>
        <p:spPr>
          <a:xfrm>
            <a:off x="3916198" y="7550944"/>
            <a:ext cx="1311576" cy="200025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19" name="Text 101"/>
          <p:cNvSpPr/>
          <p:nvPr/>
        </p:nvSpPr>
        <p:spPr>
          <a:xfrm>
            <a:off x="3916198" y="7550944"/>
            <a:ext cx="13830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0.1s</a:t>
            </a:r>
            <a:endParaRPr lang="en-US" sz="1125" dirty="0"/>
          </a:p>
        </p:txBody>
      </p:sp>
      <p:sp>
        <p:nvSpPr>
          <p:cNvPr id="120" name="Text 102"/>
          <p:cNvSpPr/>
          <p:nvPr/>
        </p:nvSpPr>
        <p:spPr>
          <a:xfrm>
            <a:off x="3916198" y="7750969"/>
            <a:ext cx="13830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Cache Response</a:t>
            </a:r>
            <a:endParaRPr lang="en-US" sz="675" dirty="0"/>
          </a:p>
        </p:txBody>
      </p:sp>
      <p:sp>
        <p:nvSpPr>
          <p:cNvPr id="121" name="Shape 103"/>
          <p:cNvSpPr/>
          <p:nvPr/>
        </p:nvSpPr>
        <p:spPr>
          <a:xfrm>
            <a:off x="5584961" y="7550944"/>
            <a:ext cx="1311604" cy="200025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22" name="Text 104"/>
          <p:cNvSpPr/>
          <p:nvPr/>
        </p:nvSpPr>
        <p:spPr>
          <a:xfrm>
            <a:off x="5584961" y="7550944"/>
            <a:ext cx="13830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</a:t>
            </a:r>
            <a:endParaRPr lang="en-US" sz="1125" dirty="0"/>
          </a:p>
        </p:txBody>
      </p:sp>
      <p:sp>
        <p:nvSpPr>
          <p:cNvPr id="123" name="Text 105"/>
          <p:cNvSpPr/>
          <p:nvPr/>
        </p:nvSpPr>
        <p:spPr>
          <a:xfrm>
            <a:off x="5584961" y="7750969"/>
            <a:ext cx="13830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Cached Files</a:t>
            </a:r>
            <a:endParaRPr lang="en-US" sz="675" dirty="0"/>
          </a:p>
        </p:txBody>
      </p:sp>
      <p:sp>
        <p:nvSpPr>
          <p:cNvPr id="124" name="Shape 106"/>
          <p:cNvSpPr/>
          <p:nvPr/>
        </p:nvSpPr>
        <p:spPr>
          <a:xfrm>
            <a:off x="7253753" y="7550944"/>
            <a:ext cx="1311604" cy="200025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25" name="Text 107"/>
          <p:cNvSpPr/>
          <p:nvPr/>
        </p:nvSpPr>
        <p:spPr>
          <a:xfrm>
            <a:off x="7253753" y="7550944"/>
            <a:ext cx="13830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100%</a:t>
            </a:r>
            <a:endParaRPr lang="en-US" sz="1125" dirty="0"/>
          </a:p>
        </p:txBody>
      </p:sp>
      <p:sp>
        <p:nvSpPr>
          <p:cNvPr id="126" name="Text 108"/>
          <p:cNvSpPr/>
          <p:nvPr/>
        </p:nvSpPr>
        <p:spPr>
          <a:xfrm>
            <a:off x="7253753" y="7750969"/>
            <a:ext cx="13830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Offline Coverage</a:t>
            </a:r>
            <a:endParaRPr lang="en-US" sz="6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8458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001156" y="394692"/>
            <a:ext cx="3141659" cy="466130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4" name="Text 1"/>
          <p:cNvSpPr/>
          <p:nvPr/>
        </p:nvSpPr>
        <p:spPr>
          <a:xfrm>
            <a:off x="3001156" y="394692"/>
            <a:ext cx="3213097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Offline Experience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8301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Graceful degradation and seamless offline functionality</a:t>
            </a:r>
            <a:endParaRPr lang="en-US" sz="1125" dirty="0"/>
          </a:p>
        </p:txBody>
      </p:sp>
      <p:sp>
        <p:nvSpPr>
          <p:cNvPr id="6" name="Text 3"/>
          <p:cNvSpPr/>
          <p:nvPr/>
        </p:nvSpPr>
        <p:spPr>
          <a:xfrm>
            <a:off x="457200" y="1343025"/>
            <a:ext cx="40147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Connection States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57200" y="1743075"/>
            <a:ext cx="3943350" cy="1414463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8650" y="1971675"/>
            <a:ext cx="85725" cy="85725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771525" y="1914525"/>
            <a:ext cx="97969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Online Mode</a:t>
            </a:r>
            <a:endParaRPr lang="en-US" sz="1125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250281"/>
            <a:ext cx="100013" cy="10001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5813" y="2228850"/>
            <a:ext cx="12893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Fresh content from server</a:t>
            </a:r>
            <a:endParaRPr lang="en-US" sz="788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450306"/>
            <a:ext cx="100013" cy="10001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85813" y="2428875"/>
            <a:ext cx="104535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game data</a:t>
            </a:r>
            <a:endParaRPr lang="en-US" sz="788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2650331"/>
            <a:ext cx="100013" cy="10001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85813" y="2628900"/>
            <a:ext cx="12883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Full functionality available</a:t>
            </a:r>
            <a:endParaRPr lang="en-US" sz="788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2850356"/>
            <a:ext cx="100013" cy="10001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85813" y="2828925"/>
            <a:ext cx="13441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Background cache updates</a:t>
            </a:r>
            <a:endParaRPr lang="en-US" sz="788" dirty="0"/>
          </a:p>
        </p:txBody>
      </p:sp>
      <p:sp>
        <p:nvSpPr>
          <p:cNvPr id="18" name="Shape 11"/>
          <p:cNvSpPr/>
          <p:nvPr/>
        </p:nvSpPr>
        <p:spPr>
          <a:xfrm>
            <a:off x="457200" y="3314700"/>
            <a:ext cx="3943350" cy="1414463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628650" y="3543300"/>
            <a:ext cx="85725" cy="85725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3"/>
          <p:cNvSpPr/>
          <p:nvPr/>
        </p:nvSpPr>
        <p:spPr>
          <a:xfrm>
            <a:off x="771525" y="3486150"/>
            <a:ext cx="125174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Slow Connection</a:t>
            </a:r>
            <a:endParaRPr lang="en-US" sz="1125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3821906"/>
            <a:ext cx="100013" cy="10001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85813" y="3800475"/>
            <a:ext cx="14142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Cache-first for faster loading</a:t>
            </a:r>
            <a:endParaRPr lang="en-US" sz="788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" y="4021931"/>
            <a:ext cx="100013" cy="100013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785813" y="4000500"/>
            <a:ext cx="13162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Progressive image loading</a:t>
            </a:r>
            <a:endParaRPr lang="en-US" sz="788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" y="4221956"/>
            <a:ext cx="100013" cy="100013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785813" y="4200525"/>
            <a:ext cx="13268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Reduced network requests</a:t>
            </a:r>
            <a:endParaRPr lang="en-US" sz="788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" y="4421981"/>
            <a:ext cx="100013" cy="100013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785813" y="4400550"/>
            <a:ext cx="12917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Background sync queuing</a:t>
            </a:r>
            <a:endParaRPr lang="en-US" sz="788" dirty="0"/>
          </a:p>
        </p:txBody>
      </p:sp>
      <p:sp>
        <p:nvSpPr>
          <p:cNvPr id="29" name="Shape 18"/>
          <p:cNvSpPr/>
          <p:nvPr/>
        </p:nvSpPr>
        <p:spPr>
          <a:xfrm>
            <a:off x="457200" y="4886325"/>
            <a:ext cx="3943350" cy="1414463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sp>
        <p:nvSpPr>
          <p:cNvPr id="30" name="Shape 19"/>
          <p:cNvSpPr/>
          <p:nvPr/>
        </p:nvSpPr>
        <p:spPr>
          <a:xfrm>
            <a:off x="628650" y="5114925"/>
            <a:ext cx="85725" cy="85725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1" name="Text 20"/>
          <p:cNvSpPr/>
          <p:nvPr/>
        </p:nvSpPr>
        <p:spPr>
          <a:xfrm>
            <a:off x="771525" y="5057775"/>
            <a:ext cx="99641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Offline Mode</a:t>
            </a:r>
            <a:endParaRPr lang="en-US" sz="1125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0" y="5393531"/>
            <a:ext cx="87511" cy="100013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773311" y="5372100"/>
            <a:ext cx="103037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Cached content only</a:t>
            </a:r>
            <a:endParaRPr lang="en-US" sz="788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650" y="5593556"/>
            <a:ext cx="87511" cy="100013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773311" y="5572125"/>
            <a:ext cx="111649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Browse cached games</a:t>
            </a:r>
            <a:endParaRPr lang="en-US" sz="788" dirty="0"/>
          </a:p>
        </p:txBody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650" y="5793581"/>
            <a:ext cx="87511" cy="100013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773311" y="5772150"/>
            <a:ext cx="99487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Offline notifications</a:t>
            </a:r>
            <a:endParaRPr lang="en-US" sz="788" dirty="0"/>
          </a:p>
        </p:txBody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0" y="5993606"/>
            <a:ext cx="87511" cy="100013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773311" y="5972175"/>
            <a:ext cx="98165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Queue user actions</a:t>
            </a:r>
            <a:endParaRPr lang="en-US" sz="788" dirty="0"/>
          </a:p>
        </p:txBody>
      </p:sp>
      <p:sp>
        <p:nvSpPr>
          <p:cNvPr id="40" name="Text 25"/>
          <p:cNvSpPr/>
          <p:nvPr/>
        </p:nvSpPr>
        <p:spPr>
          <a:xfrm>
            <a:off x="4743450" y="1343025"/>
            <a:ext cx="40147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Offline Features</a:t>
            </a:r>
            <a:endParaRPr lang="en-US" sz="1350" dirty="0"/>
          </a:p>
        </p:txBody>
      </p:sp>
      <p:sp>
        <p:nvSpPr>
          <p:cNvPr id="41" name="Shape 26"/>
          <p:cNvSpPr/>
          <p:nvPr/>
        </p:nvSpPr>
        <p:spPr>
          <a:xfrm>
            <a:off x="4743450" y="1743075"/>
            <a:ext cx="3943350" cy="1757363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pic>
        <p:nvPicPr>
          <p:cNvPr id="4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14900" y="1950244"/>
            <a:ext cx="144661" cy="128588"/>
          </a:xfrm>
          <a:prstGeom prst="rect">
            <a:avLst/>
          </a:prstGeom>
        </p:spPr>
      </p:pic>
      <p:sp>
        <p:nvSpPr>
          <p:cNvPr id="43" name="Text 27"/>
          <p:cNvSpPr/>
          <p:nvPr/>
        </p:nvSpPr>
        <p:spPr>
          <a:xfrm>
            <a:off x="5145286" y="1914525"/>
            <a:ext cx="122127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Content Browsing</a:t>
            </a:r>
            <a:endParaRPr lang="en-US" sz="1013" dirty="0"/>
          </a:p>
        </p:txBody>
      </p:sp>
      <p:sp>
        <p:nvSpPr>
          <p:cNvPr id="44" name="Shape 28"/>
          <p:cNvSpPr/>
          <p:nvPr/>
        </p:nvSpPr>
        <p:spPr>
          <a:xfrm>
            <a:off x="4914900" y="2228850"/>
            <a:ext cx="3600450" cy="6858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45" name="Shape 29"/>
          <p:cNvSpPr/>
          <p:nvPr/>
        </p:nvSpPr>
        <p:spPr>
          <a:xfrm>
            <a:off x="5029200" y="2343150"/>
            <a:ext cx="108585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6" name="Text 30"/>
          <p:cNvSpPr/>
          <p:nvPr/>
        </p:nvSpPr>
        <p:spPr>
          <a:xfrm>
            <a:off x="5029200" y="2343150"/>
            <a:ext cx="115728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1</a:t>
            </a:r>
            <a:endParaRPr lang="en-US" sz="675" dirty="0"/>
          </a:p>
        </p:txBody>
      </p:sp>
      <p:sp>
        <p:nvSpPr>
          <p:cNvPr id="47" name="Shape 31"/>
          <p:cNvSpPr/>
          <p:nvPr/>
        </p:nvSpPr>
        <p:spPr>
          <a:xfrm>
            <a:off x="6172200" y="2343150"/>
            <a:ext cx="108585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8" name="Text 32"/>
          <p:cNvSpPr/>
          <p:nvPr/>
        </p:nvSpPr>
        <p:spPr>
          <a:xfrm>
            <a:off x="6172200" y="2343150"/>
            <a:ext cx="115728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2</a:t>
            </a:r>
            <a:endParaRPr lang="en-US" sz="675" dirty="0"/>
          </a:p>
        </p:txBody>
      </p:sp>
      <p:sp>
        <p:nvSpPr>
          <p:cNvPr id="49" name="Shape 33"/>
          <p:cNvSpPr/>
          <p:nvPr/>
        </p:nvSpPr>
        <p:spPr>
          <a:xfrm>
            <a:off x="7315200" y="2343150"/>
            <a:ext cx="108585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0" name="Text 34"/>
          <p:cNvSpPr/>
          <p:nvPr/>
        </p:nvSpPr>
        <p:spPr>
          <a:xfrm>
            <a:off x="7315200" y="2343150"/>
            <a:ext cx="115728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3</a:t>
            </a:r>
            <a:endParaRPr lang="en-US" sz="675" dirty="0"/>
          </a:p>
        </p:txBody>
      </p:sp>
      <p:sp>
        <p:nvSpPr>
          <p:cNvPr id="51" name="Text 35"/>
          <p:cNvSpPr/>
          <p:nvPr/>
        </p:nvSpPr>
        <p:spPr>
          <a:xfrm>
            <a:off x="4914900" y="3028950"/>
            <a:ext cx="36718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Users can browse cached game information, view details, and navigate the app seamlessly.</a:t>
            </a:r>
            <a:endParaRPr lang="en-US" sz="788" dirty="0"/>
          </a:p>
        </p:txBody>
      </p:sp>
      <p:sp>
        <p:nvSpPr>
          <p:cNvPr id="52" name="Shape 36"/>
          <p:cNvSpPr/>
          <p:nvPr/>
        </p:nvSpPr>
        <p:spPr>
          <a:xfrm>
            <a:off x="4743450" y="3657600"/>
            <a:ext cx="3943350" cy="1500188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pic>
        <p:nvPicPr>
          <p:cNvPr id="5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14900" y="3864769"/>
            <a:ext cx="128588" cy="128588"/>
          </a:xfrm>
          <a:prstGeom prst="rect">
            <a:avLst/>
          </a:prstGeom>
        </p:spPr>
      </p:pic>
      <p:sp>
        <p:nvSpPr>
          <p:cNvPr id="54" name="Text 37"/>
          <p:cNvSpPr/>
          <p:nvPr/>
        </p:nvSpPr>
        <p:spPr>
          <a:xfrm>
            <a:off x="5129213" y="3829050"/>
            <a:ext cx="13856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Search Functionality</a:t>
            </a:r>
            <a:endParaRPr lang="en-US" sz="1013" dirty="0"/>
          </a:p>
        </p:txBody>
      </p:sp>
      <p:sp>
        <p:nvSpPr>
          <p:cNvPr id="55" name="Shape 38"/>
          <p:cNvSpPr/>
          <p:nvPr/>
        </p:nvSpPr>
        <p:spPr>
          <a:xfrm>
            <a:off x="4914900" y="4143375"/>
            <a:ext cx="3600450" cy="428625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56" name="Shape 39"/>
          <p:cNvSpPr/>
          <p:nvPr/>
        </p:nvSpPr>
        <p:spPr>
          <a:xfrm>
            <a:off x="5000625" y="4229100"/>
            <a:ext cx="3018234" cy="257175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57" name="Shape 40"/>
          <p:cNvSpPr/>
          <p:nvPr/>
        </p:nvSpPr>
        <p:spPr>
          <a:xfrm>
            <a:off x="8076009" y="4229100"/>
            <a:ext cx="353616" cy="257175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8" name="Text 41"/>
          <p:cNvSpPr/>
          <p:nvPr/>
        </p:nvSpPr>
        <p:spPr>
          <a:xfrm>
            <a:off x="8076009" y="4229100"/>
            <a:ext cx="425053" cy="257175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🔍</a:t>
            </a:r>
            <a:endParaRPr lang="en-US" sz="788" dirty="0"/>
          </a:p>
        </p:txBody>
      </p:sp>
      <p:sp>
        <p:nvSpPr>
          <p:cNvPr id="59" name="Text 42"/>
          <p:cNvSpPr/>
          <p:nvPr/>
        </p:nvSpPr>
        <p:spPr>
          <a:xfrm>
            <a:off x="4914900" y="4686300"/>
            <a:ext cx="36718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Search works on cached game data, allowing users to find content even offline.</a:t>
            </a:r>
            <a:endParaRPr lang="en-US" sz="788" dirty="0"/>
          </a:p>
        </p:txBody>
      </p:sp>
      <p:sp>
        <p:nvSpPr>
          <p:cNvPr id="60" name="Shape 43"/>
          <p:cNvSpPr/>
          <p:nvPr/>
        </p:nvSpPr>
        <p:spPr>
          <a:xfrm>
            <a:off x="4743450" y="5314950"/>
            <a:ext cx="3943350" cy="1814513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pic>
        <p:nvPicPr>
          <p:cNvPr id="6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14900" y="5522119"/>
            <a:ext cx="128588" cy="128588"/>
          </a:xfrm>
          <a:prstGeom prst="rect">
            <a:avLst/>
          </a:prstGeom>
        </p:spPr>
      </p:pic>
      <p:sp>
        <p:nvSpPr>
          <p:cNvPr id="62" name="Text 44"/>
          <p:cNvSpPr/>
          <p:nvPr/>
        </p:nvSpPr>
        <p:spPr>
          <a:xfrm>
            <a:off x="5129213" y="5486400"/>
            <a:ext cx="117654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Background Sync</a:t>
            </a:r>
            <a:endParaRPr lang="en-US" sz="1013" dirty="0"/>
          </a:p>
        </p:txBody>
      </p:sp>
      <p:sp>
        <p:nvSpPr>
          <p:cNvPr id="63" name="Shape 45"/>
          <p:cNvSpPr/>
          <p:nvPr/>
        </p:nvSpPr>
        <p:spPr>
          <a:xfrm>
            <a:off x="4914900" y="5800725"/>
            <a:ext cx="3600450" cy="257175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4" name="Text 46"/>
          <p:cNvSpPr/>
          <p:nvPr/>
        </p:nvSpPr>
        <p:spPr>
          <a:xfrm>
            <a:off x="4972050" y="5857875"/>
            <a:ext cx="59681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rating</a:t>
            </a:r>
            <a:endParaRPr lang="en-US" sz="788" dirty="0"/>
          </a:p>
        </p:txBody>
      </p:sp>
      <p:sp>
        <p:nvSpPr>
          <p:cNvPr id="65" name="Text 47"/>
          <p:cNvSpPr/>
          <p:nvPr/>
        </p:nvSpPr>
        <p:spPr>
          <a:xfrm>
            <a:off x="8135866" y="5872163"/>
            <a:ext cx="39377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FBBF2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Queued</a:t>
            </a:r>
            <a:endParaRPr lang="en-US" sz="675" dirty="0"/>
          </a:p>
        </p:txBody>
      </p:sp>
      <p:sp>
        <p:nvSpPr>
          <p:cNvPr id="66" name="Shape 48"/>
          <p:cNvSpPr/>
          <p:nvPr/>
        </p:nvSpPr>
        <p:spPr>
          <a:xfrm>
            <a:off x="4914900" y="6115050"/>
            <a:ext cx="3600450" cy="257175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7" name="Text 49"/>
          <p:cNvSpPr/>
          <p:nvPr/>
        </p:nvSpPr>
        <p:spPr>
          <a:xfrm>
            <a:off x="4972050" y="6172200"/>
            <a:ext cx="73773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favorite</a:t>
            </a:r>
            <a:endParaRPr lang="en-US" sz="788" dirty="0"/>
          </a:p>
        </p:txBody>
      </p:sp>
      <p:sp>
        <p:nvSpPr>
          <p:cNvPr id="68" name="Text 50"/>
          <p:cNvSpPr/>
          <p:nvPr/>
        </p:nvSpPr>
        <p:spPr>
          <a:xfrm>
            <a:off x="8135866" y="6186488"/>
            <a:ext cx="39377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FBBF2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Queued</a:t>
            </a:r>
            <a:endParaRPr lang="en-US" sz="675" dirty="0"/>
          </a:p>
        </p:txBody>
      </p:sp>
      <p:sp>
        <p:nvSpPr>
          <p:cNvPr id="69" name="Shape 51"/>
          <p:cNvSpPr/>
          <p:nvPr/>
        </p:nvSpPr>
        <p:spPr>
          <a:xfrm>
            <a:off x="4914900" y="6429375"/>
            <a:ext cx="3600450" cy="257175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70" name="Text 52"/>
          <p:cNvSpPr/>
          <p:nvPr/>
        </p:nvSpPr>
        <p:spPr>
          <a:xfrm>
            <a:off x="4972050" y="6486525"/>
            <a:ext cx="53650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Comment</a:t>
            </a:r>
            <a:endParaRPr lang="en-US" sz="788" dirty="0"/>
          </a:p>
        </p:txBody>
      </p:sp>
      <p:sp>
        <p:nvSpPr>
          <p:cNvPr id="71" name="Text 53"/>
          <p:cNvSpPr/>
          <p:nvPr/>
        </p:nvSpPr>
        <p:spPr>
          <a:xfrm>
            <a:off x="8135866" y="6500813"/>
            <a:ext cx="39377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FBBF2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Queued</a:t>
            </a:r>
            <a:endParaRPr lang="en-US" sz="675" dirty="0"/>
          </a:p>
        </p:txBody>
      </p:sp>
      <p:sp>
        <p:nvSpPr>
          <p:cNvPr id="72" name="Text 54"/>
          <p:cNvSpPr/>
          <p:nvPr/>
        </p:nvSpPr>
        <p:spPr>
          <a:xfrm>
            <a:off x="4914900" y="6800850"/>
            <a:ext cx="36718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actions are queued and synced when connection is restored.</a:t>
            </a:r>
            <a:endParaRPr lang="en-US" sz="788" dirty="0"/>
          </a:p>
        </p:txBody>
      </p:sp>
      <p:sp>
        <p:nvSpPr>
          <p:cNvPr id="73" name="Shape 55"/>
          <p:cNvSpPr/>
          <p:nvPr/>
        </p:nvSpPr>
        <p:spPr>
          <a:xfrm>
            <a:off x="578644" y="7465219"/>
            <a:ext cx="1685925" cy="228600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74" name="Text 56"/>
          <p:cNvSpPr/>
          <p:nvPr/>
        </p:nvSpPr>
        <p:spPr>
          <a:xfrm>
            <a:off x="578644" y="7465219"/>
            <a:ext cx="1757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100%</a:t>
            </a:r>
            <a:endParaRPr lang="en-US" sz="1350" dirty="0"/>
          </a:p>
        </p:txBody>
      </p:sp>
      <p:sp>
        <p:nvSpPr>
          <p:cNvPr id="75" name="Text 57"/>
          <p:cNvSpPr/>
          <p:nvPr/>
        </p:nvSpPr>
        <p:spPr>
          <a:xfrm>
            <a:off x="578644" y="7693819"/>
            <a:ext cx="17573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Features Offline</a:t>
            </a:r>
            <a:endParaRPr lang="en-US" sz="788" dirty="0"/>
          </a:p>
        </p:txBody>
      </p:sp>
      <p:sp>
        <p:nvSpPr>
          <p:cNvPr id="76" name="Shape 58"/>
          <p:cNvSpPr/>
          <p:nvPr/>
        </p:nvSpPr>
        <p:spPr>
          <a:xfrm>
            <a:off x="2678906" y="7465219"/>
            <a:ext cx="1685925" cy="228600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77" name="Text 59"/>
          <p:cNvSpPr/>
          <p:nvPr/>
        </p:nvSpPr>
        <p:spPr>
          <a:xfrm>
            <a:off x="2678906" y="7465219"/>
            <a:ext cx="1757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</a:t>
            </a:r>
            <a:endParaRPr lang="en-US" sz="1350" dirty="0"/>
          </a:p>
        </p:txBody>
      </p:sp>
      <p:sp>
        <p:nvSpPr>
          <p:cNvPr id="78" name="Text 60"/>
          <p:cNvSpPr/>
          <p:nvPr/>
        </p:nvSpPr>
        <p:spPr>
          <a:xfrm>
            <a:off x="2678906" y="7693819"/>
            <a:ext cx="17573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Cached Game Pages</a:t>
            </a:r>
            <a:endParaRPr lang="en-US" sz="788" dirty="0"/>
          </a:p>
        </p:txBody>
      </p:sp>
      <p:sp>
        <p:nvSpPr>
          <p:cNvPr id="79" name="Shape 61"/>
          <p:cNvSpPr/>
          <p:nvPr/>
        </p:nvSpPr>
        <p:spPr>
          <a:xfrm>
            <a:off x="4779169" y="7465219"/>
            <a:ext cx="1685925" cy="228600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80" name="Text 62"/>
          <p:cNvSpPr/>
          <p:nvPr/>
        </p:nvSpPr>
        <p:spPr>
          <a:xfrm>
            <a:off x="4779169" y="7465219"/>
            <a:ext cx="1757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2MB</a:t>
            </a:r>
            <a:endParaRPr lang="en-US" sz="1350" dirty="0"/>
          </a:p>
        </p:txBody>
      </p:sp>
      <p:sp>
        <p:nvSpPr>
          <p:cNvPr id="81" name="Text 63"/>
          <p:cNvSpPr/>
          <p:nvPr/>
        </p:nvSpPr>
        <p:spPr>
          <a:xfrm>
            <a:off x="4779169" y="7693819"/>
            <a:ext cx="17573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Offline Storage</a:t>
            </a:r>
            <a:endParaRPr lang="en-US" sz="788" dirty="0"/>
          </a:p>
        </p:txBody>
      </p:sp>
      <p:sp>
        <p:nvSpPr>
          <p:cNvPr id="82" name="Shape 64"/>
          <p:cNvSpPr/>
          <p:nvPr/>
        </p:nvSpPr>
        <p:spPr>
          <a:xfrm>
            <a:off x="6879431" y="7465219"/>
            <a:ext cx="1685925" cy="228600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83" name="Text 65"/>
          <p:cNvSpPr/>
          <p:nvPr/>
        </p:nvSpPr>
        <p:spPr>
          <a:xfrm>
            <a:off x="6879431" y="7465219"/>
            <a:ext cx="1757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0.1s</a:t>
            </a:r>
            <a:endParaRPr lang="en-US" sz="1350" dirty="0"/>
          </a:p>
        </p:txBody>
      </p:sp>
      <p:sp>
        <p:nvSpPr>
          <p:cNvPr id="84" name="Text 66"/>
          <p:cNvSpPr/>
          <p:nvPr/>
        </p:nvSpPr>
        <p:spPr>
          <a:xfrm>
            <a:off x="6879431" y="7693819"/>
            <a:ext cx="17573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Offline Load Time</a:t>
            </a:r>
            <a:endParaRPr lang="en-US" sz="78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85153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490406" y="394692"/>
            <a:ext cx="2092058" cy="466130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4" name="Text 1"/>
          <p:cNvSpPr/>
          <p:nvPr/>
        </p:nvSpPr>
        <p:spPr>
          <a:xfrm>
            <a:off x="2490406" y="394692"/>
            <a:ext cx="2163496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Deployment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582464" y="394692"/>
            <a:ext cx="2142567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 Testing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8301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From development to production with PWA validation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457200" y="1343025"/>
            <a:ext cx="40147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Deployment Process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57200" y="1743075"/>
            <a:ext cx="3943350" cy="1200150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8650" y="1914525"/>
            <a:ext cx="285750" cy="285750"/>
          </a:xfrm>
          <a:prstGeom prst="ellipse">
            <a:avLst/>
          </a:prstGeom>
          <a:solidFill>
            <a:srgbClr val="764BA2"/>
          </a:solidFill>
          <a:ln/>
        </p:spPr>
      </p:sp>
      <p:sp>
        <p:nvSpPr>
          <p:cNvPr id="10" name="Text 7"/>
          <p:cNvSpPr/>
          <p:nvPr/>
        </p:nvSpPr>
        <p:spPr>
          <a:xfrm>
            <a:off x="628650" y="1914525"/>
            <a:ext cx="35718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28700" y="1914525"/>
            <a:ext cx="17615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Local Development</a:t>
            </a:r>
            <a:endParaRPr lang="en-US" sz="1013" dirty="0"/>
          </a:p>
        </p:txBody>
      </p:sp>
      <p:sp>
        <p:nvSpPr>
          <p:cNvPr id="12" name="Text 9"/>
          <p:cNvSpPr/>
          <p:nvPr/>
        </p:nvSpPr>
        <p:spPr>
          <a:xfrm>
            <a:off x="1028700" y="2171700"/>
            <a:ext cx="17615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 PWA features using local server</a:t>
            </a:r>
            <a:endParaRPr lang="en-US" sz="788" dirty="0"/>
          </a:p>
        </p:txBody>
      </p:sp>
      <p:sp>
        <p:nvSpPr>
          <p:cNvPr id="13" name="Shape 10"/>
          <p:cNvSpPr/>
          <p:nvPr/>
        </p:nvSpPr>
        <p:spPr>
          <a:xfrm>
            <a:off x="1028700" y="2400300"/>
            <a:ext cx="1690139" cy="357188"/>
          </a:xfrm>
          <a:prstGeom prst="rect">
            <a:avLst/>
          </a:prstGeom>
          <a:solidFill>
            <a:srgbClr val="000000">
              <a:alpha val="4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4425" y="2530673"/>
            <a:ext cx="1460422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python3 -m http.server 8000</a:t>
            </a:r>
            <a:endParaRPr lang="en-US" sz="675" dirty="0"/>
          </a:p>
        </p:txBody>
      </p:sp>
      <p:sp>
        <p:nvSpPr>
          <p:cNvPr id="15" name="Shape 12"/>
          <p:cNvSpPr/>
          <p:nvPr/>
        </p:nvSpPr>
        <p:spPr>
          <a:xfrm>
            <a:off x="457200" y="3028950"/>
            <a:ext cx="3943350" cy="1200150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8650" y="3200400"/>
            <a:ext cx="285750" cy="285750"/>
          </a:xfrm>
          <a:prstGeom prst="ellipse">
            <a:avLst/>
          </a:prstGeom>
          <a:solidFill>
            <a:srgbClr val="764BA2"/>
          </a:solidFill>
          <a:ln/>
        </p:spPr>
      </p:sp>
      <p:sp>
        <p:nvSpPr>
          <p:cNvPr id="17" name="Text 14"/>
          <p:cNvSpPr/>
          <p:nvPr/>
        </p:nvSpPr>
        <p:spPr>
          <a:xfrm>
            <a:off x="628650" y="3200400"/>
            <a:ext cx="35718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28700" y="3200400"/>
            <a:ext cx="20577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Git Repository</a:t>
            </a:r>
            <a:endParaRPr lang="en-US" sz="1013" dirty="0"/>
          </a:p>
        </p:txBody>
      </p:sp>
      <p:sp>
        <p:nvSpPr>
          <p:cNvPr id="19" name="Text 16"/>
          <p:cNvSpPr/>
          <p:nvPr/>
        </p:nvSpPr>
        <p:spPr>
          <a:xfrm>
            <a:off x="1028700" y="3457575"/>
            <a:ext cx="20577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Version control and code management</a:t>
            </a:r>
            <a:endParaRPr lang="en-US" sz="788" dirty="0"/>
          </a:p>
        </p:txBody>
      </p:sp>
      <p:sp>
        <p:nvSpPr>
          <p:cNvPr id="20" name="Shape 17"/>
          <p:cNvSpPr/>
          <p:nvPr/>
        </p:nvSpPr>
        <p:spPr>
          <a:xfrm>
            <a:off x="1028700" y="3686175"/>
            <a:ext cx="1986269" cy="357188"/>
          </a:xfrm>
          <a:prstGeom prst="rect">
            <a:avLst/>
          </a:prstGeom>
          <a:solidFill>
            <a:srgbClr val="000000">
              <a:alpha val="4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14425" y="3816548"/>
            <a:ext cx="1871969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git init &amp;&amp; git add . &amp;&amp; git commit</a:t>
            </a:r>
            <a:endParaRPr lang="en-US" sz="675" dirty="0"/>
          </a:p>
        </p:txBody>
      </p:sp>
      <p:sp>
        <p:nvSpPr>
          <p:cNvPr id="22" name="Shape 19"/>
          <p:cNvSpPr/>
          <p:nvPr/>
        </p:nvSpPr>
        <p:spPr>
          <a:xfrm>
            <a:off x="457200" y="4314825"/>
            <a:ext cx="3943350" cy="1143000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8650" y="4486275"/>
            <a:ext cx="285750" cy="285750"/>
          </a:xfrm>
          <a:prstGeom prst="ellipse">
            <a:avLst/>
          </a:prstGeom>
          <a:solidFill>
            <a:srgbClr val="764BA2"/>
          </a:solidFill>
          <a:ln/>
        </p:spPr>
      </p:sp>
      <p:sp>
        <p:nvSpPr>
          <p:cNvPr id="24" name="Text 21"/>
          <p:cNvSpPr/>
          <p:nvPr/>
        </p:nvSpPr>
        <p:spPr>
          <a:xfrm>
            <a:off x="628650" y="4486275"/>
            <a:ext cx="35718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28700" y="4486275"/>
            <a:ext cx="16728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HTTPS Deployment</a:t>
            </a:r>
            <a:endParaRPr lang="en-US" sz="1013" dirty="0"/>
          </a:p>
        </p:txBody>
      </p:sp>
      <p:sp>
        <p:nvSpPr>
          <p:cNvPr id="26" name="Text 23"/>
          <p:cNvSpPr/>
          <p:nvPr/>
        </p:nvSpPr>
        <p:spPr>
          <a:xfrm>
            <a:off x="1028700" y="4743450"/>
            <a:ext cx="16728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Deploy to secure hosting platform</a:t>
            </a:r>
            <a:endParaRPr lang="en-US" sz="788" dirty="0"/>
          </a:p>
        </p:txBody>
      </p:sp>
      <p:sp>
        <p:nvSpPr>
          <p:cNvPr id="27" name="Text 24"/>
          <p:cNvSpPr/>
          <p:nvPr/>
        </p:nvSpPr>
        <p:spPr>
          <a:xfrm>
            <a:off x="1092994" y="5075634"/>
            <a:ext cx="1413737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675" dirty="0">
                <a:solidFill>
                  <a:srgbClr val="34D39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 https://wbdnpfbd.manus.space</a:t>
            </a:r>
            <a:endParaRPr lang="en-US" sz="675" dirty="0"/>
          </a:p>
        </p:txBody>
      </p:sp>
      <p:sp>
        <p:nvSpPr>
          <p:cNvPr id="28" name="Shape 25"/>
          <p:cNvSpPr/>
          <p:nvPr/>
        </p:nvSpPr>
        <p:spPr>
          <a:xfrm>
            <a:off x="457200" y="5557838"/>
            <a:ext cx="3943350" cy="757238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8650" y="5729288"/>
            <a:ext cx="285750" cy="285750"/>
          </a:xfrm>
          <a:prstGeom prst="ellipse">
            <a:avLst/>
          </a:prstGeom>
          <a:solidFill>
            <a:srgbClr val="764BA2"/>
          </a:solidFill>
          <a:ln/>
        </p:spPr>
      </p:sp>
      <p:sp>
        <p:nvSpPr>
          <p:cNvPr id="30" name="Text 27"/>
          <p:cNvSpPr/>
          <p:nvPr/>
        </p:nvSpPr>
        <p:spPr>
          <a:xfrm>
            <a:off x="628650" y="5729288"/>
            <a:ext cx="35718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028700" y="5729288"/>
            <a:ext cx="17511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PWA Validation</a:t>
            </a:r>
            <a:endParaRPr lang="en-US" sz="1013" dirty="0"/>
          </a:p>
        </p:txBody>
      </p:sp>
      <p:sp>
        <p:nvSpPr>
          <p:cNvPr id="32" name="Text 29"/>
          <p:cNvSpPr/>
          <p:nvPr/>
        </p:nvSpPr>
        <p:spPr>
          <a:xfrm>
            <a:off x="1028700" y="5986463"/>
            <a:ext cx="17511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 installation and offline features</a:t>
            </a:r>
            <a:endParaRPr lang="en-US" sz="788" dirty="0"/>
          </a:p>
        </p:txBody>
      </p:sp>
      <p:sp>
        <p:nvSpPr>
          <p:cNvPr id="33" name="Text 30"/>
          <p:cNvSpPr/>
          <p:nvPr/>
        </p:nvSpPr>
        <p:spPr>
          <a:xfrm>
            <a:off x="4743450" y="1343025"/>
            <a:ext cx="40147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PWA Testing Checklist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4743450" y="1743075"/>
            <a:ext cx="3943350" cy="1728788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0" y="1950244"/>
            <a:ext cx="96441" cy="128588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097066" y="1914525"/>
            <a:ext cx="128057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PWA Features</a:t>
            </a:r>
            <a:endParaRPr lang="en-US" sz="1013" dirty="0"/>
          </a:p>
        </p:txBody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0" y="2243138"/>
            <a:ext cx="114300" cy="11430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114925" y="2228850"/>
            <a:ext cx="21082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Responsive design (mobile, tablet, desktop)</a:t>
            </a:r>
            <a:endParaRPr lang="en-US" sz="788" dirty="0"/>
          </a:p>
        </p:txBody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900" y="2471738"/>
            <a:ext cx="114300" cy="11430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5114925" y="2457450"/>
            <a:ext cx="96276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HTTPS deployment</a:t>
            </a:r>
            <a:endParaRPr lang="en-US" sz="788" dirty="0"/>
          </a:p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900" y="2700338"/>
            <a:ext cx="114300" cy="11430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114925" y="2686050"/>
            <a:ext cx="92854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Web App Manifest</a:t>
            </a:r>
            <a:endParaRPr lang="en-US" sz="788" dirty="0"/>
          </a:p>
        </p:txBody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4900" y="2928938"/>
            <a:ext cx="114300" cy="11430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5114925" y="2914650"/>
            <a:ext cx="13477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Service Worker registration</a:t>
            </a:r>
            <a:endParaRPr lang="en-US" sz="788" dirty="0"/>
          </a:p>
        </p:txBody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4900" y="3157538"/>
            <a:ext cx="114300" cy="114300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5114925" y="3143250"/>
            <a:ext cx="99926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Offline functionality</a:t>
            </a:r>
            <a:endParaRPr lang="en-US" sz="788" dirty="0"/>
          </a:p>
        </p:txBody>
      </p:sp>
      <p:sp>
        <p:nvSpPr>
          <p:cNvPr id="47" name="Shape 38"/>
          <p:cNvSpPr/>
          <p:nvPr/>
        </p:nvSpPr>
        <p:spPr>
          <a:xfrm>
            <a:off x="4743450" y="3629025"/>
            <a:ext cx="3943350" cy="1728788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4900" y="3836194"/>
            <a:ext cx="128588" cy="128588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5129213" y="3800475"/>
            <a:ext cx="17016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Browser DevTools Testing</a:t>
            </a:r>
            <a:endParaRPr lang="en-US" sz="1013" dirty="0"/>
          </a:p>
        </p:txBody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4900" y="4129088"/>
            <a:ext cx="114300" cy="114300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5114925" y="4114800"/>
            <a:ext cx="15707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Lighthouse PWA audit (100/100)</a:t>
            </a:r>
            <a:endParaRPr lang="en-US" sz="788" dirty="0"/>
          </a:p>
        </p:txBody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4900" y="4357688"/>
            <a:ext cx="114300" cy="114300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5114925" y="4343400"/>
            <a:ext cx="1289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Application tab inspection</a:t>
            </a:r>
            <a:endParaRPr lang="en-US" sz="788" dirty="0"/>
          </a:p>
        </p:txBody>
      </p:sp>
      <p:pic>
        <p:nvPicPr>
          <p:cNvPr id="5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4900" y="4586288"/>
            <a:ext cx="114300" cy="114300"/>
          </a:xfrm>
          <a:prstGeom prst="rect">
            <a:avLst/>
          </a:prstGeom>
        </p:spPr>
      </p:pic>
      <p:sp>
        <p:nvSpPr>
          <p:cNvPr id="55" name="Text 42"/>
          <p:cNvSpPr/>
          <p:nvPr/>
        </p:nvSpPr>
        <p:spPr>
          <a:xfrm>
            <a:off x="5114925" y="4572000"/>
            <a:ext cx="119509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Network throttling tests</a:t>
            </a:r>
            <a:endParaRPr lang="en-US" sz="788" dirty="0"/>
          </a:p>
        </p:txBody>
      </p:sp>
      <p:pic>
        <p:nvPicPr>
          <p:cNvPr id="5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14900" y="4814888"/>
            <a:ext cx="114300" cy="114300"/>
          </a:xfrm>
          <a:prstGeom prst="rect">
            <a:avLst/>
          </a:prstGeom>
        </p:spPr>
      </p:pic>
      <p:sp>
        <p:nvSpPr>
          <p:cNvPr id="57" name="Text 43"/>
          <p:cNvSpPr/>
          <p:nvPr/>
        </p:nvSpPr>
        <p:spPr>
          <a:xfrm>
            <a:off x="5114925" y="4800600"/>
            <a:ext cx="1289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Cache storage verification</a:t>
            </a:r>
            <a:endParaRPr lang="en-US" sz="788" dirty="0"/>
          </a:p>
        </p:txBody>
      </p:sp>
      <p:pic>
        <p:nvPicPr>
          <p:cNvPr id="5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14900" y="5043488"/>
            <a:ext cx="114300" cy="114300"/>
          </a:xfrm>
          <a:prstGeom prst="rect">
            <a:avLst/>
          </a:prstGeom>
        </p:spPr>
      </p:pic>
      <p:sp>
        <p:nvSpPr>
          <p:cNvPr id="59" name="Text 44"/>
          <p:cNvSpPr/>
          <p:nvPr/>
        </p:nvSpPr>
        <p:spPr>
          <a:xfrm>
            <a:off x="5114925" y="5029200"/>
            <a:ext cx="10889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Install prompt testing</a:t>
            </a:r>
            <a:endParaRPr lang="en-US" sz="788" dirty="0"/>
          </a:p>
        </p:txBody>
      </p:sp>
      <p:sp>
        <p:nvSpPr>
          <p:cNvPr id="60" name="Shape 45"/>
          <p:cNvSpPr/>
          <p:nvPr/>
        </p:nvSpPr>
        <p:spPr>
          <a:xfrm>
            <a:off x="4743450" y="5514975"/>
            <a:ext cx="3943350" cy="1728788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pic>
        <p:nvPicPr>
          <p:cNvPr id="6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14900" y="5722144"/>
            <a:ext cx="128588" cy="128588"/>
          </a:xfrm>
          <a:prstGeom prst="rect">
            <a:avLst/>
          </a:prstGeom>
        </p:spPr>
      </p:pic>
      <p:sp>
        <p:nvSpPr>
          <p:cNvPr id="62" name="Text 46"/>
          <p:cNvSpPr/>
          <p:nvPr/>
        </p:nvSpPr>
        <p:spPr>
          <a:xfrm>
            <a:off x="5129213" y="5686425"/>
            <a:ext cx="13182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Installation Testing</a:t>
            </a:r>
            <a:endParaRPr lang="en-US" sz="1013" dirty="0"/>
          </a:p>
        </p:txBody>
      </p:sp>
      <p:pic>
        <p:nvPicPr>
          <p:cNvPr id="6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14900" y="6015038"/>
            <a:ext cx="114300" cy="114300"/>
          </a:xfrm>
          <a:prstGeom prst="rect">
            <a:avLst/>
          </a:prstGeom>
        </p:spPr>
      </p:pic>
      <p:sp>
        <p:nvSpPr>
          <p:cNvPr id="64" name="Text 47"/>
          <p:cNvSpPr/>
          <p:nvPr/>
        </p:nvSpPr>
        <p:spPr>
          <a:xfrm>
            <a:off x="5114925" y="6000750"/>
            <a:ext cx="15087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Chrome "Add to Home Screen"</a:t>
            </a:r>
            <a:endParaRPr lang="en-US" sz="788" dirty="0"/>
          </a:p>
        </p:txBody>
      </p:sp>
      <p:pic>
        <p:nvPicPr>
          <p:cNvPr id="6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14900" y="6243638"/>
            <a:ext cx="114300" cy="114300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5114925" y="6229350"/>
            <a:ext cx="109157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Edge PWA installation</a:t>
            </a:r>
            <a:endParaRPr lang="en-US" sz="788" dirty="0"/>
          </a:p>
        </p:txBody>
      </p:sp>
      <p:pic>
        <p:nvPicPr>
          <p:cNvPr id="6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14900" y="6472238"/>
            <a:ext cx="114300" cy="114300"/>
          </a:xfrm>
          <a:prstGeom prst="rect">
            <a:avLst/>
          </a:prstGeom>
        </p:spPr>
      </p:pic>
      <p:sp>
        <p:nvSpPr>
          <p:cNvPr id="68" name="Text 49"/>
          <p:cNvSpPr/>
          <p:nvPr/>
        </p:nvSpPr>
        <p:spPr>
          <a:xfrm>
            <a:off x="5114925" y="6457950"/>
            <a:ext cx="10667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Mobile device testing</a:t>
            </a:r>
            <a:endParaRPr lang="en-US" sz="788" dirty="0"/>
          </a:p>
        </p:txBody>
      </p:sp>
      <p:pic>
        <p:nvPicPr>
          <p:cNvPr id="6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14900" y="6700838"/>
            <a:ext cx="114300" cy="114300"/>
          </a:xfrm>
          <a:prstGeom prst="rect">
            <a:avLst/>
          </a:prstGeom>
        </p:spPr>
      </p:pic>
      <p:sp>
        <p:nvSpPr>
          <p:cNvPr id="70" name="Text 50"/>
          <p:cNvSpPr/>
          <p:nvPr/>
        </p:nvSpPr>
        <p:spPr>
          <a:xfrm>
            <a:off x="5114925" y="6686550"/>
            <a:ext cx="14493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Standalone mode verification</a:t>
            </a:r>
            <a:endParaRPr lang="en-US" sz="788" dirty="0"/>
          </a:p>
        </p:txBody>
      </p:sp>
      <p:pic>
        <p:nvPicPr>
          <p:cNvPr id="7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914900" y="6929438"/>
            <a:ext cx="114300" cy="114300"/>
          </a:xfrm>
          <a:prstGeom prst="rect">
            <a:avLst/>
          </a:prstGeom>
        </p:spPr>
      </p:pic>
      <p:sp>
        <p:nvSpPr>
          <p:cNvPr id="72" name="Text 51"/>
          <p:cNvSpPr/>
          <p:nvPr/>
        </p:nvSpPr>
        <p:spPr>
          <a:xfrm>
            <a:off x="5114925" y="6915150"/>
            <a:ext cx="13369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 shortcuts functionality</a:t>
            </a:r>
            <a:endParaRPr lang="en-US" sz="788" dirty="0"/>
          </a:p>
        </p:txBody>
      </p:sp>
      <p:sp>
        <p:nvSpPr>
          <p:cNvPr id="73" name="Shape 52"/>
          <p:cNvSpPr/>
          <p:nvPr/>
        </p:nvSpPr>
        <p:spPr>
          <a:xfrm>
            <a:off x="578644" y="7579519"/>
            <a:ext cx="1311576" cy="200025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74" name="Text 53"/>
          <p:cNvSpPr/>
          <p:nvPr/>
        </p:nvSpPr>
        <p:spPr>
          <a:xfrm>
            <a:off x="578644" y="7579519"/>
            <a:ext cx="13830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</a:t>
            </a:r>
            <a:endParaRPr lang="en-US" sz="1125" dirty="0"/>
          </a:p>
        </p:txBody>
      </p:sp>
      <p:sp>
        <p:nvSpPr>
          <p:cNvPr id="75" name="Text 54"/>
          <p:cNvSpPr/>
          <p:nvPr/>
        </p:nvSpPr>
        <p:spPr>
          <a:xfrm>
            <a:off x="578644" y="7779544"/>
            <a:ext cx="13830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Lighthouse PWA Score</a:t>
            </a:r>
            <a:endParaRPr lang="en-US" sz="675" dirty="0"/>
          </a:p>
        </p:txBody>
      </p:sp>
      <p:sp>
        <p:nvSpPr>
          <p:cNvPr id="76" name="Shape 55"/>
          <p:cNvSpPr/>
          <p:nvPr/>
        </p:nvSpPr>
        <p:spPr>
          <a:xfrm>
            <a:off x="2247407" y="7579519"/>
            <a:ext cx="1311604" cy="200025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77" name="Text 56"/>
          <p:cNvSpPr/>
          <p:nvPr/>
        </p:nvSpPr>
        <p:spPr>
          <a:xfrm>
            <a:off x="2247407" y="7579519"/>
            <a:ext cx="13830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0.8s</a:t>
            </a:r>
            <a:endParaRPr lang="en-US" sz="1125" dirty="0"/>
          </a:p>
        </p:txBody>
      </p:sp>
      <p:sp>
        <p:nvSpPr>
          <p:cNvPr id="78" name="Text 57"/>
          <p:cNvSpPr/>
          <p:nvPr/>
        </p:nvSpPr>
        <p:spPr>
          <a:xfrm>
            <a:off x="2247407" y="7779544"/>
            <a:ext cx="13830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First Contentful Paint</a:t>
            </a:r>
            <a:endParaRPr lang="en-US" sz="675" dirty="0"/>
          </a:p>
        </p:txBody>
      </p:sp>
      <p:sp>
        <p:nvSpPr>
          <p:cNvPr id="79" name="Shape 58"/>
          <p:cNvSpPr/>
          <p:nvPr/>
        </p:nvSpPr>
        <p:spPr>
          <a:xfrm>
            <a:off x="3916198" y="7579519"/>
            <a:ext cx="1311576" cy="200025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80" name="Text 59"/>
          <p:cNvSpPr/>
          <p:nvPr/>
        </p:nvSpPr>
        <p:spPr>
          <a:xfrm>
            <a:off x="3916198" y="7579519"/>
            <a:ext cx="13830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1.2s</a:t>
            </a:r>
            <a:endParaRPr lang="en-US" sz="1125" dirty="0"/>
          </a:p>
        </p:txBody>
      </p:sp>
      <p:sp>
        <p:nvSpPr>
          <p:cNvPr id="81" name="Text 60"/>
          <p:cNvSpPr/>
          <p:nvPr/>
        </p:nvSpPr>
        <p:spPr>
          <a:xfrm>
            <a:off x="3916198" y="7779544"/>
            <a:ext cx="13830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Time to Interactive</a:t>
            </a:r>
            <a:endParaRPr lang="en-US" sz="675" dirty="0"/>
          </a:p>
        </p:txBody>
      </p:sp>
      <p:sp>
        <p:nvSpPr>
          <p:cNvPr id="82" name="Shape 61"/>
          <p:cNvSpPr/>
          <p:nvPr/>
        </p:nvSpPr>
        <p:spPr>
          <a:xfrm>
            <a:off x="5584961" y="7579519"/>
            <a:ext cx="1311604" cy="200025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83" name="Text 62"/>
          <p:cNvSpPr/>
          <p:nvPr/>
        </p:nvSpPr>
        <p:spPr>
          <a:xfrm>
            <a:off x="5584961" y="7579519"/>
            <a:ext cx="13830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</a:t>
            </a:r>
            <a:endParaRPr lang="en-US" sz="1125" dirty="0"/>
          </a:p>
        </p:txBody>
      </p:sp>
      <p:sp>
        <p:nvSpPr>
          <p:cNvPr id="84" name="Text 63"/>
          <p:cNvSpPr/>
          <p:nvPr/>
        </p:nvSpPr>
        <p:spPr>
          <a:xfrm>
            <a:off x="5584961" y="7779544"/>
            <a:ext cx="13830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Installable</a:t>
            </a:r>
            <a:endParaRPr lang="en-US" sz="675" dirty="0"/>
          </a:p>
        </p:txBody>
      </p:sp>
      <p:sp>
        <p:nvSpPr>
          <p:cNvPr id="85" name="Shape 64"/>
          <p:cNvSpPr/>
          <p:nvPr/>
        </p:nvSpPr>
        <p:spPr>
          <a:xfrm>
            <a:off x="7253753" y="7579519"/>
            <a:ext cx="1311604" cy="200025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86" name="Text 65"/>
          <p:cNvSpPr/>
          <p:nvPr/>
        </p:nvSpPr>
        <p:spPr>
          <a:xfrm>
            <a:off x="7253753" y="7579519"/>
            <a:ext cx="13830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</a:t>
            </a:r>
            <a:endParaRPr lang="en-US" sz="1125" dirty="0"/>
          </a:p>
        </p:txBody>
      </p:sp>
      <p:sp>
        <p:nvSpPr>
          <p:cNvPr id="87" name="Text 66"/>
          <p:cNvSpPr/>
          <p:nvPr/>
        </p:nvSpPr>
        <p:spPr>
          <a:xfrm>
            <a:off x="7253753" y="7779544"/>
            <a:ext cx="13830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PWA Compliant</a:t>
            </a:r>
            <a:endParaRPr lang="en-US" sz="6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9583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91190" y="394692"/>
            <a:ext cx="2222348" cy="466130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4" name="Text 1"/>
          <p:cNvSpPr/>
          <p:nvPr/>
        </p:nvSpPr>
        <p:spPr>
          <a:xfrm>
            <a:off x="2291190" y="394692"/>
            <a:ext cx="2293786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513538" y="394692"/>
            <a:ext cx="2410709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Optimization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8301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Techniques for fast loading and smooth user experience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457200" y="1343025"/>
            <a:ext cx="40147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 Metrics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57200" y="1743075"/>
            <a:ext cx="3943350" cy="1457325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950244"/>
            <a:ext cx="144661" cy="128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9036" y="1914525"/>
            <a:ext cx="107019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Web Vitals</a:t>
            </a:r>
            <a:endParaRPr lang="en-US" sz="1013" dirty="0"/>
          </a:p>
        </p:txBody>
      </p:sp>
      <p:sp>
        <p:nvSpPr>
          <p:cNvPr id="11" name="Text 7"/>
          <p:cNvSpPr/>
          <p:nvPr/>
        </p:nvSpPr>
        <p:spPr>
          <a:xfrm>
            <a:off x="628650" y="2235994"/>
            <a:ext cx="16727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Largest Contentful Paint (LCP)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559178" y="2235994"/>
            <a:ext cx="2915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0.8s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836473" y="2228850"/>
            <a:ext cx="392627" cy="185738"/>
          </a:xfrm>
          <a:prstGeom prst="roundRect">
            <a:avLst/>
          </a:prstGeom>
          <a:solidFill>
            <a:srgbClr val="059669"/>
          </a:solidFill>
          <a:ln/>
        </p:spPr>
      </p:sp>
      <p:sp>
        <p:nvSpPr>
          <p:cNvPr id="14" name="Text 10"/>
          <p:cNvSpPr/>
          <p:nvPr/>
        </p:nvSpPr>
        <p:spPr>
          <a:xfrm>
            <a:off x="3836473" y="2228850"/>
            <a:ext cx="464065" cy="185738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Good</a:t>
            </a:r>
            <a:endParaRPr lang="en-US" sz="675" dirty="0"/>
          </a:p>
        </p:txBody>
      </p:sp>
      <p:sp>
        <p:nvSpPr>
          <p:cNvPr id="15" name="Text 11"/>
          <p:cNvSpPr/>
          <p:nvPr/>
        </p:nvSpPr>
        <p:spPr>
          <a:xfrm>
            <a:off x="628650" y="2536031"/>
            <a:ext cx="12341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First Input Delay (FID)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479509" y="2536031"/>
            <a:ext cx="37125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12ms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836473" y="2528888"/>
            <a:ext cx="392627" cy="185738"/>
          </a:xfrm>
          <a:prstGeom prst="roundRect">
            <a:avLst/>
          </a:prstGeom>
          <a:solidFill>
            <a:srgbClr val="059669"/>
          </a:solidFill>
          <a:ln/>
        </p:spPr>
      </p:sp>
      <p:sp>
        <p:nvSpPr>
          <p:cNvPr id="18" name="Text 14"/>
          <p:cNvSpPr/>
          <p:nvPr/>
        </p:nvSpPr>
        <p:spPr>
          <a:xfrm>
            <a:off x="3836473" y="2528888"/>
            <a:ext cx="464065" cy="185738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Good</a:t>
            </a:r>
            <a:endParaRPr lang="en-US" sz="675" dirty="0"/>
          </a:p>
        </p:txBody>
      </p:sp>
      <p:sp>
        <p:nvSpPr>
          <p:cNvPr id="19" name="Text 15"/>
          <p:cNvSpPr/>
          <p:nvPr/>
        </p:nvSpPr>
        <p:spPr>
          <a:xfrm>
            <a:off x="628650" y="2836069"/>
            <a:ext cx="16381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Cumulative Layout Shift (CLS)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550583" y="2836069"/>
            <a:ext cx="3001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0.05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3836473" y="2828925"/>
            <a:ext cx="392627" cy="185738"/>
          </a:xfrm>
          <a:prstGeom prst="roundRect">
            <a:avLst/>
          </a:prstGeom>
          <a:solidFill>
            <a:srgbClr val="059669"/>
          </a:solidFill>
          <a:ln/>
        </p:spPr>
      </p:sp>
      <p:sp>
        <p:nvSpPr>
          <p:cNvPr id="22" name="Text 18"/>
          <p:cNvSpPr/>
          <p:nvPr/>
        </p:nvSpPr>
        <p:spPr>
          <a:xfrm>
            <a:off x="3836473" y="2828925"/>
            <a:ext cx="464065" cy="185738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Good</a:t>
            </a:r>
            <a:endParaRPr lang="en-US" sz="675" dirty="0"/>
          </a:p>
        </p:txBody>
      </p:sp>
      <p:sp>
        <p:nvSpPr>
          <p:cNvPr id="23" name="Shape 19"/>
          <p:cNvSpPr/>
          <p:nvPr/>
        </p:nvSpPr>
        <p:spPr>
          <a:xfrm>
            <a:off x="457200" y="3357563"/>
            <a:ext cx="3943350" cy="2100263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3564731"/>
            <a:ext cx="128588" cy="1285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42963" y="3529013"/>
            <a:ext cx="123916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Lighthouse Scores</a:t>
            </a:r>
            <a:endParaRPr lang="en-US" sz="1013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843338"/>
            <a:ext cx="3586163" cy="142875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457200" y="5614988"/>
            <a:ext cx="3943350" cy="1700213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5822156"/>
            <a:ext cx="112514" cy="12858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26889" y="5786438"/>
            <a:ext cx="15354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Resource Optimization</a:t>
            </a:r>
            <a:endParaRPr lang="en-US" sz="1013" dirty="0"/>
          </a:p>
        </p:txBody>
      </p:sp>
      <p:sp>
        <p:nvSpPr>
          <p:cNvPr id="30" name="Shape 23"/>
          <p:cNvSpPr/>
          <p:nvPr/>
        </p:nvSpPr>
        <p:spPr>
          <a:xfrm>
            <a:off x="628650" y="6100763"/>
            <a:ext cx="1743075" cy="4572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1" name="Text 24"/>
          <p:cNvSpPr/>
          <p:nvPr/>
        </p:nvSpPr>
        <p:spPr>
          <a:xfrm>
            <a:off x="714375" y="6186488"/>
            <a:ext cx="1643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b="1" dirty="0">
                <a:solidFill>
                  <a:srgbClr val="60A5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HTML</a:t>
            </a:r>
            <a:endParaRPr lang="en-US" sz="788" dirty="0"/>
          </a:p>
        </p:txBody>
      </p:sp>
      <p:sp>
        <p:nvSpPr>
          <p:cNvPr id="32" name="Text 25"/>
          <p:cNvSpPr/>
          <p:nvPr/>
        </p:nvSpPr>
        <p:spPr>
          <a:xfrm>
            <a:off x="714375" y="6329363"/>
            <a:ext cx="1643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Minified: 15KB</a:t>
            </a:r>
            <a:endParaRPr lang="en-US" sz="788" dirty="0"/>
          </a:p>
        </p:txBody>
      </p:sp>
      <p:sp>
        <p:nvSpPr>
          <p:cNvPr id="33" name="Shape 26"/>
          <p:cNvSpPr/>
          <p:nvPr/>
        </p:nvSpPr>
        <p:spPr>
          <a:xfrm>
            <a:off x="2486025" y="6100763"/>
            <a:ext cx="1743075" cy="4572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4" name="Text 27"/>
          <p:cNvSpPr/>
          <p:nvPr/>
        </p:nvSpPr>
        <p:spPr>
          <a:xfrm>
            <a:off x="2571750" y="6186488"/>
            <a:ext cx="1643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b="1" dirty="0">
                <a:solidFill>
                  <a:srgbClr val="34D39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CSS</a:t>
            </a:r>
            <a:endParaRPr lang="en-US" sz="788" dirty="0"/>
          </a:p>
        </p:txBody>
      </p:sp>
      <p:sp>
        <p:nvSpPr>
          <p:cNvPr id="35" name="Text 28"/>
          <p:cNvSpPr/>
          <p:nvPr/>
        </p:nvSpPr>
        <p:spPr>
          <a:xfrm>
            <a:off x="2571750" y="6329363"/>
            <a:ext cx="1643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Optimized: 28KB</a:t>
            </a:r>
            <a:endParaRPr lang="en-US" sz="788" dirty="0"/>
          </a:p>
        </p:txBody>
      </p:sp>
      <p:sp>
        <p:nvSpPr>
          <p:cNvPr id="36" name="Shape 29"/>
          <p:cNvSpPr/>
          <p:nvPr/>
        </p:nvSpPr>
        <p:spPr>
          <a:xfrm>
            <a:off x="628650" y="6672263"/>
            <a:ext cx="1743075" cy="4572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7" name="Text 30"/>
          <p:cNvSpPr/>
          <p:nvPr/>
        </p:nvSpPr>
        <p:spPr>
          <a:xfrm>
            <a:off x="714375" y="6757988"/>
            <a:ext cx="1643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b="1" dirty="0">
                <a:solidFill>
                  <a:srgbClr val="FBBF2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JavaScript</a:t>
            </a:r>
            <a:endParaRPr lang="en-US" sz="788" dirty="0"/>
          </a:p>
        </p:txBody>
      </p:sp>
      <p:sp>
        <p:nvSpPr>
          <p:cNvPr id="38" name="Text 31"/>
          <p:cNvSpPr/>
          <p:nvPr/>
        </p:nvSpPr>
        <p:spPr>
          <a:xfrm>
            <a:off x="714375" y="6900863"/>
            <a:ext cx="1643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Compressed: 45KB</a:t>
            </a:r>
            <a:endParaRPr lang="en-US" sz="788" dirty="0"/>
          </a:p>
        </p:txBody>
      </p:sp>
      <p:sp>
        <p:nvSpPr>
          <p:cNvPr id="39" name="Shape 32"/>
          <p:cNvSpPr/>
          <p:nvPr/>
        </p:nvSpPr>
        <p:spPr>
          <a:xfrm>
            <a:off x="2486025" y="6672263"/>
            <a:ext cx="1743075" cy="4572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40" name="Text 33"/>
          <p:cNvSpPr/>
          <p:nvPr/>
        </p:nvSpPr>
        <p:spPr>
          <a:xfrm>
            <a:off x="2571750" y="6757988"/>
            <a:ext cx="1643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b="1" dirty="0">
                <a:solidFill>
                  <a:srgbClr val="A78B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Images</a:t>
            </a:r>
            <a:endParaRPr lang="en-US" sz="788" dirty="0"/>
          </a:p>
        </p:txBody>
      </p:sp>
      <p:sp>
        <p:nvSpPr>
          <p:cNvPr id="41" name="Text 34"/>
          <p:cNvSpPr/>
          <p:nvPr/>
        </p:nvSpPr>
        <p:spPr>
          <a:xfrm>
            <a:off x="2571750" y="6900863"/>
            <a:ext cx="1643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WebP: 120KB</a:t>
            </a:r>
            <a:endParaRPr lang="en-US" sz="788" dirty="0"/>
          </a:p>
        </p:txBody>
      </p:sp>
      <p:sp>
        <p:nvSpPr>
          <p:cNvPr id="42" name="Text 35"/>
          <p:cNvSpPr/>
          <p:nvPr/>
        </p:nvSpPr>
        <p:spPr>
          <a:xfrm>
            <a:off x="4743450" y="1343025"/>
            <a:ext cx="40147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Optimization Techniques</a:t>
            </a:r>
            <a:endParaRPr lang="en-US" sz="1350" dirty="0"/>
          </a:p>
        </p:txBody>
      </p:sp>
      <p:sp>
        <p:nvSpPr>
          <p:cNvPr id="43" name="Shape 36"/>
          <p:cNvSpPr/>
          <p:nvPr/>
        </p:nvSpPr>
        <p:spPr>
          <a:xfrm>
            <a:off x="4743450" y="1743075"/>
            <a:ext cx="3943350" cy="1614488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4900" y="1950244"/>
            <a:ext cx="128588" cy="128588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5129213" y="1914525"/>
            <a:ext cx="15289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Loading Optimizations</a:t>
            </a:r>
            <a:endParaRPr lang="en-US" sz="1013" dirty="0"/>
          </a:p>
        </p:txBody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4900" y="2250281"/>
            <a:ext cx="100013" cy="100013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5072063" y="2228850"/>
            <a:ext cx="93756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Critical CSS inlined</a:t>
            </a:r>
            <a:endParaRPr lang="en-US" sz="788" dirty="0"/>
          </a:p>
        </p:txBody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4900" y="2450306"/>
            <a:ext cx="100013" cy="100013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5072063" y="2428875"/>
            <a:ext cx="118650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Lazy loading for images</a:t>
            </a:r>
            <a:endParaRPr lang="en-US" sz="788" dirty="0"/>
          </a:p>
        </p:txBody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4900" y="2650331"/>
            <a:ext cx="100013" cy="100013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5072063" y="2628900"/>
            <a:ext cx="104028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Resource preloading</a:t>
            </a:r>
            <a:endParaRPr lang="en-US" sz="788" dirty="0"/>
          </a:p>
        </p:txBody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4900" y="2850356"/>
            <a:ext cx="100013" cy="100013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5072063" y="2828925"/>
            <a:ext cx="72143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Code splitting</a:t>
            </a:r>
            <a:endParaRPr lang="en-US" sz="788" dirty="0"/>
          </a:p>
        </p:txBody>
      </p:sp>
      <p:pic>
        <p:nvPicPr>
          <p:cNvPr id="5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4900" y="3050381"/>
            <a:ext cx="100013" cy="100013"/>
          </a:xfrm>
          <a:prstGeom prst="rect">
            <a:avLst/>
          </a:prstGeom>
        </p:spPr>
      </p:pic>
      <p:sp>
        <p:nvSpPr>
          <p:cNvPr id="55" name="Text 42"/>
          <p:cNvSpPr/>
          <p:nvPr/>
        </p:nvSpPr>
        <p:spPr>
          <a:xfrm>
            <a:off x="5072063" y="3028950"/>
            <a:ext cx="90775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Gzip compression</a:t>
            </a:r>
            <a:endParaRPr lang="en-US" sz="788" dirty="0"/>
          </a:p>
        </p:txBody>
      </p:sp>
      <p:sp>
        <p:nvSpPr>
          <p:cNvPr id="56" name="Shape 43"/>
          <p:cNvSpPr/>
          <p:nvPr/>
        </p:nvSpPr>
        <p:spPr>
          <a:xfrm>
            <a:off x="4743450" y="3514725"/>
            <a:ext cx="3943350" cy="1614488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pic>
        <p:nvPicPr>
          <p:cNvPr id="5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14900" y="3721894"/>
            <a:ext cx="144661" cy="128588"/>
          </a:xfrm>
          <a:prstGeom prst="rect">
            <a:avLst/>
          </a:prstGeom>
        </p:spPr>
      </p:pic>
      <p:sp>
        <p:nvSpPr>
          <p:cNvPr id="58" name="Text 44"/>
          <p:cNvSpPr/>
          <p:nvPr/>
        </p:nvSpPr>
        <p:spPr>
          <a:xfrm>
            <a:off x="5145286" y="3686175"/>
            <a:ext cx="116663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Caching Strategy</a:t>
            </a:r>
            <a:endParaRPr lang="en-US" sz="1013" dirty="0"/>
          </a:p>
        </p:txBody>
      </p:sp>
      <p:pic>
        <p:nvPicPr>
          <p:cNvPr id="5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14900" y="4021931"/>
            <a:ext cx="100013" cy="100013"/>
          </a:xfrm>
          <a:prstGeom prst="rect">
            <a:avLst/>
          </a:prstGeom>
        </p:spPr>
      </p:pic>
      <p:sp>
        <p:nvSpPr>
          <p:cNvPr id="60" name="Text 45"/>
          <p:cNvSpPr/>
          <p:nvPr/>
        </p:nvSpPr>
        <p:spPr>
          <a:xfrm>
            <a:off x="5072063" y="4000500"/>
            <a:ext cx="14809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Static assets cached for 1 year</a:t>
            </a:r>
            <a:endParaRPr lang="en-US" sz="788" dirty="0"/>
          </a:p>
        </p:txBody>
      </p:sp>
      <p:pic>
        <p:nvPicPr>
          <p:cNvPr id="6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14900" y="4221956"/>
            <a:ext cx="100013" cy="100013"/>
          </a:xfrm>
          <a:prstGeom prst="rect">
            <a:avLst/>
          </a:prstGeom>
        </p:spPr>
      </p:pic>
      <p:sp>
        <p:nvSpPr>
          <p:cNvPr id="62" name="Text 46"/>
          <p:cNvSpPr/>
          <p:nvPr/>
        </p:nvSpPr>
        <p:spPr>
          <a:xfrm>
            <a:off x="5072063" y="4200525"/>
            <a:ext cx="17221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Dynamic content cached for 1 hour</a:t>
            </a:r>
            <a:endParaRPr lang="en-US" sz="788" dirty="0"/>
          </a:p>
        </p:txBody>
      </p:sp>
      <p:pic>
        <p:nvPicPr>
          <p:cNvPr id="6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14900" y="4421981"/>
            <a:ext cx="100013" cy="100013"/>
          </a:xfrm>
          <a:prstGeom prst="rect">
            <a:avLst/>
          </a:prstGeom>
        </p:spPr>
      </p:pic>
      <p:sp>
        <p:nvSpPr>
          <p:cNvPr id="64" name="Text 47"/>
          <p:cNvSpPr/>
          <p:nvPr/>
        </p:nvSpPr>
        <p:spPr>
          <a:xfrm>
            <a:off x="5072063" y="4400550"/>
            <a:ext cx="14864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Stale-while-revalidate strategy</a:t>
            </a:r>
            <a:endParaRPr lang="en-US" sz="788" dirty="0"/>
          </a:p>
        </p:txBody>
      </p:sp>
      <p:pic>
        <p:nvPicPr>
          <p:cNvPr id="6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14900" y="4622006"/>
            <a:ext cx="100013" cy="100013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5072063" y="4600575"/>
            <a:ext cx="14462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Cache versioning for updates</a:t>
            </a:r>
            <a:endParaRPr lang="en-US" sz="788" dirty="0"/>
          </a:p>
        </p:txBody>
      </p:sp>
      <p:pic>
        <p:nvPicPr>
          <p:cNvPr id="6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14900" y="4822031"/>
            <a:ext cx="100013" cy="100013"/>
          </a:xfrm>
          <a:prstGeom prst="rect">
            <a:avLst/>
          </a:prstGeom>
        </p:spPr>
      </p:pic>
      <p:sp>
        <p:nvSpPr>
          <p:cNvPr id="68" name="Text 49"/>
          <p:cNvSpPr/>
          <p:nvPr/>
        </p:nvSpPr>
        <p:spPr>
          <a:xfrm>
            <a:off x="5072063" y="4800600"/>
            <a:ext cx="124669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Intelligent cache cleanup</a:t>
            </a:r>
            <a:endParaRPr lang="en-US" sz="788" dirty="0"/>
          </a:p>
        </p:txBody>
      </p:sp>
      <p:sp>
        <p:nvSpPr>
          <p:cNvPr id="69" name="Shape 50"/>
          <p:cNvSpPr/>
          <p:nvPr/>
        </p:nvSpPr>
        <p:spPr>
          <a:xfrm>
            <a:off x="4743450" y="5286375"/>
            <a:ext cx="3943350" cy="1614488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pic>
        <p:nvPicPr>
          <p:cNvPr id="7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14900" y="5493544"/>
            <a:ext cx="96441" cy="128588"/>
          </a:xfrm>
          <a:prstGeom prst="rect">
            <a:avLst/>
          </a:prstGeom>
        </p:spPr>
      </p:pic>
      <p:sp>
        <p:nvSpPr>
          <p:cNvPr id="71" name="Text 51"/>
          <p:cNvSpPr/>
          <p:nvPr/>
        </p:nvSpPr>
        <p:spPr>
          <a:xfrm>
            <a:off x="5097066" y="5457825"/>
            <a:ext cx="1449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Mobile Optimizations</a:t>
            </a:r>
            <a:endParaRPr lang="en-US" sz="1013" dirty="0"/>
          </a:p>
        </p:txBody>
      </p:sp>
      <p:pic>
        <p:nvPicPr>
          <p:cNvPr id="7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914900" y="5793581"/>
            <a:ext cx="100013" cy="100013"/>
          </a:xfrm>
          <a:prstGeom prst="rect">
            <a:avLst/>
          </a:prstGeom>
        </p:spPr>
      </p:pic>
      <p:sp>
        <p:nvSpPr>
          <p:cNvPr id="73" name="Text 52"/>
          <p:cNvSpPr/>
          <p:nvPr/>
        </p:nvSpPr>
        <p:spPr>
          <a:xfrm>
            <a:off x="5072063" y="5772150"/>
            <a:ext cx="19152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Touch-friendly interface (44px+ targets)</a:t>
            </a:r>
            <a:endParaRPr lang="en-US" sz="788" dirty="0"/>
          </a:p>
        </p:txBody>
      </p:sp>
      <p:pic>
        <p:nvPicPr>
          <p:cNvPr id="74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914900" y="5993606"/>
            <a:ext cx="100013" cy="100013"/>
          </a:xfrm>
          <a:prstGeom prst="rect">
            <a:avLst/>
          </a:prstGeom>
        </p:spPr>
      </p:pic>
      <p:sp>
        <p:nvSpPr>
          <p:cNvPr id="75" name="Text 53"/>
          <p:cNvSpPr/>
          <p:nvPr/>
        </p:nvSpPr>
        <p:spPr>
          <a:xfrm>
            <a:off x="5072063" y="5972175"/>
            <a:ext cx="15541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Viewport meta tag optimization</a:t>
            </a:r>
            <a:endParaRPr lang="en-US" sz="788" dirty="0"/>
          </a:p>
        </p:txBody>
      </p:sp>
      <p:pic>
        <p:nvPicPr>
          <p:cNvPr id="76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914900" y="6193631"/>
            <a:ext cx="100013" cy="100013"/>
          </a:xfrm>
          <a:prstGeom prst="rect">
            <a:avLst/>
          </a:prstGeom>
        </p:spPr>
      </p:pic>
      <p:sp>
        <p:nvSpPr>
          <p:cNvPr id="77" name="Text 54"/>
          <p:cNvSpPr/>
          <p:nvPr/>
        </p:nvSpPr>
        <p:spPr>
          <a:xfrm>
            <a:off x="5072063" y="6172200"/>
            <a:ext cx="15879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Reduced motion for accessibility</a:t>
            </a:r>
            <a:endParaRPr lang="en-US" sz="788" dirty="0"/>
          </a:p>
        </p:txBody>
      </p:sp>
      <p:pic>
        <p:nvPicPr>
          <p:cNvPr id="78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914900" y="6393656"/>
            <a:ext cx="100013" cy="100013"/>
          </a:xfrm>
          <a:prstGeom prst="rect">
            <a:avLst/>
          </a:prstGeom>
        </p:spPr>
      </p:pic>
      <p:sp>
        <p:nvSpPr>
          <p:cNvPr id="79" name="Text 55"/>
          <p:cNvSpPr/>
          <p:nvPr/>
        </p:nvSpPr>
        <p:spPr>
          <a:xfrm>
            <a:off x="5072063" y="6372225"/>
            <a:ext cx="14183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Optimized for slow networks</a:t>
            </a:r>
            <a:endParaRPr lang="en-US" sz="788" dirty="0"/>
          </a:p>
        </p:txBody>
      </p:sp>
      <p:pic>
        <p:nvPicPr>
          <p:cNvPr id="80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914900" y="6593681"/>
            <a:ext cx="100013" cy="100013"/>
          </a:xfrm>
          <a:prstGeom prst="rect">
            <a:avLst/>
          </a:prstGeom>
        </p:spPr>
      </p:pic>
      <p:sp>
        <p:nvSpPr>
          <p:cNvPr id="81" name="Text 56"/>
          <p:cNvSpPr/>
          <p:nvPr/>
        </p:nvSpPr>
        <p:spPr>
          <a:xfrm>
            <a:off x="5072063" y="6572250"/>
            <a:ext cx="13763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Battery-efficient animations</a:t>
            </a:r>
            <a:endParaRPr lang="en-US" sz="788" dirty="0"/>
          </a:p>
        </p:txBody>
      </p:sp>
      <p:sp>
        <p:nvSpPr>
          <p:cNvPr id="82" name="Shape 57"/>
          <p:cNvSpPr/>
          <p:nvPr/>
        </p:nvSpPr>
        <p:spPr>
          <a:xfrm>
            <a:off x="4743450" y="7058025"/>
            <a:ext cx="3943350" cy="1614488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pic>
        <p:nvPicPr>
          <p:cNvPr id="83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914900" y="7265194"/>
            <a:ext cx="128588" cy="128588"/>
          </a:xfrm>
          <a:prstGeom prst="rect">
            <a:avLst/>
          </a:prstGeom>
        </p:spPr>
      </p:pic>
      <p:sp>
        <p:nvSpPr>
          <p:cNvPr id="84" name="Text 58"/>
          <p:cNvSpPr/>
          <p:nvPr/>
        </p:nvSpPr>
        <p:spPr>
          <a:xfrm>
            <a:off x="5129213" y="7229475"/>
            <a:ext cx="12719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SEO &amp; Accessibility</a:t>
            </a:r>
            <a:endParaRPr lang="en-US" sz="1013" dirty="0"/>
          </a:p>
        </p:txBody>
      </p:sp>
      <p:pic>
        <p:nvPicPr>
          <p:cNvPr id="85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914900" y="7565231"/>
            <a:ext cx="100013" cy="100013"/>
          </a:xfrm>
          <a:prstGeom prst="rect">
            <a:avLst/>
          </a:prstGeom>
        </p:spPr>
      </p:pic>
      <p:sp>
        <p:nvSpPr>
          <p:cNvPr id="86" name="Text 59"/>
          <p:cNvSpPr/>
          <p:nvPr/>
        </p:nvSpPr>
        <p:spPr>
          <a:xfrm>
            <a:off x="5072063" y="7543800"/>
            <a:ext cx="125769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Semantic HTML structure</a:t>
            </a:r>
            <a:endParaRPr lang="en-US" sz="788" dirty="0"/>
          </a:p>
        </p:txBody>
      </p:sp>
      <p:pic>
        <p:nvPicPr>
          <p:cNvPr id="8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914900" y="7765256"/>
            <a:ext cx="100013" cy="100013"/>
          </a:xfrm>
          <a:prstGeom prst="rect">
            <a:avLst/>
          </a:prstGeom>
        </p:spPr>
      </p:pic>
      <p:sp>
        <p:nvSpPr>
          <p:cNvPr id="88" name="Text 60"/>
          <p:cNvSpPr/>
          <p:nvPr/>
        </p:nvSpPr>
        <p:spPr>
          <a:xfrm>
            <a:off x="5072063" y="7743825"/>
            <a:ext cx="13452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Meta tags and Open Graph</a:t>
            </a:r>
            <a:endParaRPr lang="en-US" sz="788" dirty="0"/>
          </a:p>
        </p:txBody>
      </p:sp>
      <p:pic>
        <p:nvPicPr>
          <p:cNvPr id="89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914900" y="7965281"/>
            <a:ext cx="100013" cy="100013"/>
          </a:xfrm>
          <a:prstGeom prst="rect">
            <a:avLst/>
          </a:prstGeom>
        </p:spPr>
      </p:pic>
      <p:sp>
        <p:nvSpPr>
          <p:cNvPr id="90" name="Text 61"/>
          <p:cNvSpPr/>
          <p:nvPr/>
        </p:nvSpPr>
        <p:spPr>
          <a:xfrm>
            <a:off x="5072063" y="7943850"/>
            <a:ext cx="105627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ARIA labels and roles</a:t>
            </a:r>
            <a:endParaRPr lang="en-US" sz="788" dirty="0"/>
          </a:p>
        </p:txBody>
      </p:sp>
      <p:pic>
        <p:nvPicPr>
          <p:cNvPr id="91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914900" y="8165306"/>
            <a:ext cx="100013" cy="100013"/>
          </a:xfrm>
          <a:prstGeom prst="rect">
            <a:avLst/>
          </a:prstGeom>
        </p:spPr>
      </p:pic>
      <p:sp>
        <p:nvSpPr>
          <p:cNvPr id="92" name="Text 62"/>
          <p:cNvSpPr/>
          <p:nvPr/>
        </p:nvSpPr>
        <p:spPr>
          <a:xfrm>
            <a:off x="5072063" y="8143875"/>
            <a:ext cx="14367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Keyboard navigation support</a:t>
            </a:r>
            <a:endParaRPr lang="en-US" sz="788" dirty="0"/>
          </a:p>
        </p:txBody>
      </p:sp>
      <p:pic>
        <p:nvPicPr>
          <p:cNvPr id="93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914900" y="8365331"/>
            <a:ext cx="100013" cy="100013"/>
          </a:xfrm>
          <a:prstGeom prst="rect">
            <a:avLst/>
          </a:prstGeom>
        </p:spPr>
      </p:pic>
      <p:sp>
        <p:nvSpPr>
          <p:cNvPr id="94" name="Text 63"/>
          <p:cNvSpPr/>
          <p:nvPr/>
        </p:nvSpPr>
        <p:spPr>
          <a:xfrm>
            <a:off x="5072063" y="8343900"/>
            <a:ext cx="12980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Color contrast compliance</a:t>
            </a:r>
            <a:endParaRPr lang="en-US" sz="788" dirty="0"/>
          </a:p>
        </p:txBody>
      </p:sp>
      <p:sp>
        <p:nvSpPr>
          <p:cNvPr id="95" name="Shape 64"/>
          <p:cNvSpPr/>
          <p:nvPr/>
        </p:nvSpPr>
        <p:spPr>
          <a:xfrm>
            <a:off x="578644" y="9008269"/>
            <a:ext cx="1311576" cy="200025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96" name="Text 65"/>
          <p:cNvSpPr/>
          <p:nvPr/>
        </p:nvSpPr>
        <p:spPr>
          <a:xfrm>
            <a:off x="578644" y="9008269"/>
            <a:ext cx="13830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95%</a:t>
            </a:r>
            <a:endParaRPr lang="en-US" sz="1125" dirty="0"/>
          </a:p>
        </p:txBody>
      </p:sp>
      <p:sp>
        <p:nvSpPr>
          <p:cNvPr id="97" name="Text 66"/>
          <p:cNvSpPr/>
          <p:nvPr/>
        </p:nvSpPr>
        <p:spPr>
          <a:xfrm>
            <a:off x="578644" y="9208294"/>
            <a:ext cx="13830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 Score</a:t>
            </a:r>
            <a:endParaRPr lang="en-US" sz="675" dirty="0"/>
          </a:p>
        </p:txBody>
      </p:sp>
      <p:sp>
        <p:nvSpPr>
          <p:cNvPr id="98" name="Shape 67"/>
          <p:cNvSpPr/>
          <p:nvPr/>
        </p:nvSpPr>
        <p:spPr>
          <a:xfrm>
            <a:off x="2247407" y="9008269"/>
            <a:ext cx="1311604" cy="200025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99" name="Text 68"/>
          <p:cNvSpPr/>
          <p:nvPr/>
        </p:nvSpPr>
        <p:spPr>
          <a:xfrm>
            <a:off x="2247407" y="9008269"/>
            <a:ext cx="13830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100%</a:t>
            </a:r>
            <a:endParaRPr lang="en-US" sz="1125" dirty="0"/>
          </a:p>
        </p:txBody>
      </p:sp>
      <p:sp>
        <p:nvSpPr>
          <p:cNvPr id="100" name="Text 69"/>
          <p:cNvSpPr/>
          <p:nvPr/>
        </p:nvSpPr>
        <p:spPr>
          <a:xfrm>
            <a:off x="2247407" y="9208294"/>
            <a:ext cx="13830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Accessibility Score</a:t>
            </a:r>
            <a:endParaRPr lang="en-US" sz="675" dirty="0"/>
          </a:p>
        </p:txBody>
      </p:sp>
      <p:sp>
        <p:nvSpPr>
          <p:cNvPr id="101" name="Shape 70"/>
          <p:cNvSpPr/>
          <p:nvPr/>
        </p:nvSpPr>
        <p:spPr>
          <a:xfrm>
            <a:off x="3916198" y="9008269"/>
            <a:ext cx="1311576" cy="200025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02" name="Text 71"/>
          <p:cNvSpPr/>
          <p:nvPr/>
        </p:nvSpPr>
        <p:spPr>
          <a:xfrm>
            <a:off x="3916198" y="9008269"/>
            <a:ext cx="13830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92%</a:t>
            </a:r>
            <a:endParaRPr lang="en-US" sz="1125" dirty="0"/>
          </a:p>
        </p:txBody>
      </p:sp>
      <p:sp>
        <p:nvSpPr>
          <p:cNvPr id="103" name="Text 72"/>
          <p:cNvSpPr/>
          <p:nvPr/>
        </p:nvSpPr>
        <p:spPr>
          <a:xfrm>
            <a:off x="3916198" y="9208294"/>
            <a:ext cx="13830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Best Practices</a:t>
            </a:r>
            <a:endParaRPr lang="en-US" sz="675" dirty="0"/>
          </a:p>
        </p:txBody>
      </p:sp>
      <p:sp>
        <p:nvSpPr>
          <p:cNvPr id="104" name="Shape 73"/>
          <p:cNvSpPr/>
          <p:nvPr/>
        </p:nvSpPr>
        <p:spPr>
          <a:xfrm>
            <a:off x="5584961" y="9008269"/>
            <a:ext cx="1311604" cy="200025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05" name="Text 74"/>
          <p:cNvSpPr/>
          <p:nvPr/>
        </p:nvSpPr>
        <p:spPr>
          <a:xfrm>
            <a:off x="5584961" y="9008269"/>
            <a:ext cx="13830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100%</a:t>
            </a:r>
            <a:endParaRPr lang="en-US" sz="1125" dirty="0"/>
          </a:p>
        </p:txBody>
      </p:sp>
      <p:sp>
        <p:nvSpPr>
          <p:cNvPr id="106" name="Text 75"/>
          <p:cNvSpPr/>
          <p:nvPr/>
        </p:nvSpPr>
        <p:spPr>
          <a:xfrm>
            <a:off x="5584961" y="9208294"/>
            <a:ext cx="13830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SEO Score</a:t>
            </a:r>
            <a:endParaRPr lang="en-US" sz="675" dirty="0"/>
          </a:p>
        </p:txBody>
      </p:sp>
      <p:sp>
        <p:nvSpPr>
          <p:cNvPr id="107" name="Shape 76"/>
          <p:cNvSpPr/>
          <p:nvPr/>
        </p:nvSpPr>
        <p:spPr>
          <a:xfrm>
            <a:off x="7253753" y="9008269"/>
            <a:ext cx="1311604" cy="200025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08" name="Text 77"/>
          <p:cNvSpPr/>
          <p:nvPr/>
        </p:nvSpPr>
        <p:spPr>
          <a:xfrm>
            <a:off x="7253753" y="9008269"/>
            <a:ext cx="13830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100%</a:t>
            </a:r>
            <a:endParaRPr lang="en-US" sz="1125" dirty="0"/>
          </a:p>
        </p:txBody>
      </p:sp>
      <p:sp>
        <p:nvSpPr>
          <p:cNvPr id="109" name="Text 78"/>
          <p:cNvSpPr/>
          <p:nvPr/>
        </p:nvSpPr>
        <p:spPr>
          <a:xfrm>
            <a:off x="7253753" y="9208294"/>
            <a:ext cx="13830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PWA Score</a:t>
            </a:r>
            <a:endParaRPr lang="en-US" sz="6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7978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72450" y="285750"/>
            <a:ext cx="685800" cy="685800"/>
          </a:xfrm>
          <a:prstGeom prst="ellipse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650820" y="394692"/>
            <a:ext cx="1248510" cy="466130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5" name="Text 2"/>
          <p:cNvSpPr/>
          <p:nvPr/>
        </p:nvSpPr>
        <p:spPr>
          <a:xfrm>
            <a:off x="1650820" y="394692"/>
            <a:ext cx="1319947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Results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2899330" y="394692"/>
            <a:ext cx="4665287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 Future Enhancements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457200" y="914400"/>
            <a:ext cx="8301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Project outcomes and roadmap for continued improvement</a:t>
            </a:r>
            <a:endParaRPr lang="en-US" sz="1125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92881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5806" y="1343025"/>
            <a:ext cx="19304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Project Achievements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57200" y="1743075"/>
            <a:ext cx="3943350" cy="1371600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28650" y="1914525"/>
            <a:ext cx="36718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PWA Compliance</a:t>
            </a:r>
            <a:endParaRPr lang="en-US" sz="1013" dirty="0"/>
          </a:p>
        </p:txBody>
      </p:sp>
      <p:sp>
        <p:nvSpPr>
          <p:cNvPr id="12" name="Shape 8"/>
          <p:cNvSpPr/>
          <p:nvPr/>
        </p:nvSpPr>
        <p:spPr>
          <a:xfrm>
            <a:off x="628650" y="2314575"/>
            <a:ext cx="1757837" cy="264319"/>
          </a:xfrm>
          <a:prstGeom prst="roundRect">
            <a:avLst/>
          </a:prstGeom>
          <a:solidFill>
            <a:srgbClr val="05966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396728"/>
            <a:ext cx="100013" cy="10001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00113" y="2371725"/>
            <a:ext cx="144351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100% PWA Lighthouse Score</a:t>
            </a:r>
            <a:endParaRPr lang="en-US" sz="788" dirty="0"/>
          </a:p>
        </p:txBody>
      </p:sp>
      <p:sp>
        <p:nvSpPr>
          <p:cNvPr id="15" name="Shape 10"/>
          <p:cNvSpPr/>
          <p:nvPr/>
        </p:nvSpPr>
        <p:spPr>
          <a:xfrm>
            <a:off x="2416206" y="2314575"/>
            <a:ext cx="1157176" cy="264319"/>
          </a:xfrm>
          <a:prstGeom prst="roundRect">
            <a:avLst/>
          </a:prstGeom>
          <a:solidFill>
            <a:srgbClr val="05966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0506" y="2396728"/>
            <a:ext cx="100013" cy="10001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687669" y="2371725"/>
            <a:ext cx="84285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Fully Installable</a:t>
            </a:r>
            <a:endParaRPr lang="en-US" sz="788" dirty="0"/>
          </a:p>
        </p:txBody>
      </p:sp>
      <p:sp>
        <p:nvSpPr>
          <p:cNvPr id="18" name="Shape 12"/>
          <p:cNvSpPr/>
          <p:nvPr/>
        </p:nvSpPr>
        <p:spPr>
          <a:xfrm>
            <a:off x="628650" y="2664619"/>
            <a:ext cx="1383488" cy="264319"/>
          </a:xfrm>
          <a:prstGeom prst="roundRect">
            <a:avLst/>
          </a:prstGeom>
          <a:solidFill>
            <a:srgbClr val="059669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2746772"/>
            <a:ext cx="100013" cy="10001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00113" y="2721769"/>
            <a:ext cx="10691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Offline Functionality</a:t>
            </a:r>
            <a:endParaRPr lang="en-US" sz="788" dirty="0"/>
          </a:p>
        </p:txBody>
      </p:sp>
      <p:sp>
        <p:nvSpPr>
          <p:cNvPr id="21" name="Shape 14"/>
          <p:cNvSpPr/>
          <p:nvPr/>
        </p:nvSpPr>
        <p:spPr>
          <a:xfrm>
            <a:off x="457200" y="3271838"/>
            <a:ext cx="3943350" cy="1700213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628650" y="3443288"/>
            <a:ext cx="36718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Technical Implementation</a:t>
            </a:r>
            <a:endParaRPr lang="en-US" sz="1013" dirty="0"/>
          </a:p>
        </p:txBody>
      </p:sp>
      <p:sp>
        <p:nvSpPr>
          <p:cNvPr id="23" name="Shape 16"/>
          <p:cNvSpPr/>
          <p:nvPr/>
        </p:nvSpPr>
        <p:spPr>
          <a:xfrm>
            <a:off x="628650" y="3757613"/>
            <a:ext cx="1743075" cy="4572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4" name="Text 17"/>
          <p:cNvSpPr/>
          <p:nvPr/>
        </p:nvSpPr>
        <p:spPr>
          <a:xfrm>
            <a:off x="714375" y="3843338"/>
            <a:ext cx="1643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b="1" dirty="0">
                <a:solidFill>
                  <a:srgbClr val="60A5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Responsive Design</a:t>
            </a:r>
            <a:endParaRPr lang="en-US" sz="788" dirty="0"/>
          </a:p>
        </p:txBody>
      </p:sp>
      <p:sp>
        <p:nvSpPr>
          <p:cNvPr id="25" name="Text 18"/>
          <p:cNvSpPr/>
          <p:nvPr/>
        </p:nvSpPr>
        <p:spPr>
          <a:xfrm>
            <a:off x="714375" y="3986213"/>
            <a:ext cx="1643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Mobile-first CSS Grid</a:t>
            </a:r>
            <a:endParaRPr lang="en-US" sz="788" dirty="0"/>
          </a:p>
        </p:txBody>
      </p:sp>
      <p:sp>
        <p:nvSpPr>
          <p:cNvPr id="26" name="Shape 19"/>
          <p:cNvSpPr/>
          <p:nvPr/>
        </p:nvSpPr>
        <p:spPr>
          <a:xfrm>
            <a:off x="2486025" y="3757613"/>
            <a:ext cx="1743075" cy="4572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7" name="Text 20"/>
          <p:cNvSpPr/>
          <p:nvPr/>
        </p:nvSpPr>
        <p:spPr>
          <a:xfrm>
            <a:off x="2571750" y="3843338"/>
            <a:ext cx="1643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b="1" dirty="0">
                <a:solidFill>
                  <a:srgbClr val="34D39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Service Worker</a:t>
            </a:r>
            <a:endParaRPr lang="en-US" sz="788" dirty="0"/>
          </a:p>
        </p:txBody>
      </p:sp>
      <p:sp>
        <p:nvSpPr>
          <p:cNvPr id="28" name="Text 21"/>
          <p:cNvSpPr/>
          <p:nvPr/>
        </p:nvSpPr>
        <p:spPr>
          <a:xfrm>
            <a:off x="2571750" y="3986213"/>
            <a:ext cx="1643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Advanced caching</a:t>
            </a:r>
            <a:endParaRPr lang="en-US" sz="788" dirty="0"/>
          </a:p>
        </p:txBody>
      </p:sp>
      <p:sp>
        <p:nvSpPr>
          <p:cNvPr id="29" name="Shape 22"/>
          <p:cNvSpPr/>
          <p:nvPr/>
        </p:nvSpPr>
        <p:spPr>
          <a:xfrm>
            <a:off x="628650" y="4329113"/>
            <a:ext cx="1743075" cy="4572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0" name="Text 23"/>
          <p:cNvSpPr/>
          <p:nvPr/>
        </p:nvSpPr>
        <p:spPr>
          <a:xfrm>
            <a:off x="714375" y="4414838"/>
            <a:ext cx="1643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b="1" dirty="0">
                <a:solidFill>
                  <a:srgbClr val="A78BF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Manifest</a:t>
            </a:r>
            <a:endParaRPr lang="en-US" sz="788" dirty="0"/>
          </a:p>
        </p:txBody>
      </p:sp>
      <p:sp>
        <p:nvSpPr>
          <p:cNvPr id="31" name="Text 24"/>
          <p:cNvSpPr/>
          <p:nvPr/>
        </p:nvSpPr>
        <p:spPr>
          <a:xfrm>
            <a:off x="714375" y="4557713"/>
            <a:ext cx="1643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 metadata</a:t>
            </a:r>
            <a:endParaRPr lang="en-US" sz="788" dirty="0"/>
          </a:p>
        </p:txBody>
      </p:sp>
      <p:sp>
        <p:nvSpPr>
          <p:cNvPr id="32" name="Shape 25"/>
          <p:cNvSpPr/>
          <p:nvPr/>
        </p:nvSpPr>
        <p:spPr>
          <a:xfrm>
            <a:off x="2486025" y="4329113"/>
            <a:ext cx="1743075" cy="45720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3" name="Text 26"/>
          <p:cNvSpPr/>
          <p:nvPr/>
        </p:nvSpPr>
        <p:spPr>
          <a:xfrm>
            <a:off x="2571750" y="4414838"/>
            <a:ext cx="1643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</a:t>
            </a:r>
            <a:endParaRPr lang="en-US" sz="788" dirty="0"/>
          </a:p>
        </p:txBody>
      </p:sp>
      <p:sp>
        <p:nvSpPr>
          <p:cNvPr id="34" name="Text 27"/>
          <p:cNvSpPr/>
          <p:nvPr/>
        </p:nvSpPr>
        <p:spPr>
          <a:xfrm>
            <a:off x="2571750" y="4557713"/>
            <a:ext cx="1643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95+ Lighthouse</a:t>
            </a:r>
            <a:endParaRPr lang="en-US" sz="788" dirty="0"/>
          </a:p>
        </p:txBody>
      </p:sp>
      <p:sp>
        <p:nvSpPr>
          <p:cNvPr id="35" name="Shape 28"/>
          <p:cNvSpPr/>
          <p:nvPr/>
        </p:nvSpPr>
        <p:spPr>
          <a:xfrm>
            <a:off x="457200" y="5129213"/>
            <a:ext cx="3943350" cy="1614488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628650" y="5300663"/>
            <a:ext cx="36718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Deployment Success</a:t>
            </a:r>
            <a:endParaRPr lang="en-US" sz="1013" dirty="0"/>
          </a:p>
        </p:txBody>
      </p:sp>
      <p:sp>
        <p:nvSpPr>
          <p:cNvPr id="37" name="Text 30"/>
          <p:cNvSpPr/>
          <p:nvPr/>
        </p:nvSpPr>
        <p:spPr>
          <a:xfrm>
            <a:off x="628650" y="5614988"/>
            <a:ext cx="5276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Live URL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3028755" y="5629275"/>
            <a:ext cx="127178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34D3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wbdnpfbd.manus.space</a:t>
            </a:r>
            <a:endParaRPr lang="en-US" sz="788" dirty="0"/>
          </a:p>
        </p:txBody>
      </p:sp>
      <p:sp>
        <p:nvSpPr>
          <p:cNvPr id="39" name="Text 32"/>
          <p:cNvSpPr/>
          <p:nvPr/>
        </p:nvSpPr>
        <p:spPr>
          <a:xfrm>
            <a:off x="628650" y="5872163"/>
            <a:ext cx="8800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HTTPS Enabled</a:t>
            </a:r>
            <a:endParaRPr lang="en-US" sz="900" dirty="0"/>
          </a:p>
        </p:txBody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5900738"/>
            <a:ext cx="114300" cy="11430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28650" y="6129338"/>
            <a:ext cx="8302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Git Repository</a:t>
            </a:r>
            <a:endParaRPr lang="en-US" sz="900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0" y="6157913"/>
            <a:ext cx="114300" cy="11430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628650" y="6386513"/>
            <a:ext cx="14898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Cross-browser Compatible</a:t>
            </a:r>
            <a:endParaRPr lang="en-US" sz="900" dirty="0"/>
          </a:p>
        </p:txBody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0" y="6415088"/>
            <a:ext cx="114300" cy="114300"/>
          </a:xfrm>
          <a:prstGeom prst="rect">
            <a:avLst/>
          </a:prstGeom>
        </p:spPr>
      </p:pic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43450" y="1371600"/>
            <a:ext cx="171450" cy="171450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5000625" y="1343025"/>
            <a:ext cx="19544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Future Enhancements</a:t>
            </a:r>
            <a:endParaRPr lang="en-US" sz="1350" dirty="0"/>
          </a:p>
        </p:txBody>
      </p:sp>
      <p:sp>
        <p:nvSpPr>
          <p:cNvPr id="47" name="Shape 36"/>
          <p:cNvSpPr/>
          <p:nvPr/>
        </p:nvSpPr>
        <p:spPr>
          <a:xfrm>
            <a:off x="4743450" y="1743075"/>
            <a:ext cx="3943350" cy="785813"/>
          </a:xfrm>
          <a:prstGeom prst="rect">
            <a:avLst/>
          </a:prstGeom>
          <a:solidFill>
            <a:srgbClr val="000000">
              <a:alpha val="30000"/>
            </a:srgbClr>
          </a:solidFill>
          <a:ln w="99">
            <a:solidFill>
              <a:srgbClr val="667EEA">
                <a:alpha val="20000"/>
              </a:srgbClr>
            </a:solidFill>
            <a:prstDash val="solid"/>
          </a:ln>
        </p:spPr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0" y="1893094"/>
            <a:ext cx="112514" cy="128588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5055989" y="1857375"/>
            <a:ext cx="125342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Push Notifications</a:t>
            </a:r>
            <a:endParaRPr lang="en-US" sz="1013" dirty="0"/>
          </a:p>
        </p:txBody>
      </p:sp>
      <p:sp>
        <p:nvSpPr>
          <p:cNvPr id="50" name="Text 38"/>
          <p:cNvSpPr/>
          <p:nvPr/>
        </p:nvSpPr>
        <p:spPr>
          <a:xfrm>
            <a:off x="4857750" y="2114550"/>
            <a:ext cx="37861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notifications for new game releases, reviews, and personalized recommendations.</a:t>
            </a:r>
            <a:endParaRPr lang="en-US" sz="788" dirty="0"/>
          </a:p>
        </p:txBody>
      </p:sp>
      <p:sp>
        <p:nvSpPr>
          <p:cNvPr id="51" name="Shape 39"/>
          <p:cNvSpPr/>
          <p:nvPr/>
        </p:nvSpPr>
        <p:spPr>
          <a:xfrm>
            <a:off x="4743450" y="2628900"/>
            <a:ext cx="3943350" cy="785813"/>
          </a:xfrm>
          <a:prstGeom prst="rect">
            <a:avLst/>
          </a:prstGeom>
          <a:solidFill>
            <a:srgbClr val="000000">
              <a:alpha val="30000"/>
            </a:srgbClr>
          </a:solidFill>
          <a:ln w="99">
            <a:solidFill>
              <a:srgbClr val="667EEA">
                <a:alpha val="20000"/>
              </a:srgbClr>
            </a:solidFill>
            <a:prstDash val="solid"/>
          </a:ln>
        </p:spPr>
      </p:sp>
      <p:pic>
        <p:nvPicPr>
          <p:cNvPr id="5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57750" y="2778919"/>
            <a:ext cx="112514" cy="128588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5055989" y="2743200"/>
            <a:ext cx="98957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Accounts</a:t>
            </a:r>
            <a:endParaRPr lang="en-US" sz="1013" dirty="0"/>
          </a:p>
        </p:txBody>
      </p:sp>
      <p:sp>
        <p:nvSpPr>
          <p:cNvPr id="54" name="Text 41"/>
          <p:cNvSpPr/>
          <p:nvPr/>
        </p:nvSpPr>
        <p:spPr>
          <a:xfrm>
            <a:off x="4857750" y="3000375"/>
            <a:ext cx="37861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registration, profiles, favorites, and personalized game recommendations.</a:t>
            </a:r>
            <a:endParaRPr lang="en-US" sz="788" dirty="0"/>
          </a:p>
        </p:txBody>
      </p:sp>
      <p:sp>
        <p:nvSpPr>
          <p:cNvPr id="55" name="Shape 42"/>
          <p:cNvSpPr/>
          <p:nvPr/>
        </p:nvSpPr>
        <p:spPr>
          <a:xfrm>
            <a:off x="4743450" y="3514725"/>
            <a:ext cx="3943350" cy="642938"/>
          </a:xfrm>
          <a:prstGeom prst="rect">
            <a:avLst/>
          </a:prstGeom>
          <a:solidFill>
            <a:srgbClr val="000000">
              <a:alpha val="30000"/>
            </a:srgbClr>
          </a:solidFill>
          <a:ln w="99">
            <a:solidFill>
              <a:srgbClr val="667EEA">
                <a:alpha val="20000"/>
              </a:srgbClr>
            </a:solidFill>
            <a:prstDash val="solid"/>
          </a:ln>
        </p:spPr>
      </p:sp>
      <p:pic>
        <p:nvPicPr>
          <p:cNvPr id="5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7750" y="3664744"/>
            <a:ext cx="144661" cy="128588"/>
          </a:xfrm>
          <a:prstGeom prst="rect">
            <a:avLst/>
          </a:prstGeom>
        </p:spPr>
      </p:pic>
      <p:sp>
        <p:nvSpPr>
          <p:cNvPr id="57" name="Text 43"/>
          <p:cNvSpPr/>
          <p:nvPr/>
        </p:nvSpPr>
        <p:spPr>
          <a:xfrm>
            <a:off x="5088136" y="3629025"/>
            <a:ext cx="124019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Reviews &amp; Ratings</a:t>
            </a:r>
            <a:endParaRPr lang="en-US" sz="1013" dirty="0"/>
          </a:p>
        </p:txBody>
      </p:sp>
      <p:sp>
        <p:nvSpPr>
          <p:cNvPr id="58" name="Text 44"/>
          <p:cNvSpPr/>
          <p:nvPr/>
        </p:nvSpPr>
        <p:spPr>
          <a:xfrm>
            <a:off x="4857750" y="3886200"/>
            <a:ext cx="37861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User-generated reviews, ratings system, and community-driven content.</a:t>
            </a:r>
            <a:endParaRPr lang="en-US" sz="788" dirty="0"/>
          </a:p>
        </p:txBody>
      </p:sp>
      <p:sp>
        <p:nvSpPr>
          <p:cNvPr id="59" name="Shape 45"/>
          <p:cNvSpPr/>
          <p:nvPr/>
        </p:nvSpPr>
        <p:spPr>
          <a:xfrm>
            <a:off x="4743450" y="4257675"/>
            <a:ext cx="3943350" cy="642938"/>
          </a:xfrm>
          <a:prstGeom prst="rect">
            <a:avLst/>
          </a:prstGeom>
          <a:solidFill>
            <a:srgbClr val="000000">
              <a:alpha val="30000"/>
            </a:srgbClr>
          </a:solidFill>
          <a:ln w="99">
            <a:solidFill>
              <a:srgbClr val="667EEA">
                <a:alpha val="20000"/>
              </a:srgbClr>
            </a:solidFill>
            <a:prstDash val="solid"/>
          </a:ln>
        </p:spPr>
      </p:sp>
      <p:pic>
        <p:nvPicPr>
          <p:cNvPr id="6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57750" y="4407694"/>
            <a:ext cx="128588" cy="128588"/>
          </a:xfrm>
          <a:prstGeom prst="rect">
            <a:avLst/>
          </a:prstGeom>
        </p:spPr>
      </p:pic>
      <p:sp>
        <p:nvSpPr>
          <p:cNvPr id="61" name="Text 46"/>
          <p:cNvSpPr/>
          <p:nvPr/>
        </p:nvSpPr>
        <p:spPr>
          <a:xfrm>
            <a:off x="5072063" y="4371975"/>
            <a:ext cx="103779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Social Features</a:t>
            </a:r>
            <a:endParaRPr lang="en-US" sz="1013" dirty="0"/>
          </a:p>
        </p:txBody>
      </p:sp>
      <p:sp>
        <p:nvSpPr>
          <p:cNvPr id="62" name="Text 47"/>
          <p:cNvSpPr/>
          <p:nvPr/>
        </p:nvSpPr>
        <p:spPr>
          <a:xfrm>
            <a:off x="4857750" y="4629150"/>
            <a:ext cx="37861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Social sharing, friend lists, and collaborative game discovery features.</a:t>
            </a:r>
            <a:endParaRPr lang="en-US" sz="788" dirty="0"/>
          </a:p>
        </p:txBody>
      </p:sp>
      <p:sp>
        <p:nvSpPr>
          <p:cNvPr id="63" name="Shape 48"/>
          <p:cNvSpPr/>
          <p:nvPr/>
        </p:nvSpPr>
        <p:spPr>
          <a:xfrm>
            <a:off x="4743450" y="5000625"/>
            <a:ext cx="3943350" cy="642938"/>
          </a:xfrm>
          <a:prstGeom prst="rect">
            <a:avLst/>
          </a:prstGeom>
          <a:solidFill>
            <a:srgbClr val="000000">
              <a:alpha val="30000"/>
            </a:srgbClr>
          </a:solidFill>
          <a:ln w="99">
            <a:solidFill>
              <a:srgbClr val="667EEA">
                <a:alpha val="20000"/>
              </a:srgbClr>
            </a:solidFill>
            <a:prstDash val="solid"/>
          </a:ln>
        </p:spPr>
      </p:sp>
      <p:pic>
        <p:nvPicPr>
          <p:cNvPr id="6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57750" y="5150644"/>
            <a:ext cx="112514" cy="128588"/>
          </a:xfrm>
          <a:prstGeom prst="rect">
            <a:avLst/>
          </a:prstGeom>
        </p:spPr>
      </p:pic>
      <p:sp>
        <p:nvSpPr>
          <p:cNvPr id="65" name="Text 49"/>
          <p:cNvSpPr/>
          <p:nvPr/>
        </p:nvSpPr>
        <p:spPr>
          <a:xfrm>
            <a:off x="5055989" y="5114925"/>
            <a:ext cx="102764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Data</a:t>
            </a:r>
            <a:endParaRPr lang="en-US" sz="1013" dirty="0"/>
          </a:p>
        </p:txBody>
      </p:sp>
      <p:sp>
        <p:nvSpPr>
          <p:cNvPr id="66" name="Text 50"/>
          <p:cNvSpPr/>
          <p:nvPr/>
        </p:nvSpPr>
        <p:spPr>
          <a:xfrm>
            <a:off x="4857750" y="5372100"/>
            <a:ext cx="37861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Integration with gaming APIs for live game data, prices, and availability.</a:t>
            </a:r>
            <a:endParaRPr lang="en-US" sz="788" dirty="0"/>
          </a:p>
        </p:txBody>
      </p:sp>
      <p:sp>
        <p:nvSpPr>
          <p:cNvPr id="67" name="Shape 51"/>
          <p:cNvSpPr/>
          <p:nvPr/>
        </p:nvSpPr>
        <p:spPr>
          <a:xfrm>
            <a:off x="4743450" y="5743575"/>
            <a:ext cx="3943350" cy="642938"/>
          </a:xfrm>
          <a:prstGeom prst="rect">
            <a:avLst/>
          </a:prstGeom>
          <a:solidFill>
            <a:srgbClr val="000000">
              <a:alpha val="30000"/>
            </a:srgbClr>
          </a:solidFill>
          <a:ln w="99">
            <a:solidFill>
              <a:srgbClr val="667EEA">
                <a:alpha val="20000"/>
              </a:srgbClr>
            </a:solidFill>
            <a:prstDash val="solid"/>
          </a:ln>
        </p:spPr>
      </p:sp>
      <p:pic>
        <p:nvPicPr>
          <p:cNvPr id="6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57750" y="5893594"/>
            <a:ext cx="128588" cy="128588"/>
          </a:xfrm>
          <a:prstGeom prst="rect">
            <a:avLst/>
          </a:prstGeom>
        </p:spPr>
      </p:pic>
      <p:sp>
        <p:nvSpPr>
          <p:cNvPr id="69" name="Text 52"/>
          <p:cNvSpPr/>
          <p:nvPr/>
        </p:nvSpPr>
        <p:spPr>
          <a:xfrm>
            <a:off x="5072063" y="5857875"/>
            <a:ext cx="11647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13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Advanced Search</a:t>
            </a:r>
            <a:endParaRPr lang="en-US" sz="1013" dirty="0"/>
          </a:p>
        </p:txBody>
      </p:sp>
      <p:sp>
        <p:nvSpPr>
          <p:cNvPr id="70" name="Text 53"/>
          <p:cNvSpPr/>
          <p:nvPr/>
        </p:nvSpPr>
        <p:spPr>
          <a:xfrm>
            <a:off x="4857750" y="6115050"/>
            <a:ext cx="37861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88" dirty="0">
                <a:solidFill>
                  <a:srgbClr val="D1D5D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Enhanced filtering, sorting, and search capabilities with multiple criteria.</a:t>
            </a:r>
            <a:endParaRPr lang="en-US" sz="788" dirty="0"/>
          </a:p>
        </p:txBody>
      </p:sp>
      <p:sp>
        <p:nvSpPr>
          <p:cNvPr id="71" name="Shape 54"/>
          <p:cNvSpPr/>
          <p:nvPr/>
        </p:nvSpPr>
        <p:spPr>
          <a:xfrm>
            <a:off x="457200" y="6958013"/>
            <a:ext cx="8229600" cy="2221706"/>
          </a:xfrm>
          <a:prstGeom prst="rect">
            <a:avLst/>
          </a:prstGeom>
          <a:solidFill>
            <a:srgbClr val="764BA2">
              <a:alpha val="10000"/>
            </a:srgbClr>
          </a:solidFill>
          <a:ln w="99">
            <a:solidFill>
              <a:srgbClr val="667EEA">
                <a:alpha val="30000"/>
              </a:srgbClr>
            </a:solidFill>
            <a:prstDash val="solid"/>
          </a:ln>
        </p:spPr>
      </p:sp>
      <p:sp>
        <p:nvSpPr>
          <p:cNvPr id="72" name="Text 55"/>
          <p:cNvSpPr/>
          <p:nvPr/>
        </p:nvSpPr>
        <p:spPr>
          <a:xfrm>
            <a:off x="685800" y="7186613"/>
            <a:ext cx="78438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Project Summary</a:t>
            </a:r>
            <a:endParaRPr lang="en-US" sz="1350" dirty="0"/>
          </a:p>
        </p:txBody>
      </p:sp>
      <p:sp>
        <p:nvSpPr>
          <p:cNvPr id="73" name="Text 56"/>
          <p:cNvSpPr/>
          <p:nvPr/>
        </p:nvSpPr>
        <p:spPr>
          <a:xfrm>
            <a:off x="1371600" y="7529513"/>
            <a:ext cx="6472238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Successfully built a complete Progressive Web App demonstrating modern web development best practices. </a:t>
            </a:r>
            <a:endParaRPr lang="en-US" sz="1013" dirty="0"/>
          </a:p>
          <a:p>
            <a:pPr algn="ctr" indent="0" marL="0">
              <a:buNone/>
            </a:pPr>
            <a:r>
              <a:rPr lang="en-US" sz="1013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The GameHub PWA showcases responsive design, offline functionality, advanced caching strategies, </a:t>
            </a:r>
            <a:endParaRPr lang="en-US" sz="1013" dirty="0"/>
          </a:p>
          <a:p>
            <a:pPr algn="ctr" indent="0" marL="0">
              <a:buNone/>
            </a:pPr>
            <a:r>
              <a:rPr lang="en-US" sz="1013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and optimal performance across all devices. This project serves as a comprehensive example of </a:t>
            </a:r>
            <a:endParaRPr lang="en-US" sz="1013" dirty="0"/>
          </a:p>
          <a:p>
            <a:pPr algn="ctr" indent="0" marL="0">
              <a:buNone/>
            </a:pPr>
            <a:r>
              <a:rPr lang="en-US" sz="1013" dirty="0">
                <a:solidFill>
                  <a:srgbClr val="E5E7E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               PWA development from concept to deployment.</a:t>
            </a:r>
            <a:endParaRPr lang="en-US" sz="1013" dirty="0"/>
          </a:p>
        </p:txBody>
      </p:sp>
      <p:sp>
        <p:nvSpPr>
          <p:cNvPr id="74" name="Shape 57"/>
          <p:cNvSpPr/>
          <p:nvPr/>
        </p:nvSpPr>
        <p:spPr>
          <a:xfrm>
            <a:off x="2470482" y="8536781"/>
            <a:ext cx="723807" cy="257175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75" name="Text 58"/>
          <p:cNvSpPr/>
          <p:nvPr/>
        </p:nvSpPr>
        <p:spPr>
          <a:xfrm>
            <a:off x="2470482" y="8536781"/>
            <a:ext cx="79524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88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100%</a:t>
            </a:r>
            <a:endParaRPr lang="en-US" sz="1688" dirty="0"/>
          </a:p>
        </p:txBody>
      </p:sp>
      <p:sp>
        <p:nvSpPr>
          <p:cNvPr id="76" name="Text 59"/>
          <p:cNvSpPr/>
          <p:nvPr/>
        </p:nvSpPr>
        <p:spPr>
          <a:xfrm>
            <a:off x="2470482" y="8793956"/>
            <a:ext cx="79524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PWA Compliant</a:t>
            </a:r>
            <a:endParaRPr lang="en-US" sz="788" dirty="0"/>
          </a:p>
        </p:txBody>
      </p:sp>
      <p:sp>
        <p:nvSpPr>
          <p:cNvPr id="77" name="Shape 60"/>
          <p:cNvSpPr/>
          <p:nvPr/>
        </p:nvSpPr>
        <p:spPr>
          <a:xfrm>
            <a:off x="3422889" y="8536781"/>
            <a:ext cx="1068856" cy="257175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78" name="Text 61"/>
          <p:cNvSpPr/>
          <p:nvPr/>
        </p:nvSpPr>
        <p:spPr>
          <a:xfrm>
            <a:off x="3422889" y="8536781"/>
            <a:ext cx="114029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88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15+</a:t>
            </a:r>
            <a:endParaRPr lang="en-US" sz="1688" dirty="0"/>
          </a:p>
        </p:txBody>
      </p:sp>
      <p:sp>
        <p:nvSpPr>
          <p:cNvPr id="79" name="Text 62"/>
          <p:cNvSpPr/>
          <p:nvPr/>
        </p:nvSpPr>
        <p:spPr>
          <a:xfrm>
            <a:off x="3422889" y="8793956"/>
            <a:ext cx="114029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Features Implemented</a:t>
            </a:r>
            <a:endParaRPr lang="en-US" sz="788" dirty="0"/>
          </a:p>
        </p:txBody>
      </p:sp>
      <p:sp>
        <p:nvSpPr>
          <p:cNvPr id="80" name="Shape 63"/>
          <p:cNvSpPr/>
          <p:nvPr/>
        </p:nvSpPr>
        <p:spPr>
          <a:xfrm>
            <a:off x="4720344" y="8536781"/>
            <a:ext cx="895424" cy="257175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81" name="Text 64"/>
          <p:cNvSpPr/>
          <p:nvPr/>
        </p:nvSpPr>
        <p:spPr>
          <a:xfrm>
            <a:off x="4720344" y="8536781"/>
            <a:ext cx="96686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88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95+</a:t>
            </a:r>
            <a:endParaRPr lang="en-US" sz="1688" dirty="0"/>
          </a:p>
        </p:txBody>
      </p:sp>
      <p:sp>
        <p:nvSpPr>
          <p:cNvPr id="82" name="Text 65"/>
          <p:cNvSpPr/>
          <p:nvPr/>
        </p:nvSpPr>
        <p:spPr>
          <a:xfrm>
            <a:off x="4720344" y="8793956"/>
            <a:ext cx="96686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 Score</a:t>
            </a:r>
            <a:endParaRPr lang="en-US" sz="788" dirty="0"/>
          </a:p>
        </p:txBody>
      </p:sp>
      <p:sp>
        <p:nvSpPr>
          <p:cNvPr id="83" name="Shape 66"/>
          <p:cNvSpPr/>
          <p:nvPr/>
        </p:nvSpPr>
        <p:spPr>
          <a:xfrm>
            <a:off x="5844369" y="8536781"/>
            <a:ext cx="829121" cy="257175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84" name="Text 67"/>
          <p:cNvSpPr/>
          <p:nvPr/>
        </p:nvSpPr>
        <p:spPr>
          <a:xfrm>
            <a:off x="5844369" y="8536781"/>
            <a:ext cx="90055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88" b="1" dirty="0">
                <a:solidFill>
                  <a:srgbClr val="764BA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✓</a:t>
            </a:r>
            <a:endParaRPr lang="en-US" sz="1688" dirty="0"/>
          </a:p>
        </p:txBody>
      </p:sp>
      <p:sp>
        <p:nvSpPr>
          <p:cNvPr id="85" name="Text 68"/>
          <p:cNvSpPr/>
          <p:nvPr/>
        </p:nvSpPr>
        <p:spPr>
          <a:xfrm>
            <a:off x="5844369" y="8793956"/>
            <a:ext cx="90055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9CA3A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Production Ready</a:t>
            </a:r>
            <a:endParaRPr lang="en-US" sz="78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2025-06-10T14:20:19Z</dcterms:created>
  <dcterms:modified xsi:type="dcterms:W3CDTF">2025-06-10T14:20:19Z</dcterms:modified>
</cp:coreProperties>
</file>